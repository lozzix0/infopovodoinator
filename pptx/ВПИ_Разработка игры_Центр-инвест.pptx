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F5362-3803-4611-A5F4-DC69DB2C794D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5B56A-2402-47F0-BADF-006619E5F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96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Это слайд-подсказка для зала. На экране идёт обычная презентация без анимаций и роликов (так требуют правила), а полную версию с анимациями и роликами игры можно открыть на телефоне по QR-коду и листать вместе с докладчиком. На каждом слайде внизу справа написан его номер: тот же номер и на сайте.</a:t>
            </a:r>
          </a:p>
          <a:p>
            <a:endParaRPr lang="ru-RU"/>
          </a:p>
          <a:p>
            <a:r>
              <a:rPr lang="ru-RU"/>
              <a:t>[Перед защитой отсканируйте код телефоном. Он ведёт на http-адрес сервера: если сервер недоступен, этот слайд можно просто пропустить.]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114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Здравствуйте! Мы сделали «ИнфоповодоИнатор»: пиксельную браузерную игру о профессии журналиста. В неё можно играть сразу, без регистрации, на компьютере, планшете и телефоне.</a:t>
            </a:r>
          </a:p>
          <a:p>
            <a:endParaRPr lang="ru-RU"/>
          </a:p>
          <a:p>
            <a:r>
              <a:rPr lang="ru-RU"/>
              <a:t>Покажем, что внутри, чему игра учит и как мы убедились, что она работает.</a:t>
            </a:r>
          </a:p>
          <a:p>
            <a:endParaRPr lang="ru-RU"/>
          </a:p>
          <a:p>
            <a:r>
              <a:rPr lang="ru-RU"/>
              <a:t>[Если времени мало, короткий маршрут: слайды 1, 3, 5, 7, 9, 12, 14, 16. Остальные оставьте на вопросы.]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728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Цель кейса — дать подростку представление о профессии. Подросток обычно думает, что журналист «просто пишет текст». На деле работа из трёх частей.</a:t>
            </a:r>
          </a:p>
          <a:p>
            <a:endParaRPr lang="ru-RU"/>
          </a:p>
          <a:p>
            <a:r>
              <a:rPr lang="ru-RU"/>
              <a:t>Первая — найти инфоповод: что вообще стоит заметки. Вторая — проверить: кому и когда можно верить. Третья — сложить из фактов историю, где главное в заголовке.</a:t>
            </a:r>
          </a:p>
          <a:p>
            <a:endParaRPr lang="ru-RU"/>
          </a:p>
          <a:p>
            <a:r>
              <a:rPr lang="ru-RU"/>
              <a:t>Мы не пересказываем это в тексте. Мы сделали из этих трёх навыков механику игры, и игрок сам открывает правила журналистики. Подсказки по интерфейсу показываются один раз в начале, а что правда и как это проверить, игра не рассказывает.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939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Вот игра за тридцать секунд, как на странице в магазине. Крупно рабочий стол: газета, в которой подсвечены строки-инфоповоды. Снизу кадры из игры: звонок босса, карточки в руке, страница статьи и заметки.</a:t>
            </a:r>
          </a:p>
          <a:p>
            <a:endParaRPr lang="ru-RU"/>
          </a:p>
          <a:p>
            <a:r>
              <a:rPr lang="ru-RU"/>
              <a:t>Справа жанр, платформа и длина: глава из пяти дней по три-пять минут. Геймплей в движении можно посмотреть по QR-коду справа внизу: он ведёт на сайт презентации с роликами.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149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Игра делится на дни. День ограничен по времени: таймер вверху, к концу включается тиканье и музыка ускоряется.</a:t>
            </a:r>
          </a:p>
          <a:p>
            <a:endParaRPr lang="ru-RU"/>
          </a:p>
          <a:p>
            <a:r>
              <a:rPr lang="ru-RU"/>
              <a:t>Утром приходит карточка сюжета, босс подсказывает тему, иногда друг рассказывает «горячую новость», которая может оказаться правдой, а может и нет.</a:t>
            </a:r>
          </a:p>
          <a:p>
            <a:endParaRPr lang="ru-RU"/>
          </a:p>
          <a:p>
            <a:r>
              <a:rPr lang="ru-RU"/>
              <a:t>Потом стол: читаем газеты, отвечаем на звонки. В конце собираем страницу из четырёх слотов и заголовка. Планёрка разбирает каждую новость: правда или ложь, по теме или нет и откуда это известно. Если день идеальный, на следующий открывается интервью со знаменитостью.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398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Первая механика. Слева газета: игрок тащит её из стопки в центр стола, наводит на жирные строки и нажимает. Строка не вырывается из газеты, а подсвечивается, как маркером, а инфоповод попадает в «руку» справа внизу. Прочитанную газету тащим в стопку «Прочитанные»: при наведении она выдвигается веером, и любую можно достать и перечитать.</a:t>
            </a:r>
          </a:p>
          <a:p>
            <a:endParaRPr lang="ru-RU"/>
          </a:p>
          <a:p>
            <a:r>
              <a:rPr lang="ru-RU"/>
              <a:t>Справа телефон. Звонит босс, коллега или незнакомый номер. Это диалог, как в Undertale, у каждого звонящего свой звук голоса. Звонящий либо сообщает инфоповод, либо даёт подсказку для проверки. Звонок можно пропустить или сбросить, но тогда информация потеряется.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460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Вторая механика, сердце игры. Это не викторина «правда или ложь»: знание фактов помогает, но не заменяет проверку.</a:t>
            </a:r>
          </a:p>
          <a:p>
            <a:endParaRPr lang="ru-RU"/>
          </a:p>
          <a:p>
            <a:r>
              <a:rPr lang="ru-RU"/>
              <a:t>Подсказки по каждой новости лежат в разных каналах. Босс всегда говорит правду. Библиотекарь и серьёзные газеты надёжны. Борис иногда путает цифры, Лена любит преувеличивать. Жёлтые газеты громкие, но неточные. А за незнакомым номером может быть конкурент, который всегда лжёт, а может быть неравнодушный гражданин, который говорит правду.</a:t>
            </a:r>
          </a:p>
          <a:p>
            <a:endParaRPr lang="ru-RU"/>
          </a:p>
          <a:p>
            <a:r>
              <a:rPr lang="ru-RU"/>
              <a:t>Генератор гарантирует: для каждой новости есть хотя бы одна надёжная подсказка, а вводящие в заблуждение идут только из ненадёжных каналов. Поэтому правду всегда можно выяснить, но можно и ошибиться. Справа карточки в руке: игрок помечает своё мнение «?», «ДА» или «НЕТ».</a:t>
            </a:r>
          </a:p>
          <a:p>
            <a:endParaRPr lang="ru-RU"/>
          </a:p>
          <a:p>
            <a:r>
              <a:rPr lang="ru-RU"/>
              <a:t>[Шкала на слайде условная: она показывает порядок доверия, а не проценты.]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764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Третья механика. В конце дня игроку дают пустую страницу: четыре слота под инфоповоды и выбор заголовка. Инфоповоды должны быть взаимосвязаны, как в настоящей заметке.</a:t>
            </a:r>
          </a:p>
          <a:p>
            <a:endParaRPr lang="ru-RU"/>
          </a:p>
          <a:p>
            <a:r>
              <a:rPr lang="ru-RU"/>
              <a:t>Оценка считается честно. Достоверная новость по теме даёт один балл. Достоверная, но не по теме, только 0,35. Ложная даёт ноль и штраф. Сумма даёт до 80 очков, верный заголовок добавляет ещё 20, а кричащий кликбейт-заголовок снимает 5. Идеал — 100 из 100.</a:t>
            </a:r>
          </a:p>
          <a:p>
            <a:endParaRPr lang="ru-RU"/>
          </a:p>
          <a:p>
            <a:r>
              <a:rPr lang="ru-RU"/>
              <a:t>Меньше 50 — провал: босс даёт второй шанс с новой темой. Не обязательно использовать все достоверные новости: их в дне больше, чем слотов. Важно, чтобы они были достоверны и складывались в логичную заметку.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396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Награда за идеальный день — интервью со знаменитостью. Игроку показывают карточку героя: силуэт, чем знаменит, описание, характер и опасные темы. Потом три вопроса на выбор с ограничением по времени: 12, 9 или 6 секунд, в зависимости от сложности.</a:t>
            </a:r>
          </a:p>
          <a:p>
            <a:endParaRPr lang="ru-RU"/>
          </a:p>
          <a:p>
            <a:r>
              <a:rPr lang="ru-RU"/>
              <a:t>Один вопрос удачный, он подбирается по интересам героя. Вопрос про опасную тему — риск: с некоторой вероятностью, зависящей от характера, герой вспылит и прервёт интервью, и весь бонус сгорит. С меньшей вероятностью даст двойной успех.</a:t>
            </a:r>
          </a:p>
          <a:p>
            <a:endParaRPr lang="ru-RU"/>
          </a:p>
          <a:p>
            <a:r>
              <a:rPr lang="ru-RU"/>
              <a:t>Бонус — золотые инфоповоды на следующий день: они достоверны и логичны. Чтобы игра не превращалась в «вечную сотню», интервью закрывает не больше половины страницы, и два дня подряд его не бывает.</a:t>
            </a:r>
          </a:p>
          <a:p>
            <a:endParaRPr lang="ru-RU"/>
          </a:p>
          <a:p>
            <a:r>
              <a:rPr lang="ru-RU"/>
              <a:t>[Знаменитости в игре пародийные, например «Лео Ди Каприз». Реальным людям слов не приписываем.]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773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Вот как игра отвечает на цель кейса: каждое действие игрока соответствует действию в редакции.</a:t>
            </a:r>
          </a:p>
          <a:p>
            <a:endParaRPr lang="ru-RU"/>
          </a:p>
          <a:p>
            <a:r>
              <a:rPr lang="ru-RU"/>
              <a:t>Строки газет в «руку» — это мониторинг СМИ и отбор инфоповодов. Звонки — работа с источниками: кому можно доверять. Подсказки и блокнот — проверка по второму источнику. Таймер — дедлайн выпуска. Страница из слотов и заголовка — вёрстка полосы, где главное идёт в заголовок. Планёрка — работа над ошибками. Интервью — подготовка к разговору и осознанный риск острых тем.</a:t>
            </a:r>
          </a:p>
          <a:p>
            <a:endParaRPr lang="ru-RU"/>
          </a:p>
          <a:p>
            <a:r>
              <a:rPr lang="ru-RU"/>
              <a:t>Подросток не читает лекцию о профессии, он принимает те же решения, что и журналист.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086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Визуальный стиль. Мы выбрали пиксель-арт и вид сверху на рабочий стол: газеты, телефон, кружка кофе, блокнот, календарь. Палитра из семи тёплых цветов: чернила, бумага, красный, синий, зелёный, жёлтый и дерево.</a:t>
            </a:r>
          </a:p>
          <a:p>
            <a:endParaRPr lang="ru-RU"/>
          </a:p>
          <a:p>
            <a:r>
              <a:rPr lang="ru-RU"/>
              <a:t>Шрифт Press Start 2P даёт интерфейсу игровой характер, а газеты и карточки набраны Georgia, чтобы длинные тексты читались чисто. Все изображения рисуются кодом на Canvas, поэтому в игре нет файлов с картинками, а масштабирование под экран не теряет резкости.</a:t>
            </a:r>
          </a:p>
          <a:p>
            <a:endParaRPr lang="ru-RU"/>
          </a:p>
          <a:p>
            <a:r>
              <a:rPr lang="ru-RU"/>
              <a:t>Все скриншоты здесь сняты из самой игры.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18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Два пункта со звёздочкой из кейса.</a:t>
            </a:r>
          </a:p>
          <a:p>
            <a:endParaRPr lang="ru-RU"/>
          </a:p>
          <a:p>
            <a:r>
              <a:rPr lang="ru-RU"/>
              <a:t>Сложность выбирается в главном меню, и она меняет не только время. На лёгкой пять минут на день, босс прямо называет тему, мало подвохов и двенадцать секунд на вопрос в интервью. На сложной три минуты десять секунд, босс молчит о теме, ложных новостей по теме больше, а на вопрос всего шесть секунд. Рекомендуем нормальную.</a:t>
            </a:r>
          </a:p>
          <a:p>
            <a:endParaRPr lang="ru-RU"/>
          </a:p>
          <a:p>
            <a:r>
              <a:rPr lang="ru-RU"/>
              <a:t>Сохранение. Между днями игру можно сохранить в файл, он скачивается на компьютер, а загрузить его можно в главном меню. В файле контрольная сумма: если его править вручную, игра это заметит и не загрузит.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600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Стек простой: HTML, CSS и JavaScript без фреймворков и без сборки. Пиксель-арт рисуется на Canvas, музыка и звуки синтезируются Web Audio, файлов с картинками и звуками нет. Анимации на собственной пружинной физике, один цикл, движение через transform.</a:t>
            </a:r>
          </a:p>
          <a:p>
            <a:endParaRPr lang="ru-RU"/>
          </a:p>
          <a:p>
            <a:r>
              <a:rPr lang="ru-RU"/>
              <a:t>Как мы проверяли качество. Главный риск такой игры — нерешаемый день. Поэтому есть автотест: он собирает шесть тысяч дней на всех сложностях и убеждается, что каждая новость доставлена, для неё есть надёжная подсказка, на идеальную страницу хватает достоверных новостей, а звонки не накладываются. Ошибок ноль. Кроме того, мы прогоняли всю главу сценариями: обычный день, провальный день, пустая страница, сохранение и загрузка.</a:t>
            </a:r>
          </a:p>
          <a:p>
            <a:endParaRPr lang="ru-RU"/>
          </a:p>
          <a:p>
            <a:r>
              <a:rPr lang="ru-RU"/>
              <a:t>Скорость: в замерах на тестовом компьютере 60 кадров в секунду; на слабом ноутбуке цифры могут отличаться. Для телефонов собрана версия одним файлом около 550 килобайт.</a:t>
            </a:r>
          </a:p>
          <a:p>
            <a:endParaRPr lang="ru-RU"/>
          </a:p>
          <a:p>
            <a:r>
              <a:rPr lang="ru-RU"/>
              <a:t>И честно: при разработке мы использовали ИИ-помощника Claude Code. Требования, концепцию и приёмку задавала команда.</a:t>
            </a:r>
          </a:p>
          <a:p>
            <a:endParaRPr lang="ru-RU"/>
          </a:p>
          <a:p>
            <a:r>
              <a:rPr lang="ru-RU"/>
              <a:t>[Строку про ИИ можно убрать в config.js: showAiNote. Сначала сверьтесь с правилами хакатона.]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772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Масштабируемость. Весь контент — это данные, движок их не знает. Новость — один объект: правда или ложь, текст, разбор для планёрки, источник и подсказки. Новая тема — набор таких объектов, и после добавления автотест подтверждает, что все дни остаются решаемыми.</a:t>
            </a:r>
          </a:p>
          <a:p>
            <a:endParaRPr lang="ru-RU"/>
          </a:p>
          <a:p>
            <a:r>
              <a:rPr lang="ru-RU"/>
              <a:t>Сейчас в базе 203 новости в 14 темах, 8 знаменитостей и 47 вопросов для интервью. Одна тема в разные дни звучит по-разному за счёт вариантов реплик.</a:t>
            </a:r>
          </a:p>
          <a:p>
            <a:endParaRPr lang="ru-RU"/>
          </a:p>
          <a:p>
            <a:r>
              <a:rPr lang="ru-RU"/>
              <a:t>Что дальше: региональные темы, сюжет с выбором, ежедневные задания босса, таблица рекордов, озвучка. И обязательно проверка на живых подростках: баланс времени мы пока настраивали сами.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219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Нас шестеро. Lozzix (Жуков Ярослав) автор идеи. Quadrus (Ковалев Кирилл) капитан команды и бэкенд. KOTLETA (Шубин Фёдор) бэкенд. Ви фронтенд. Аня дизайн. Сусанна презентация.</a:t>
            </a:r>
          </a:p>
          <a:p>
            <a:endParaRPr lang="ru-RU"/>
          </a:p>
          <a:p>
            <a:r>
              <a:rPr lang="ru-RU"/>
              <a:t>[Если спросят, кто что конкретно делал, ответьте по факту: роли на слайде общие, подробности знает каждый про свою часть.]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9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Референсы. Диалоги мы стилизовали под Undertale: побуквенный текст и свой звук голоса у каждого звонящего. Плавное, «осязаемое» управление взяли из мода Inventory Interactions для Minecraft: газету тащат с наклоном, а прочитанные выдвигаются стопкой при наведении.</a:t>
            </a:r>
          </a:p>
          <a:p>
            <a:endParaRPr lang="ru-RU"/>
          </a:p>
          <a:p>
            <a:r>
              <a:rPr lang="ru-RU"/>
              <a:t>По жанру и атмосфере игра соседствует с Papers, Please: работа за столом с документами под давлением времени. Но задача другая: не пропустить или отказать, а проверить факт и сложить из проверенных фактов заметку.</a:t>
            </a:r>
          </a:p>
          <a:p>
            <a:endParaRPr lang="ru-RU"/>
          </a:p>
          <a:p>
            <a:r>
              <a:rPr lang="ru-RU"/>
              <a:t>[Если у команды были другие вдохновители, замените карточки: они в index.html, слайд 15.]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999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Три QR-кода. Первый ведёт на игру: она открывается сразу, регистрация не нужна, на телефоне её лучше держать горизонтально. Второй на репозиторий с исходным кодом. Третий на сайт презентации с роликами геймплея.</a:t>
            </a:r>
          </a:p>
          <a:p>
            <a:endParaRPr lang="ru-RU"/>
          </a:p>
          <a:p>
            <a:r>
              <a:rPr lang="ru-RU"/>
              <a:t>Спасибо за внимание! Будем рады вопросам.</a:t>
            </a:r>
          </a:p>
          <a:p>
            <a:endParaRPr lang="ru-RU"/>
          </a:p>
          <a:p>
            <a:r>
              <a:rPr lang="ru-RU"/>
              <a:t>[Перед защитой отсканируйте все три кода телефоном. Ссылки меняются в presentation/config.js.]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640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Финальный слайд-шутка: ошибка 404, а над ней огромный силуэт доктора ФуфелСмерча, злодея-изобретателя, который иногда звонит игроку в игре. Спасибо за внимание, будем рады вопросам.</a:t>
            </a:r>
          </a:p>
          <a:p>
            <a:endParaRPr lang="ru-RU"/>
          </a:p>
          <a:p>
            <a:r>
              <a:rPr lang="ru-RU"/>
              <a:t>[Если спросят про то, чего нет на слайдах, ответы лежат в DEFENSE.md: разделы 10, 11, 14 и 15.]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B56A-2402-47F0-BADF-006619E5F8E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772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FF2DF-850A-4A8E-A3CA-8C4EEAC0D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8926D6-804E-4F3B-9472-13F37CB1A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084341-41D3-4D8F-97D4-9341AF81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38059B-AC59-453C-A241-03A6BA0D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979A3-DC49-4DA1-A8F8-417BE74C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79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77663-3004-4F49-B196-EB75BC9C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4CA148-66B6-40E0-962C-AD75F53C6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2F639-3393-48A3-848E-889C2E56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23626C-0C34-471C-978F-1CF817F3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2A10D7-70E9-41E5-8E32-07373096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10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375B5-20A9-4789-AD13-D6D2355C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C6422C-DA83-44F2-B646-ED98344D8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E81673-349E-47D7-AA30-61037EC0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477D40-F8C2-4524-9F44-2717D066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B5C30F-250C-4026-BCF2-38C15773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880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203D3C-F2A3-4228-B60F-C551AA0D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9F2DCD-DA56-4F1B-91FA-ABA302E7F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072F19-3A8D-402C-9B33-EDEF1281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B2F5B8-9158-4366-B193-ED88528E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1C0AA5-1B59-4876-8EDD-B724E6A4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07B7B7-0FB9-411E-B1C7-06EFBDEE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32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309BA-402F-4731-B396-853D20C5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24C387-5FBE-4329-ACB8-0F848A3AE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F0E1AA-4CA1-4040-9AA0-E4915B304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193214-678B-4EA8-9186-5FBFA0512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B20AB93-8C05-4B1A-B08A-EEA3F9052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30A25C4-63BB-4A88-9CB6-0BAE1EB3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570596-5577-4193-B6DE-B09CE17E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BFA48E-9C11-4FCD-A0D1-036A7D65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60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DFC21-688B-4DB6-BB04-1B635201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600"/>
            <a:ext cx="10972800" cy="685800"/>
          </a:xfrm>
        </p:spPr>
        <p:txBody>
          <a:bodyPr wrap="square" lIns="0" tIns="0" anchor="t">
            <a:normAutofit/>
          </a:bodyPr>
          <a:lstStyle>
            <a:lvl1pPr algn="l">
              <a:defRPr sz="2500" b="1">
                <a:solidFill>
                  <a:srgbClr val="E2B64C"/>
                </a:solidFill>
                <a:latin typeface="Courier New" panose="02070309020205020404" pitchFamily="49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5209A8-1FD8-4E1E-8966-F78C78B6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C7032D-C6FD-47BE-9AE8-7B417232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BEC2A8-AF49-404A-8E8C-04D263E2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83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904922-4ED6-48BD-82AE-91EF99C5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38CF06-5CF0-4FA6-ADFF-B921BBBE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10F0DD-1BDB-4621-BFEF-C045BDCE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52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7D574-BD93-413B-98E1-F5623522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64D07D-B13A-402A-BC06-43DB54C41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0C451F-C103-41A7-B630-8B40E1B4F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E526C4-9AB1-4F04-A6FF-E95454F9C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208260-511F-4302-96B2-EE0E2F24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38C0B5-8283-417B-BDF9-00E38ABD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2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CA6CC-F89B-402E-BF65-F0961E53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B9C9A01-752D-4C27-A601-3F25E7EF9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16EFE4-0A4C-4CD8-8FAA-EDCB730AD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4BDDB9-74B6-4610-BE16-2725FF52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3A8F5B-3C8C-4BB5-AAAD-2220F460D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C5B4DC-4BDA-4985-A06C-198146D4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59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C4576-770F-4257-9E43-E7ABF0B2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F61F39-6447-45A2-A0D9-D977C57E9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26E4E0-ED00-412C-8EE6-F5E12B84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D86B3D-F0E1-4430-A608-50AA1DA7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D3C41-D45C-43A4-81E2-D45A7666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850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85C83D-451A-4163-BAFF-29B511FE8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EBB95B-1A1C-4051-93DE-C93ED88EC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A37EE5-0993-4765-B4AA-E1B428C66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B36F22-29E2-4789-BA49-2A64E33A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ABFD7F-3718-4315-A655-5B33595B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28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F0830-DE7F-40A8-B056-3334B05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600"/>
            <a:ext cx="10972800" cy="685800"/>
          </a:xfrm>
          <a:prstGeom prst="rect">
            <a:avLst/>
          </a:prstGeom>
        </p:spPr>
        <p:txBody>
          <a:bodyPr vert="horz" wrap="square" lIns="0" tIns="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F0D4FB-06AC-465D-ACD0-04E01CDF7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C51B01-3840-43D3-B847-EAAE495B1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114DF-D41C-45A4-BE8D-99BA6A8DB991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280544-3107-4F40-A15C-9193CEFE9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37FE41-83E0-4853-B797-D8CE44191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2B055-09E4-48A3-8638-441948BA9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22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rgbClr val="E2B64C"/>
          </a:solidFill>
          <a:latin typeface="Courier New" panose="020703090202050204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14581-AD51-4C01-8828-B4397910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Полная версия: в вашем телефоне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370F1-4A5A-40AA-B952-4ADF1A82FA94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ДЛЯ ВСЕХ В ЗАЛЕ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7D55FA-3910-45F3-8A0A-C5670FA30731}"/>
              </a:ext>
            </a:extLst>
          </p:cNvPr>
          <p:cNvSpPr txBox="1"/>
          <p:nvPr/>
        </p:nvSpPr>
        <p:spPr>
          <a:xfrm>
            <a:off x="609600" y="1498600"/>
            <a:ext cx="6858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>
                <a:solidFill>
                  <a:srgbClr val="F2ECE0"/>
                </a:solidFill>
                <a:latin typeface="Georgia" panose="02040502050405020303" pitchFamily="18" charset="0"/>
              </a:rPr>
              <a:t>На большом экране идёт обычная презентация. Версия с анимациями и роликами игры открывается по QR-коду и ничем не отличается по содержанию.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C5D7108-4298-4378-88E3-472199740739}"/>
              </a:ext>
            </a:extLst>
          </p:cNvPr>
          <p:cNvSpPr/>
          <p:nvPr/>
        </p:nvSpPr>
        <p:spPr>
          <a:xfrm>
            <a:off x="609600" y="3022600"/>
            <a:ext cx="355600" cy="3556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32707F-FF84-484D-A504-E0B5EAE51B98}"/>
              </a:ext>
            </a:extLst>
          </p:cNvPr>
          <p:cNvSpPr txBox="1"/>
          <p:nvPr/>
        </p:nvSpPr>
        <p:spPr>
          <a:xfrm>
            <a:off x="609600" y="3111500"/>
            <a:ext cx="3556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100" b="1">
                <a:solidFill>
                  <a:srgbClr val="241C16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71F41-EADF-4F20-A5B5-AFB92FBA70A7}"/>
              </a:ext>
            </a:extLst>
          </p:cNvPr>
          <p:cNvSpPr txBox="1"/>
          <p:nvPr/>
        </p:nvSpPr>
        <p:spPr>
          <a:xfrm>
            <a:off x="1168400" y="3009900"/>
            <a:ext cx="5969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Наведите камеру телефона на код справа.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8F85BEB-381E-4643-89FA-8E5C2AB7E505}"/>
              </a:ext>
            </a:extLst>
          </p:cNvPr>
          <p:cNvSpPr/>
          <p:nvPr/>
        </p:nvSpPr>
        <p:spPr>
          <a:xfrm>
            <a:off x="609600" y="3810000"/>
            <a:ext cx="355600" cy="3556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FCE39-2E3D-4CE9-A83B-7C7E36FFD348}"/>
              </a:ext>
            </a:extLst>
          </p:cNvPr>
          <p:cNvSpPr txBox="1"/>
          <p:nvPr/>
        </p:nvSpPr>
        <p:spPr>
          <a:xfrm>
            <a:off x="609600" y="3898900"/>
            <a:ext cx="3556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100" b="1">
                <a:solidFill>
                  <a:srgbClr val="241C16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12E7B-3E0B-42AE-9C6B-7CFCB257958C}"/>
              </a:ext>
            </a:extLst>
          </p:cNvPr>
          <p:cNvSpPr txBox="1"/>
          <p:nvPr/>
        </p:nvSpPr>
        <p:spPr>
          <a:xfrm>
            <a:off x="1168400" y="3797300"/>
            <a:ext cx="5969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Откроется презентация с анимациями и роликами игры.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625E081-CD4E-4C61-ACCB-1023333CC2AE}"/>
              </a:ext>
            </a:extLst>
          </p:cNvPr>
          <p:cNvSpPr/>
          <p:nvPr/>
        </p:nvSpPr>
        <p:spPr>
          <a:xfrm>
            <a:off x="609600" y="4597400"/>
            <a:ext cx="355600" cy="3556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A9FB2-6910-4C47-82BF-5FEB24F64E3D}"/>
              </a:ext>
            </a:extLst>
          </p:cNvPr>
          <p:cNvSpPr txBox="1"/>
          <p:nvPr/>
        </p:nvSpPr>
        <p:spPr>
          <a:xfrm>
            <a:off x="609600" y="4686300"/>
            <a:ext cx="3556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100" b="1">
                <a:solidFill>
                  <a:srgbClr val="241C16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F9026-0B40-48F4-8F25-433448CC31F8}"/>
              </a:ext>
            </a:extLst>
          </p:cNvPr>
          <p:cNvSpPr txBox="1"/>
          <p:nvPr/>
        </p:nvSpPr>
        <p:spPr>
          <a:xfrm>
            <a:off x="1168400" y="4584700"/>
            <a:ext cx="5969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Листайте вместе с докладчиком: номер слайда подписан внизу справа.</a:t>
            </a:r>
          </a:p>
        </p:txBody>
      </p:sp>
      <p:pic>
        <p:nvPicPr>
          <p:cNvPr id="15" name="Рисунок 14" descr="Логотип ИнфоповодоИнатор">
            <a:extLst>
              <a:ext uri="{FF2B5EF4-FFF2-40B4-BE49-F238E27FC236}">
                <a16:creationId xmlns:a16="http://schemas.microsoft.com/office/drawing/2014/main" id="{6AA8839C-9169-439E-A01A-518F317EDFD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664200"/>
            <a:ext cx="2667000" cy="685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1FD64C-485F-4CFD-BD4C-DEA6111BC74D}"/>
              </a:ext>
            </a:extLst>
          </p:cNvPr>
          <p:cNvSpPr txBox="1"/>
          <p:nvPr/>
        </p:nvSpPr>
        <p:spPr>
          <a:xfrm>
            <a:off x="3556000" y="58674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CFC29C"/>
                </a:solidFill>
                <a:latin typeface="Georgia" panose="02040502050405020303" pitchFamily="18" charset="0"/>
              </a:rPr>
              <a:t>Телефон лучше держать горизонтально.</a:t>
            </a:r>
          </a:p>
        </p:txBody>
      </p:sp>
      <p:pic>
        <p:nvPicPr>
          <p:cNvPr id="18" name="Рисунок 17" descr="QR-код: http://84.21.191.32/presentation/index.html">
            <a:extLst>
              <a:ext uri="{FF2B5EF4-FFF2-40B4-BE49-F238E27FC236}">
                <a16:creationId xmlns:a16="http://schemas.microsoft.com/office/drawing/2014/main" id="{2253319B-3887-4E3C-B46D-C469F7A1804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371600"/>
            <a:ext cx="3175000" cy="3175000"/>
          </a:xfrm>
          <a:prstGeom prst="rect">
            <a:avLst/>
          </a:prstGeom>
          <a:ln w="5080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548982A-F46D-407F-AF8D-09DD2FDD12C1}"/>
              </a:ext>
            </a:extLst>
          </p:cNvPr>
          <p:cNvSpPr txBox="1"/>
          <p:nvPr/>
        </p:nvSpPr>
        <p:spPr>
          <a:xfrm>
            <a:off x="8255000" y="47752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2B64C"/>
                </a:solidFill>
                <a:latin typeface="Courier New" panose="02070309020205020404" pitchFamily="49" charset="0"/>
              </a:rPr>
              <a:t>ПРЕЗЕНТАЦИЯ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9982FA-B4C8-4A93-A6DF-B33A412B1B2B}"/>
              </a:ext>
            </a:extLst>
          </p:cNvPr>
          <p:cNvSpPr txBox="1"/>
          <p:nvPr/>
        </p:nvSpPr>
        <p:spPr>
          <a:xfrm>
            <a:off x="8255000" y="5130800"/>
            <a:ext cx="3429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2ECE0"/>
                </a:solidFill>
                <a:latin typeface="Courier New" panose="02070309020205020404" pitchFamily="49" charset="0"/>
              </a:rPr>
              <a:t>84.21.191.32/presentation/index.html</a:t>
            </a:r>
            <a:endParaRPr lang="ru-RU" sz="1050" b="1">
              <a:solidFill>
                <a:srgbClr val="F2ECE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0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Рабочий стол из игры">
            <a:extLst>
              <a:ext uri="{FF2B5EF4-FFF2-40B4-BE49-F238E27FC236}">
                <a16:creationId xmlns:a16="http://schemas.microsoft.com/office/drawing/2014/main" id="{3EAD3CA1-5299-4247-ACAA-C9F8422CA4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B2005E2-1571-47CE-B506-01F77FB885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604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8E687-A6EA-42F6-BC70-AE77EEDC6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327400"/>
            <a:ext cx="6604000" cy="635000"/>
          </a:xfrm>
        </p:spPr>
        <p:txBody>
          <a:bodyPr>
            <a:normAutofit/>
          </a:bodyPr>
          <a:lstStyle/>
          <a:p>
            <a:r>
              <a:rPr lang="ru-RU" sz="1700">
                <a:solidFill>
                  <a:srgbClr val="F2ECE0"/>
                </a:solidFill>
              </a:rPr>
              <a:t>Пиксельная игра о профессии журналиста</a:t>
            </a:r>
          </a:p>
        </p:txBody>
      </p:sp>
      <p:pic>
        <p:nvPicPr>
          <p:cNvPr id="7" name="Рисунок 6" descr="Логотип ИнфоповодоИнатор">
            <a:extLst>
              <a:ext uri="{FF2B5EF4-FFF2-40B4-BE49-F238E27FC236}">
                <a16:creationId xmlns:a16="http://schemas.microsoft.com/office/drawing/2014/main" id="{EEF2FC58-100C-4EEE-89F0-B2D8A143DF7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066800"/>
            <a:ext cx="7112000" cy="18161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560F4ED-0BD9-4B8B-AA20-7B4E4DB92FA8}"/>
              </a:ext>
            </a:extLst>
          </p:cNvPr>
          <p:cNvSpPr/>
          <p:nvPr/>
        </p:nvSpPr>
        <p:spPr>
          <a:xfrm>
            <a:off x="711200" y="4267200"/>
            <a:ext cx="1041400" cy="304800"/>
          </a:xfrm>
          <a:prstGeom prst="rect">
            <a:avLst/>
          </a:prstGeom>
          <a:solidFill>
            <a:srgbClr val="3A2F26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D1ED1-3EE4-4E53-A658-2BC64F8EA062}"/>
              </a:ext>
            </a:extLst>
          </p:cNvPr>
          <p:cNvSpPr txBox="1"/>
          <p:nvPr/>
        </p:nvSpPr>
        <p:spPr>
          <a:xfrm>
            <a:off x="812800" y="4356100"/>
            <a:ext cx="889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CFC29C"/>
                </a:solidFill>
                <a:latin typeface="Courier New" panose="02070309020205020404" pitchFamily="49" charset="0"/>
              </a:rPr>
              <a:t>БРАУЗЕР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C0183E9-7FD3-4C8A-B1AC-EDCD3B91EEBB}"/>
              </a:ext>
            </a:extLst>
          </p:cNvPr>
          <p:cNvSpPr/>
          <p:nvPr/>
        </p:nvSpPr>
        <p:spPr>
          <a:xfrm>
            <a:off x="1854200" y="4267200"/>
            <a:ext cx="1879600" cy="304800"/>
          </a:xfrm>
          <a:prstGeom prst="rect">
            <a:avLst/>
          </a:prstGeom>
          <a:solidFill>
            <a:srgbClr val="3A2F26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4FAF4-B568-415E-8925-0F9A99B02017}"/>
              </a:ext>
            </a:extLst>
          </p:cNvPr>
          <p:cNvSpPr txBox="1"/>
          <p:nvPr/>
        </p:nvSpPr>
        <p:spPr>
          <a:xfrm>
            <a:off x="1955800" y="4356100"/>
            <a:ext cx="17272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CFC29C"/>
                </a:solidFill>
                <a:latin typeface="Courier New" panose="02070309020205020404" pitchFamily="49" charset="0"/>
              </a:rPr>
              <a:t>БЕЗ РЕГИСТРАЦИИ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26DADEF-9F56-47C8-898A-891A79D56153}"/>
              </a:ext>
            </a:extLst>
          </p:cNvPr>
          <p:cNvSpPr/>
          <p:nvPr/>
        </p:nvSpPr>
        <p:spPr>
          <a:xfrm>
            <a:off x="3835400" y="4267200"/>
            <a:ext cx="2616200" cy="304800"/>
          </a:xfrm>
          <a:prstGeom prst="rect">
            <a:avLst/>
          </a:prstGeom>
          <a:solidFill>
            <a:srgbClr val="3A2F26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630846-DE21-4E00-96E0-D60A701AEE7F}"/>
              </a:ext>
            </a:extLst>
          </p:cNvPr>
          <p:cNvSpPr txBox="1"/>
          <p:nvPr/>
        </p:nvSpPr>
        <p:spPr>
          <a:xfrm>
            <a:off x="3937000" y="4356100"/>
            <a:ext cx="24638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CFC29C"/>
                </a:solidFill>
                <a:latin typeface="Courier New" panose="02070309020205020404" pitchFamily="49" charset="0"/>
              </a:rPr>
              <a:t>ПК · ПЛАНШЕТ · ТЕЛЕФОН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EFBA4-C0CF-4551-B1BE-F84398B7E1D5}"/>
              </a:ext>
            </a:extLst>
          </p:cNvPr>
          <p:cNvSpPr txBox="1"/>
          <p:nvPr/>
        </p:nvSpPr>
        <p:spPr>
          <a:xfrm>
            <a:off x="711200" y="60706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CFC29C"/>
                </a:solidFill>
                <a:latin typeface="Georgia" panose="02040502050405020303" pitchFamily="18" charset="0"/>
              </a:rPr>
              <a:t>Хакатон «Центр-инвест» · кейс «Разработка игры»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803451FB-5F32-4A34-8458-19C390AF9CCC}"/>
              </a:ext>
            </a:extLst>
          </p:cNvPr>
          <p:cNvGrpSpPr/>
          <p:nvPr/>
        </p:nvGrpSpPr>
        <p:grpSpPr>
          <a:xfrm rot="-132000">
            <a:off x="8128000" y="939800"/>
            <a:ext cx="2997200" cy="1422400"/>
            <a:chOff x="8128000" y="939800"/>
            <a:chExt cx="2997200" cy="1422400"/>
          </a:xfrm>
        </p:grpSpPr>
        <p:sp>
          <p:nvSpPr>
            <p:cNvPr id="15" name="fc1-a">
              <a:extLst>
                <a:ext uri="{FF2B5EF4-FFF2-40B4-BE49-F238E27FC236}">
                  <a16:creationId xmlns:a16="http://schemas.microsoft.com/office/drawing/2014/main" id="{97D51206-C57E-494D-A419-75F86340DF81}"/>
                </a:ext>
              </a:extLst>
            </p:cNvPr>
            <p:cNvSpPr/>
            <p:nvPr/>
          </p:nvSpPr>
          <p:spPr>
            <a:xfrm>
              <a:off x="8128000" y="939800"/>
              <a:ext cx="2997200" cy="1422400"/>
            </a:xfrm>
            <a:prstGeom prst="rect">
              <a:avLst/>
            </a:prstGeom>
            <a:solidFill>
              <a:srgbClr val="EADFC2"/>
            </a:solidFill>
            <a:ln w="28575">
              <a:solidFill>
                <a:srgbClr val="241C16"/>
              </a:solidFill>
            </a:ln>
            <a:effectLst>
              <a:outerShdw dist="62862" dir="2699988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fc1-b">
              <a:extLst>
                <a:ext uri="{FF2B5EF4-FFF2-40B4-BE49-F238E27FC236}">
                  <a16:creationId xmlns:a16="http://schemas.microsoft.com/office/drawing/2014/main" id="{97F517FA-CBF4-4411-87BF-6FF6291D6E54}"/>
                </a:ext>
              </a:extLst>
            </p:cNvPr>
            <p:cNvSpPr/>
            <p:nvPr/>
          </p:nvSpPr>
          <p:spPr>
            <a:xfrm>
              <a:off x="8128000" y="939800"/>
              <a:ext cx="2997200" cy="279400"/>
            </a:xfrm>
            <a:prstGeom prst="rect">
              <a:avLst/>
            </a:prstGeom>
            <a:solidFill>
              <a:srgbClr val="B8392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fc1-c">
              <a:extLst>
                <a:ext uri="{FF2B5EF4-FFF2-40B4-BE49-F238E27FC236}">
                  <a16:creationId xmlns:a16="http://schemas.microsoft.com/office/drawing/2014/main" id="{A76E26A1-BA15-4E61-A383-AA08F222D3A4}"/>
                </a:ext>
              </a:extLst>
            </p:cNvPr>
            <p:cNvSpPr txBox="1"/>
            <p:nvPr/>
          </p:nvSpPr>
          <p:spPr>
            <a:xfrm>
              <a:off x="8242300" y="1016000"/>
              <a:ext cx="25400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ru-RU" sz="950" b="1">
                  <a:solidFill>
                    <a:srgbClr val="FFFFFF"/>
                  </a:solidFill>
                  <a:latin typeface="Courier New" panose="02070309020205020404" pitchFamily="49" charset="0"/>
                </a:rPr>
                <a:t>ГАЗЕТА</a:t>
              </a:r>
            </a:p>
          </p:txBody>
        </p:sp>
        <p:sp>
          <p:nvSpPr>
            <p:cNvPr id="18" name="fc1-d">
              <a:extLst>
                <a:ext uri="{FF2B5EF4-FFF2-40B4-BE49-F238E27FC236}">
                  <a16:creationId xmlns:a16="http://schemas.microsoft.com/office/drawing/2014/main" id="{C4EDB7C2-E8CB-4895-B573-F93F5075AF6A}"/>
                </a:ext>
              </a:extLst>
            </p:cNvPr>
            <p:cNvSpPr txBox="1"/>
            <p:nvPr/>
          </p:nvSpPr>
          <p:spPr>
            <a:xfrm>
              <a:off x="8255000" y="1346200"/>
              <a:ext cx="27432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ru-RU" sz="1400" b="1">
                  <a:solidFill>
                    <a:srgbClr val="241C16"/>
                  </a:solidFill>
                  <a:latin typeface="Georgia" panose="02040502050405020303" pitchFamily="18" charset="0"/>
                </a:rPr>
                <a:t>Белка и Стрелка в 1960 году слетали в космос и вернулись на Землю.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C561218B-763E-40F7-8131-172F4C2B6C8B}"/>
              </a:ext>
            </a:extLst>
          </p:cNvPr>
          <p:cNvGrpSpPr/>
          <p:nvPr/>
        </p:nvGrpSpPr>
        <p:grpSpPr>
          <a:xfrm rot="120000">
            <a:off x="8763000" y="2717800"/>
            <a:ext cx="2997200" cy="1422400"/>
            <a:chOff x="8763000" y="2717800"/>
            <a:chExt cx="2997200" cy="1422400"/>
          </a:xfrm>
        </p:grpSpPr>
        <p:sp>
          <p:nvSpPr>
            <p:cNvPr id="20" name="fc2-a">
              <a:extLst>
                <a:ext uri="{FF2B5EF4-FFF2-40B4-BE49-F238E27FC236}">
                  <a16:creationId xmlns:a16="http://schemas.microsoft.com/office/drawing/2014/main" id="{A747D0AF-66AF-42D5-85D2-8D045700B587}"/>
                </a:ext>
              </a:extLst>
            </p:cNvPr>
            <p:cNvSpPr/>
            <p:nvPr/>
          </p:nvSpPr>
          <p:spPr>
            <a:xfrm>
              <a:off x="8763000" y="2717800"/>
              <a:ext cx="2997200" cy="1422400"/>
            </a:xfrm>
            <a:prstGeom prst="rect">
              <a:avLst/>
            </a:prstGeom>
            <a:solidFill>
              <a:srgbClr val="CFE0F5"/>
            </a:solidFill>
            <a:ln w="28575">
              <a:solidFill>
                <a:srgbClr val="241C16"/>
              </a:solidFill>
            </a:ln>
            <a:effectLst>
              <a:outerShdw dist="62862" dir="2699988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fc2-b">
              <a:extLst>
                <a:ext uri="{FF2B5EF4-FFF2-40B4-BE49-F238E27FC236}">
                  <a16:creationId xmlns:a16="http://schemas.microsoft.com/office/drawing/2014/main" id="{B107827C-FB09-41BE-834A-93883E721C88}"/>
                </a:ext>
              </a:extLst>
            </p:cNvPr>
            <p:cNvSpPr/>
            <p:nvPr/>
          </p:nvSpPr>
          <p:spPr>
            <a:xfrm>
              <a:off x="8763000" y="2717800"/>
              <a:ext cx="2997200" cy="279400"/>
            </a:xfrm>
            <a:prstGeom prst="rect">
              <a:avLst/>
            </a:prstGeom>
            <a:solidFill>
              <a:srgbClr val="3B5E8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fc2-c">
              <a:extLst>
                <a:ext uri="{FF2B5EF4-FFF2-40B4-BE49-F238E27FC236}">
                  <a16:creationId xmlns:a16="http://schemas.microsoft.com/office/drawing/2014/main" id="{48850DC9-4330-4978-8E0B-09380B560F88}"/>
                </a:ext>
              </a:extLst>
            </p:cNvPr>
            <p:cNvSpPr txBox="1"/>
            <p:nvPr/>
          </p:nvSpPr>
          <p:spPr>
            <a:xfrm>
              <a:off x="8877300" y="2794000"/>
              <a:ext cx="25400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ru-RU" sz="950" b="1">
                  <a:solidFill>
                    <a:srgbClr val="FFFFFF"/>
                  </a:solidFill>
                  <a:latin typeface="Courier New" panose="02070309020205020404" pitchFamily="49" charset="0"/>
                </a:rPr>
                <a:t>ЗВОНОК</a:t>
              </a:r>
            </a:p>
          </p:txBody>
        </p:sp>
        <p:sp>
          <p:nvSpPr>
            <p:cNvPr id="23" name="fc2-d">
              <a:extLst>
                <a:ext uri="{FF2B5EF4-FFF2-40B4-BE49-F238E27FC236}">
                  <a16:creationId xmlns:a16="http://schemas.microsoft.com/office/drawing/2014/main" id="{62DD9E03-D548-46C9-9D47-732AF3351557}"/>
                </a:ext>
              </a:extLst>
            </p:cNvPr>
            <p:cNvSpPr txBox="1"/>
            <p:nvPr/>
          </p:nvSpPr>
          <p:spPr>
            <a:xfrm>
              <a:off x="8890000" y="3124200"/>
              <a:ext cx="27432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ru-RU" sz="1400" b="1">
                  <a:solidFill>
                    <a:srgbClr val="1C2F4D"/>
                  </a:solidFill>
                  <a:latin typeface="Georgia" panose="02040502050405020303" pitchFamily="18" charset="0"/>
                </a:rPr>
                <a:t>Валентина Терешкова стала первой в мире женщиной-космонавтом.</a:t>
              </a: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A4A18845-8736-4B6C-AF57-6AA523F1ED63}"/>
              </a:ext>
            </a:extLst>
          </p:cNvPr>
          <p:cNvGrpSpPr/>
          <p:nvPr/>
        </p:nvGrpSpPr>
        <p:grpSpPr>
          <a:xfrm rot="-132000">
            <a:off x="8255000" y="4495800"/>
            <a:ext cx="2997200" cy="1422400"/>
            <a:chOff x="8255000" y="4495800"/>
            <a:chExt cx="2997200" cy="1422400"/>
          </a:xfrm>
        </p:grpSpPr>
        <p:sp>
          <p:nvSpPr>
            <p:cNvPr id="25" name="fc3-a">
              <a:extLst>
                <a:ext uri="{FF2B5EF4-FFF2-40B4-BE49-F238E27FC236}">
                  <a16:creationId xmlns:a16="http://schemas.microsoft.com/office/drawing/2014/main" id="{E5326D66-4A46-4B75-A3F8-83F6393E1999}"/>
                </a:ext>
              </a:extLst>
            </p:cNvPr>
            <p:cNvSpPr/>
            <p:nvPr/>
          </p:nvSpPr>
          <p:spPr>
            <a:xfrm>
              <a:off x="8255000" y="4495800"/>
              <a:ext cx="2997200" cy="1422400"/>
            </a:xfrm>
            <a:prstGeom prst="rect">
              <a:avLst/>
            </a:prstGeom>
            <a:solidFill>
              <a:srgbClr val="EAD3F5"/>
            </a:solidFill>
            <a:ln w="28575">
              <a:solidFill>
                <a:srgbClr val="241C16"/>
              </a:solidFill>
            </a:ln>
            <a:effectLst>
              <a:outerShdw dist="62862" dir="2699988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fc3-b">
              <a:extLst>
                <a:ext uri="{FF2B5EF4-FFF2-40B4-BE49-F238E27FC236}">
                  <a16:creationId xmlns:a16="http://schemas.microsoft.com/office/drawing/2014/main" id="{ED101B1A-3FC7-4F85-9690-F1209AD61E1B}"/>
                </a:ext>
              </a:extLst>
            </p:cNvPr>
            <p:cNvSpPr/>
            <p:nvPr/>
          </p:nvSpPr>
          <p:spPr>
            <a:xfrm>
              <a:off x="8255000" y="4495800"/>
              <a:ext cx="2997200" cy="279400"/>
            </a:xfrm>
            <a:prstGeom prst="rect">
              <a:avLst/>
            </a:prstGeom>
            <a:solidFill>
              <a:srgbClr val="7A4AA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fc3-c">
              <a:extLst>
                <a:ext uri="{FF2B5EF4-FFF2-40B4-BE49-F238E27FC236}">
                  <a16:creationId xmlns:a16="http://schemas.microsoft.com/office/drawing/2014/main" id="{03CC2922-9618-407D-8238-93D766C76DAD}"/>
                </a:ext>
              </a:extLst>
            </p:cNvPr>
            <p:cNvSpPr txBox="1"/>
            <p:nvPr/>
          </p:nvSpPr>
          <p:spPr>
            <a:xfrm>
              <a:off x="8369300" y="4572000"/>
              <a:ext cx="25400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ru-RU" sz="950" b="1">
                  <a:solidFill>
                    <a:srgbClr val="FFFFFF"/>
                  </a:solidFill>
                  <a:latin typeface="Courier New" panose="02070309020205020404" pitchFamily="49" charset="0"/>
                </a:rPr>
                <a:t>СОБЫТИЕ</a:t>
              </a:r>
            </a:p>
          </p:txBody>
        </p:sp>
        <p:sp>
          <p:nvSpPr>
            <p:cNvPr id="28" name="fc3-d">
              <a:extLst>
                <a:ext uri="{FF2B5EF4-FFF2-40B4-BE49-F238E27FC236}">
                  <a16:creationId xmlns:a16="http://schemas.microsoft.com/office/drawing/2014/main" id="{A5AD38FC-A286-4AAB-ACBA-B3499DF29021}"/>
                </a:ext>
              </a:extLst>
            </p:cNvPr>
            <p:cNvSpPr txBox="1"/>
            <p:nvPr/>
          </p:nvSpPr>
          <p:spPr>
            <a:xfrm>
              <a:off x="8382000" y="4902200"/>
              <a:ext cx="27432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ru-RU" sz="1400" b="1">
                  <a:solidFill>
                    <a:srgbClr val="241C16"/>
                  </a:solidFill>
                  <a:latin typeface="Georgia" panose="02040502050405020303" pitchFamily="18" charset="0"/>
                </a:rPr>
                <a:t>Космическая станция летает на высоте около 400 километров.</a:t>
              </a:r>
            </a:p>
          </p:txBody>
        </p:sp>
      </p:grpSp>
      <p:sp>
        <p:nvSpPr>
          <p:cNvPr id="30" name="slide-no">
            <a:extLst>
              <a:ext uri="{FF2B5EF4-FFF2-40B4-BE49-F238E27FC236}">
                <a16:creationId xmlns:a16="http://schemas.microsoft.com/office/drawing/2014/main" id="{B60B2044-9850-4809-862A-6B5D8134215C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40010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FE8F4-2B19-457C-B95A-3C1F45B5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Журналист — это не «просто пишет текст»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6B684-7D1C-4C29-A09F-A6C7A025F9F8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ЦЕЛЬ КЕЙСА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D4E0FD-AB48-40EC-9F8F-4D2B0569BAC5}"/>
              </a:ext>
            </a:extLst>
          </p:cNvPr>
          <p:cNvSpPr/>
          <p:nvPr/>
        </p:nvSpPr>
        <p:spPr>
          <a:xfrm>
            <a:off x="609600" y="1371600"/>
            <a:ext cx="3505200" cy="2413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D8FBF10-ED25-4B7A-A45C-BACE58AAA9EC}"/>
              </a:ext>
            </a:extLst>
          </p:cNvPr>
          <p:cNvSpPr/>
          <p:nvPr/>
        </p:nvSpPr>
        <p:spPr>
          <a:xfrm>
            <a:off x="609600" y="1371600"/>
            <a:ext cx="3505200" cy="304800"/>
          </a:xfrm>
          <a:prstGeom prst="rect">
            <a:avLst/>
          </a:prstGeom>
          <a:solidFill>
            <a:srgbClr val="B839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B320B-F504-49F1-BD61-BB2EEA5A4F40}"/>
              </a:ext>
            </a:extLst>
          </p:cNvPr>
          <p:cNvSpPr txBox="1"/>
          <p:nvPr/>
        </p:nvSpPr>
        <p:spPr>
          <a:xfrm>
            <a:off x="723900" y="1444625"/>
            <a:ext cx="33274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Courier New" panose="02070309020205020404" pitchFamily="49" charset="0"/>
              </a:rPr>
              <a:t>ИНФОПОВОД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875C3-AD4F-45B8-B0CC-9116C14D59F2}"/>
              </a:ext>
            </a:extLst>
          </p:cNvPr>
          <p:cNvSpPr txBox="1"/>
          <p:nvPr/>
        </p:nvSpPr>
        <p:spPr>
          <a:xfrm>
            <a:off x="787400" y="1854200"/>
            <a:ext cx="31496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241C16"/>
                </a:solidFill>
                <a:latin typeface="Georgia" panose="02040502050405020303" pitchFamily="18" charset="0"/>
              </a:rPr>
              <a:t>Что вообще достойно заметки? В сотне строк нужно найти ту, о которой заговорят.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FDAA8-D270-4B32-9AB8-DEEB8D43F1D1}"/>
              </a:ext>
            </a:extLst>
          </p:cNvPr>
          <p:cNvSpPr txBox="1"/>
          <p:nvPr/>
        </p:nvSpPr>
        <p:spPr>
          <a:xfrm>
            <a:off x="787400" y="3251200"/>
            <a:ext cx="31496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i="1">
                <a:solidFill>
                  <a:srgbClr val="5B4C38"/>
                </a:solidFill>
                <a:latin typeface="Georgia" panose="02040502050405020303" pitchFamily="18" charset="0"/>
              </a:rPr>
              <a:t>в игре: строки газет, звонки, утренние вести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83FE7F-3862-4282-8B70-CDB4F1AB3C1F}"/>
              </a:ext>
            </a:extLst>
          </p:cNvPr>
          <p:cNvSpPr/>
          <p:nvPr/>
        </p:nvSpPr>
        <p:spPr>
          <a:xfrm>
            <a:off x="4343400" y="1371600"/>
            <a:ext cx="3505200" cy="2413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34FFABC-883D-4659-86BE-E3A6B7B9626E}"/>
              </a:ext>
            </a:extLst>
          </p:cNvPr>
          <p:cNvSpPr/>
          <p:nvPr/>
        </p:nvSpPr>
        <p:spPr>
          <a:xfrm>
            <a:off x="4343400" y="1371600"/>
            <a:ext cx="3505200" cy="304800"/>
          </a:xfrm>
          <a:prstGeom prst="rect">
            <a:avLst/>
          </a:prstGeom>
          <a:solidFill>
            <a:srgbClr val="3B5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4D47C1-B086-4281-BA41-6A5B3C6B2E74}"/>
              </a:ext>
            </a:extLst>
          </p:cNvPr>
          <p:cNvSpPr txBox="1"/>
          <p:nvPr/>
        </p:nvSpPr>
        <p:spPr>
          <a:xfrm>
            <a:off x="4457700" y="1444625"/>
            <a:ext cx="33274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Courier New" panose="02070309020205020404" pitchFamily="49" charset="0"/>
              </a:rPr>
              <a:t>ПРОВЕРКА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778F9C-A24E-46BF-9091-47D3C8FAC192}"/>
              </a:ext>
            </a:extLst>
          </p:cNvPr>
          <p:cNvSpPr txBox="1"/>
          <p:nvPr/>
        </p:nvSpPr>
        <p:spPr>
          <a:xfrm>
            <a:off x="4521200" y="1854200"/>
            <a:ext cx="31496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241C16"/>
                </a:solidFill>
                <a:latin typeface="Georgia" panose="02040502050405020303" pitchFamily="18" charset="0"/>
              </a:rPr>
              <a:t>Кому и когда верить? Босс не врёт, конкурент врёт, коллега приукрашивает.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188A0-9FC1-422E-B9EB-C49ECA543B87}"/>
              </a:ext>
            </a:extLst>
          </p:cNvPr>
          <p:cNvSpPr txBox="1"/>
          <p:nvPr/>
        </p:nvSpPr>
        <p:spPr>
          <a:xfrm>
            <a:off x="4521200" y="3251200"/>
            <a:ext cx="31496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i="1">
                <a:solidFill>
                  <a:srgbClr val="5B4C38"/>
                </a:solidFill>
                <a:latin typeface="Georgia" panose="02040502050405020303" pitchFamily="18" charset="0"/>
              </a:rPr>
              <a:t>в игре: источники, подсказки, пометки ДА / НЕТ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D8D441E-71E4-4ADE-AA46-32AFC8755598}"/>
              </a:ext>
            </a:extLst>
          </p:cNvPr>
          <p:cNvSpPr/>
          <p:nvPr/>
        </p:nvSpPr>
        <p:spPr>
          <a:xfrm>
            <a:off x="8077200" y="1371600"/>
            <a:ext cx="3505200" cy="2413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73EBFCF-DD66-4AE4-88CD-ADE5D0CA1222}"/>
              </a:ext>
            </a:extLst>
          </p:cNvPr>
          <p:cNvSpPr/>
          <p:nvPr/>
        </p:nvSpPr>
        <p:spPr>
          <a:xfrm>
            <a:off x="8077200" y="1371600"/>
            <a:ext cx="3505200" cy="304800"/>
          </a:xfrm>
          <a:prstGeom prst="rect">
            <a:avLst/>
          </a:prstGeom>
          <a:solidFill>
            <a:srgbClr val="7A4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0A5F63-9906-4622-B762-209A52FC70C6}"/>
              </a:ext>
            </a:extLst>
          </p:cNvPr>
          <p:cNvSpPr txBox="1"/>
          <p:nvPr/>
        </p:nvSpPr>
        <p:spPr>
          <a:xfrm>
            <a:off x="8191500" y="1444625"/>
            <a:ext cx="33274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Courier New" panose="02070309020205020404" pitchFamily="49" charset="0"/>
              </a:rPr>
              <a:t>СТРУКТУРА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501A4-7648-45DD-AE41-0ECEDAA8F00D}"/>
              </a:ext>
            </a:extLst>
          </p:cNvPr>
          <p:cNvSpPr txBox="1"/>
          <p:nvPr/>
        </p:nvSpPr>
        <p:spPr>
          <a:xfrm>
            <a:off x="8255000" y="1854200"/>
            <a:ext cx="31496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 b="1">
                <a:solidFill>
                  <a:srgbClr val="241C16"/>
                </a:solidFill>
                <a:latin typeface="Georgia" panose="02040502050405020303" pitchFamily="18" charset="0"/>
              </a:rPr>
              <a:t>Из фактов складывается история: всё по теме, главное вынесено в заголовок.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630F5F-1751-4AAE-A2C1-ACFED44FB136}"/>
              </a:ext>
            </a:extLst>
          </p:cNvPr>
          <p:cNvSpPr txBox="1"/>
          <p:nvPr/>
        </p:nvSpPr>
        <p:spPr>
          <a:xfrm>
            <a:off x="8255000" y="3251200"/>
            <a:ext cx="31496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i="1">
                <a:solidFill>
                  <a:srgbClr val="5B4C38"/>
                </a:solidFill>
                <a:latin typeface="Georgia" panose="02040502050405020303" pitchFamily="18" charset="0"/>
              </a:rPr>
              <a:t>в игре: страница из четырёх слотов и заголовок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7D42E7F-7590-4321-A818-36CA9C2EC774}"/>
              </a:ext>
            </a:extLst>
          </p:cNvPr>
          <p:cNvSpPr/>
          <p:nvPr/>
        </p:nvSpPr>
        <p:spPr>
          <a:xfrm>
            <a:off x="609600" y="4267200"/>
            <a:ext cx="10972800" cy="14986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411631-60E1-4529-9FA7-18979E7BAFA9}"/>
              </a:ext>
            </a:extLst>
          </p:cNvPr>
          <p:cNvSpPr txBox="1"/>
          <p:nvPr/>
        </p:nvSpPr>
        <p:spPr>
          <a:xfrm>
            <a:off x="889000" y="44958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 b="1">
                <a:solidFill>
                  <a:srgbClr val="E2B64C"/>
                </a:solidFill>
                <a:latin typeface="Courier New" panose="02070309020205020404" pitchFamily="49" charset="0"/>
              </a:rPr>
              <a:t>ЧТО МЫ СДЕЛАЛИ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1CE1-DB58-4363-9DFA-8CA8847B468E}"/>
              </a:ext>
            </a:extLst>
          </p:cNvPr>
          <p:cNvSpPr txBox="1"/>
          <p:nvPr/>
        </p:nvSpPr>
        <p:spPr>
          <a:xfrm>
            <a:off x="889000" y="4826000"/>
            <a:ext cx="10414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>
                <a:solidFill>
                  <a:srgbClr val="F2ECE0"/>
                </a:solidFill>
                <a:latin typeface="Georgia" panose="02040502050405020303" pitchFamily="18" charset="0"/>
              </a:rPr>
              <a:t>Не рассказываем о профессии, а даём её прожить: каждое действие игрока — действие журналиста, а подросток сам открывает правила.</a:t>
            </a:r>
          </a:p>
        </p:txBody>
      </p:sp>
      <p:sp>
        <p:nvSpPr>
          <p:cNvPr id="22" name="slide-no">
            <a:extLst>
              <a:ext uri="{FF2B5EF4-FFF2-40B4-BE49-F238E27FC236}">
                <a16:creationId xmlns:a16="http://schemas.microsoft.com/office/drawing/2014/main" id="{DCDA4CFD-6B2A-4E64-963B-82F49BA599AB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202159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06EBA-79BF-4E62-A13B-89A7F285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Игра за 30 секунд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CDF0-C46B-4921-8FD5-F04B24C36A84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ВСЕ ИГРЫ &gt; ГОЛОВОЛОМКИ &gt; ИНФОПОВОДОИНАТОР</a:t>
            </a:r>
          </a:p>
        </p:txBody>
      </p:sp>
      <p:pic>
        <p:nvPicPr>
          <p:cNvPr id="5" name="Рисунок 4" descr="Рабочий стол игры: газета с подсвеченными инфоповодами">
            <a:extLst>
              <a:ext uri="{FF2B5EF4-FFF2-40B4-BE49-F238E27FC236}">
                <a16:creationId xmlns:a16="http://schemas.microsoft.com/office/drawing/2014/main" id="{6BF9CA2E-3C3B-4E56-8F14-689F2D82AA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70000"/>
            <a:ext cx="6604000" cy="37084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pic>
        <p:nvPicPr>
          <p:cNvPr id="7" name="Рисунок 6" descr="Кадр из игры">
            <a:extLst>
              <a:ext uri="{FF2B5EF4-FFF2-40B4-BE49-F238E27FC236}">
                <a16:creationId xmlns:a16="http://schemas.microsoft.com/office/drawing/2014/main" id="{8147D362-C69E-4E9B-9695-8524BCA1CD7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130800"/>
            <a:ext cx="1574800" cy="889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pic>
        <p:nvPicPr>
          <p:cNvPr id="9" name="Рисунок 8" descr="Кадр из игры">
            <a:extLst>
              <a:ext uri="{FF2B5EF4-FFF2-40B4-BE49-F238E27FC236}">
                <a16:creationId xmlns:a16="http://schemas.microsoft.com/office/drawing/2014/main" id="{54BB69FD-F84F-4D85-83B9-8803DC889A7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130800"/>
            <a:ext cx="1574800" cy="889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pic>
        <p:nvPicPr>
          <p:cNvPr id="11" name="Рисунок 10" descr="Кадр из игры">
            <a:extLst>
              <a:ext uri="{FF2B5EF4-FFF2-40B4-BE49-F238E27FC236}">
                <a16:creationId xmlns:a16="http://schemas.microsoft.com/office/drawing/2014/main" id="{52EFA1A3-DEE0-4F88-ADE6-E07B4DB7A8E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5130800"/>
            <a:ext cx="1574800" cy="889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pic>
        <p:nvPicPr>
          <p:cNvPr id="13" name="Рисунок 12" descr="Кадр из игры">
            <a:extLst>
              <a:ext uri="{FF2B5EF4-FFF2-40B4-BE49-F238E27FC236}">
                <a16:creationId xmlns:a16="http://schemas.microsoft.com/office/drawing/2014/main" id="{76E7CD0E-58D9-4D61-A7BE-83BB50162B83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5130800"/>
            <a:ext cx="1574800" cy="889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DDCDFD-34B0-4B85-9503-7867D27330B5}"/>
              </a:ext>
            </a:extLst>
          </p:cNvPr>
          <p:cNvSpPr txBox="1"/>
          <p:nvPr/>
        </p:nvSpPr>
        <p:spPr>
          <a:xfrm>
            <a:off x="609600" y="6172200"/>
            <a:ext cx="660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CFC29C"/>
                </a:solidFill>
                <a:latin typeface="Georgia" panose="02040502050405020303" pitchFamily="18" charset="0"/>
              </a:rPr>
              <a:t>Кадры из самой игры: звонок босса, карточки в руке, страница, заметки.</a:t>
            </a:r>
          </a:p>
        </p:txBody>
      </p:sp>
      <p:pic>
        <p:nvPicPr>
          <p:cNvPr id="16" name="Рисунок 15" descr="Главное меню игры">
            <a:extLst>
              <a:ext uri="{FF2B5EF4-FFF2-40B4-BE49-F238E27FC236}">
                <a16:creationId xmlns:a16="http://schemas.microsoft.com/office/drawing/2014/main" id="{4F428541-5C5A-4771-B135-3A879BB1F1F4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0" y="1270000"/>
            <a:ext cx="3810000" cy="21463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B3657D-0818-4461-B7E1-A1A99BCD1E54}"/>
              </a:ext>
            </a:extLst>
          </p:cNvPr>
          <p:cNvSpPr txBox="1"/>
          <p:nvPr/>
        </p:nvSpPr>
        <p:spPr>
          <a:xfrm>
            <a:off x="7518400" y="3556000"/>
            <a:ext cx="40640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50">
                <a:solidFill>
                  <a:srgbClr val="F2ECE0"/>
                </a:solidFill>
                <a:latin typeface="Georgia" panose="02040502050405020303" pitchFamily="18" charset="0"/>
              </a:rPr>
              <a:t>Вас по счастливой случайности взяли в газету. Читайте вырезки, отвечайте на звонки, собирайте инфоповоды и проверяйте их раньше, чем выложите заметку.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636448-6AC7-4FC8-808B-4B84854FBF9B}"/>
              </a:ext>
            </a:extLst>
          </p:cNvPr>
          <p:cNvSpPr txBox="1"/>
          <p:nvPr/>
        </p:nvSpPr>
        <p:spPr>
          <a:xfrm>
            <a:off x="7518400" y="4546600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850" b="1">
                <a:solidFill>
                  <a:srgbClr val="8AA0B8"/>
                </a:solidFill>
                <a:latin typeface="Courier New" panose="02070309020205020404" pitchFamily="49" charset="0"/>
              </a:rPr>
              <a:t>ЖАНР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C76844-705E-43D4-B7E8-7D36BA5CE5DC}"/>
              </a:ext>
            </a:extLst>
          </p:cNvPr>
          <p:cNvSpPr txBox="1"/>
          <p:nvPr/>
        </p:nvSpPr>
        <p:spPr>
          <a:xfrm>
            <a:off x="8585200" y="4521200"/>
            <a:ext cx="2997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CFC29C"/>
                </a:solidFill>
                <a:latin typeface="Georgia" panose="02040502050405020303" pitchFamily="18" charset="0"/>
              </a:rPr>
              <a:t>головоломка, симулятор редакции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45FD5A-ABC9-414C-B6BF-3D5107136E66}"/>
              </a:ext>
            </a:extLst>
          </p:cNvPr>
          <p:cNvSpPr txBox="1"/>
          <p:nvPr/>
        </p:nvSpPr>
        <p:spPr>
          <a:xfrm>
            <a:off x="7518400" y="4775200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850" b="1">
                <a:solidFill>
                  <a:srgbClr val="8AA0B8"/>
                </a:solidFill>
                <a:latin typeface="Courier New" panose="02070309020205020404" pitchFamily="49" charset="0"/>
              </a:rPr>
              <a:t>ПЛАТФОРМА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86B8C2-09E7-475E-9F8A-D785CCC84B3E}"/>
              </a:ext>
            </a:extLst>
          </p:cNvPr>
          <p:cNvSpPr txBox="1"/>
          <p:nvPr/>
        </p:nvSpPr>
        <p:spPr>
          <a:xfrm>
            <a:off x="8585200" y="4749800"/>
            <a:ext cx="2997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CFC29C"/>
                </a:solidFill>
                <a:latin typeface="Georgia" panose="02040502050405020303" pitchFamily="18" charset="0"/>
              </a:rPr>
              <a:t>браузер: ПК, планшет, телефон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3A8C61-92FC-4A55-86B6-4EC86E6B4FE2}"/>
              </a:ext>
            </a:extLst>
          </p:cNvPr>
          <p:cNvSpPr txBox="1"/>
          <p:nvPr/>
        </p:nvSpPr>
        <p:spPr>
          <a:xfrm>
            <a:off x="7518400" y="5003800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850" b="1">
                <a:solidFill>
                  <a:srgbClr val="8AA0B8"/>
                </a:solidFill>
                <a:latin typeface="Courier New" panose="02070309020205020404" pitchFamily="49" charset="0"/>
              </a:rPr>
              <a:t>ГЛАВА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7AF3D6-F42A-40BB-A45D-7E18F488A5E6}"/>
              </a:ext>
            </a:extLst>
          </p:cNvPr>
          <p:cNvSpPr txBox="1"/>
          <p:nvPr/>
        </p:nvSpPr>
        <p:spPr>
          <a:xfrm>
            <a:off x="8585200" y="4978400"/>
            <a:ext cx="2997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CFC29C"/>
                </a:solidFill>
                <a:latin typeface="Georgia" panose="02040502050405020303" pitchFamily="18" charset="0"/>
              </a:rPr>
              <a:t>5 дней, 3–5 минут каждый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F51461-8AF5-4C7B-896A-0215CDCE5711}"/>
              </a:ext>
            </a:extLst>
          </p:cNvPr>
          <p:cNvSpPr txBox="1"/>
          <p:nvPr/>
        </p:nvSpPr>
        <p:spPr>
          <a:xfrm>
            <a:off x="7518400" y="5232400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850" b="1">
                <a:solidFill>
                  <a:srgbClr val="8AA0B8"/>
                </a:solidFill>
                <a:latin typeface="Courier New" panose="02070309020205020404" pitchFamily="49" charset="0"/>
              </a:rPr>
              <a:t>ЯЗЫК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8E7CA2-88B8-480E-BD9B-002F89DA4E44}"/>
              </a:ext>
            </a:extLst>
          </p:cNvPr>
          <p:cNvSpPr txBox="1"/>
          <p:nvPr/>
        </p:nvSpPr>
        <p:spPr>
          <a:xfrm>
            <a:off x="8585200" y="5207000"/>
            <a:ext cx="2997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50">
                <a:solidFill>
                  <a:srgbClr val="CFC29C"/>
                </a:solidFill>
                <a:latin typeface="Georgia" panose="02040502050405020303" pitchFamily="18" charset="0"/>
              </a:rPr>
              <a:t>русский</a:t>
            </a:r>
          </a:p>
        </p:txBody>
      </p:sp>
      <p:pic>
        <p:nvPicPr>
          <p:cNvPr id="27" name="Рисунок 26" descr="QR-код: http://84.21.191.32/presentation/index.html#3">
            <a:extLst>
              <a:ext uri="{FF2B5EF4-FFF2-40B4-BE49-F238E27FC236}">
                <a16:creationId xmlns:a16="http://schemas.microsoft.com/office/drawing/2014/main" id="{87222404-53F5-4B5F-8D57-85B5BBDC66E7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0" y="5537200"/>
            <a:ext cx="1066800" cy="10668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0994E12-0554-4D92-8BE6-107BE795EAAD}"/>
              </a:ext>
            </a:extLst>
          </p:cNvPr>
          <p:cNvSpPr txBox="1"/>
          <p:nvPr/>
        </p:nvSpPr>
        <p:spPr>
          <a:xfrm>
            <a:off x="8737600" y="5664200"/>
            <a:ext cx="284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F2ECE0"/>
                </a:solidFill>
                <a:latin typeface="Georgia" panose="02040502050405020303" pitchFamily="18" charset="0"/>
              </a:rPr>
              <a:t>Геймплей в движении: наведите камеру на QR-код, откроется сайт с роликами.</a:t>
            </a:r>
          </a:p>
        </p:txBody>
      </p:sp>
      <p:sp>
        <p:nvSpPr>
          <p:cNvPr id="29" name="slide-no">
            <a:extLst>
              <a:ext uri="{FF2B5EF4-FFF2-40B4-BE49-F238E27FC236}">
                <a16:creationId xmlns:a16="http://schemas.microsoft.com/office/drawing/2014/main" id="{90CCDE21-5669-4921-B259-B9AE038A74B1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280899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FACC2-EC84-4229-BD7A-F33FD8DB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Один день в редакции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91D38-F8AB-486C-9B64-EE6FF6FE9F43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ГЕЙМПЛЕЙ</a:t>
            </a:r>
          </a:p>
        </p:txBody>
      </p:sp>
      <p:pic>
        <p:nvPicPr>
          <p:cNvPr id="5" name="Рисунок 4" descr="СТОЛ">
            <a:extLst>
              <a:ext uri="{FF2B5EF4-FFF2-40B4-BE49-F238E27FC236}">
                <a16:creationId xmlns:a16="http://schemas.microsoft.com/office/drawing/2014/main" id="{89A00941-36FE-43D4-807F-2309D24BF4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46200"/>
            <a:ext cx="2032000" cy="1143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EC20F3-B664-4F74-9319-74E27822DF02}"/>
              </a:ext>
            </a:extLst>
          </p:cNvPr>
          <p:cNvSpPr txBox="1"/>
          <p:nvPr/>
        </p:nvSpPr>
        <p:spPr>
          <a:xfrm>
            <a:off x="609600" y="2692400"/>
            <a:ext cx="76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400" b="1">
                <a:solidFill>
                  <a:srgbClr val="E2B64C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954B2-D2F8-40DF-AFAF-EDE3938052E2}"/>
              </a:ext>
            </a:extLst>
          </p:cNvPr>
          <p:cNvSpPr txBox="1"/>
          <p:nvPr/>
        </p:nvSpPr>
        <p:spPr>
          <a:xfrm>
            <a:off x="609600" y="3149600"/>
            <a:ext cx="203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F2ECE0"/>
                </a:solidFill>
                <a:latin typeface="Courier New" panose="02070309020205020404" pitchFamily="49" charset="0"/>
              </a:rPr>
              <a:t>СТОЛ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F5D88-043F-4E8F-A807-57138AFE678F}"/>
              </a:ext>
            </a:extLst>
          </p:cNvPr>
          <p:cNvSpPr txBox="1"/>
          <p:nvPr/>
        </p:nvSpPr>
        <p:spPr>
          <a:xfrm>
            <a:off x="609600" y="3454400"/>
            <a:ext cx="19812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6EFD9"/>
                </a:solidFill>
                <a:latin typeface="Georgia" panose="02040502050405020303" pitchFamily="18" charset="0"/>
              </a:rPr>
              <a:t>Газеты и таймер. Дедлайн идёт, музыка к концу ускоряется.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15B3D-5096-4BC6-B718-23937FBE7909}"/>
              </a:ext>
            </a:extLst>
          </p:cNvPr>
          <p:cNvSpPr txBox="1"/>
          <p:nvPr/>
        </p:nvSpPr>
        <p:spPr>
          <a:xfrm>
            <a:off x="2667000" y="18034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1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pic>
        <p:nvPicPr>
          <p:cNvPr id="11" name="Рисунок 10" descr="ЗВОНКИ">
            <a:extLst>
              <a:ext uri="{FF2B5EF4-FFF2-40B4-BE49-F238E27FC236}">
                <a16:creationId xmlns:a16="http://schemas.microsoft.com/office/drawing/2014/main" id="{2FFDFE99-9299-47F0-91F9-8048DB34E01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00" y="1346200"/>
            <a:ext cx="2032000" cy="1143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A0A4F1-5AC7-4CDA-A7B7-DC863B3F64AF}"/>
              </a:ext>
            </a:extLst>
          </p:cNvPr>
          <p:cNvSpPr txBox="1"/>
          <p:nvPr/>
        </p:nvSpPr>
        <p:spPr>
          <a:xfrm>
            <a:off x="2844800" y="2692400"/>
            <a:ext cx="76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400" b="1">
                <a:solidFill>
                  <a:srgbClr val="E2B64C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F1186D-B602-48FA-A102-B41269DFA18B}"/>
              </a:ext>
            </a:extLst>
          </p:cNvPr>
          <p:cNvSpPr txBox="1"/>
          <p:nvPr/>
        </p:nvSpPr>
        <p:spPr>
          <a:xfrm>
            <a:off x="2844800" y="3149600"/>
            <a:ext cx="203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F2ECE0"/>
                </a:solidFill>
                <a:latin typeface="Courier New" panose="02070309020205020404" pitchFamily="49" charset="0"/>
              </a:rPr>
              <a:t>ЗВОНКИ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4F70E8-1559-47E1-BE7C-88FD0A7E382F}"/>
              </a:ext>
            </a:extLst>
          </p:cNvPr>
          <p:cNvSpPr txBox="1"/>
          <p:nvPr/>
        </p:nvSpPr>
        <p:spPr>
          <a:xfrm>
            <a:off x="2844800" y="3454400"/>
            <a:ext cx="19812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6EFD9"/>
                </a:solidFill>
                <a:latin typeface="Georgia" panose="02040502050405020303" pitchFamily="18" charset="0"/>
              </a:rPr>
              <a:t>Босс, коллеги, незнакомцы. Можно сбросить вызов.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823D66-7284-4B84-8186-C688BA5FF25C}"/>
              </a:ext>
            </a:extLst>
          </p:cNvPr>
          <p:cNvSpPr txBox="1"/>
          <p:nvPr/>
        </p:nvSpPr>
        <p:spPr>
          <a:xfrm>
            <a:off x="4902200" y="18034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1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pic>
        <p:nvPicPr>
          <p:cNvPr id="17" name="Рисунок 16" descr="СТРАНИЦА">
            <a:extLst>
              <a:ext uri="{FF2B5EF4-FFF2-40B4-BE49-F238E27FC236}">
                <a16:creationId xmlns:a16="http://schemas.microsoft.com/office/drawing/2014/main" id="{79B0AE20-9842-4AA4-9F13-FBBC46BBDFB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1346200"/>
            <a:ext cx="2032000" cy="1143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4500F8-7E96-42E4-8220-E0FC92B7BC4E}"/>
              </a:ext>
            </a:extLst>
          </p:cNvPr>
          <p:cNvSpPr txBox="1"/>
          <p:nvPr/>
        </p:nvSpPr>
        <p:spPr>
          <a:xfrm>
            <a:off x="5080000" y="2692400"/>
            <a:ext cx="76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400" b="1">
                <a:solidFill>
                  <a:srgbClr val="E2B64C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9C9852-3535-4EA0-9889-EB8CA44B7147}"/>
              </a:ext>
            </a:extLst>
          </p:cNvPr>
          <p:cNvSpPr txBox="1"/>
          <p:nvPr/>
        </p:nvSpPr>
        <p:spPr>
          <a:xfrm>
            <a:off x="5080000" y="3149600"/>
            <a:ext cx="203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F2ECE0"/>
                </a:solidFill>
                <a:latin typeface="Courier New" panose="02070309020205020404" pitchFamily="49" charset="0"/>
              </a:rPr>
              <a:t>СТРАНИЦА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50CA54-4753-41A2-AA95-19E608815303}"/>
              </a:ext>
            </a:extLst>
          </p:cNvPr>
          <p:cNvSpPr txBox="1"/>
          <p:nvPr/>
        </p:nvSpPr>
        <p:spPr>
          <a:xfrm>
            <a:off x="5080000" y="3454400"/>
            <a:ext cx="19812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6EFD9"/>
                </a:solidFill>
                <a:latin typeface="Georgia" panose="02040502050405020303" pitchFamily="18" charset="0"/>
              </a:rPr>
              <a:t>Четыре слота и заголовок: что опубликуем.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CE7DFE-E3C5-4090-A8DD-D8424975830F}"/>
              </a:ext>
            </a:extLst>
          </p:cNvPr>
          <p:cNvSpPr txBox="1"/>
          <p:nvPr/>
        </p:nvSpPr>
        <p:spPr>
          <a:xfrm>
            <a:off x="7137400" y="18034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1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pic>
        <p:nvPicPr>
          <p:cNvPr id="23" name="Рисунок 22" descr="ПЛАНЁРКА">
            <a:extLst>
              <a:ext uri="{FF2B5EF4-FFF2-40B4-BE49-F238E27FC236}">
                <a16:creationId xmlns:a16="http://schemas.microsoft.com/office/drawing/2014/main" id="{369C496E-7738-4171-A613-622FF8F554B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346200"/>
            <a:ext cx="2032000" cy="1143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4F23AC-9288-4456-8365-7BD54DE80A2D}"/>
              </a:ext>
            </a:extLst>
          </p:cNvPr>
          <p:cNvSpPr txBox="1"/>
          <p:nvPr/>
        </p:nvSpPr>
        <p:spPr>
          <a:xfrm>
            <a:off x="7315200" y="2692400"/>
            <a:ext cx="76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400" b="1">
                <a:solidFill>
                  <a:srgbClr val="E2B64C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C23C75-F9E1-4D01-9B84-65C97818D210}"/>
              </a:ext>
            </a:extLst>
          </p:cNvPr>
          <p:cNvSpPr txBox="1"/>
          <p:nvPr/>
        </p:nvSpPr>
        <p:spPr>
          <a:xfrm>
            <a:off x="7315200" y="3149600"/>
            <a:ext cx="203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F2ECE0"/>
                </a:solidFill>
                <a:latin typeface="Courier New" panose="02070309020205020404" pitchFamily="49" charset="0"/>
              </a:rPr>
              <a:t>ПЛАНЁРКА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9CAACD-B77A-4726-8B28-F42594EF50E2}"/>
              </a:ext>
            </a:extLst>
          </p:cNvPr>
          <p:cNvSpPr txBox="1"/>
          <p:nvPr/>
        </p:nvSpPr>
        <p:spPr>
          <a:xfrm>
            <a:off x="7315200" y="3454400"/>
            <a:ext cx="19812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6EFD9"/>
                </a:solidFill>
                <a:latin typeface="Georgia" panose="02040502050405020303" pitchFamily="18" charset="0"/>
              </a:rPr>
              <a:t>Оценка и разбор каждой новости: правда ли и откуда известно.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61AD82-68EB-4D80-A5A6-900E0554E144}"/>
              </a:ext>
            </a:extLst>
          </p:cNvPr>
          <p:cNvSpPr txBox="1"/>
          <p:nvPr/>
        </p:nvSpPr>
        <p:spPr>
          <a:xfrm>
            <a:off x="9372600" y="18034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1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pic>
        <p:nvPicPr>
          <p:cNvPr id="29" name="Рисунок 28" descr="ИНТЕРВЬЮ">
            <a:extLst>
              <a:ext uri="{FF2B5EF4-FFF2-40B4-BE49-F238E27FC236}">
                <a16:creationId xmlns:a16="http://schemas.microsoft.com/office/drawing/2014/main" id="{490744FC-A698-4E28-8F0B-BEE3850AC98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0" y="1346200"/>
            <a:ext cx="2032000" cy="11430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2952D6A-F533-431E-A8CF-555F8BE20225}"/>
              </a:ext>
            </a:extLst>
          </p:cNvPr>
          <p:cNvSpPr txBox="1"/>
          <p:nvPr/>
        </p:nvSpPr>
        <p:spPr>
          <a:xfrm>
            <a:off x="9550400" y="2692400"/>
            <a:ext cx="76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400" b="1">
                <a:solidFill>
                  <a:srgbClr val="E2B64C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743498-7DE0-43E9-A0F1-45DEABE4497F}"/>
              </a:ext>
            </a:extLst>
          </p:cNvPr>
          <p:cNvSpPr txBox="1"/>
          <p:nvPr/>
        </p:nvSpPr>
        <p:spPr>
          <a:xfrm>
            <a:off x="9550400" y="3149600"/>
            <a:ext cx="203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F2ECE0"/>
                </a:solidFill>
                <a:latin typeface="Courier New" panose="02070309020205020404" pitchFamily="49" charset="0"/>
              </a:rPr>
              <a:t>ИНТЕРВЬЮ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57F809-428A-4846-BAFA-F9BFE1C1C8EC}"/>
              </a:ext>
            </a:extLst>
          </p:cNvPr>
          <p:cNvSpPr txBox="1"/>
          <p:nvPr/>
        </p:nvSpPr>
        <p:spPr>
          <a:xfrm>
            <a:off x="9550400" y="3454400"/>
            <a:ext cx="19812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6EFD9"/>
                </a:solidFill>
                <a:latin typeface="Georgia" panose="02040502050405020303" pitchFamily="18" charset="0"/>
              </a:rPr>
              <a:t>Награда за идеальный день: бонус на следующий.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BFE056-ABA3-45E3-9CE2-A2B7467D100C}"/>
              </a:ext>
            </a:extLst>
          </p:cNvPr>
          <p:cNvSpPr txBox="1"/>
          <p:nvPr/>
        </p:nvSpPr>
        <p:spPr>
          <a:xfrm>
            <a:off x="609600" y="49784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>
                <a:solidFill>
                  <a:srgbClr val="CFC29C"/>
                </a:solidFill>
                <a:latin typeface="Georgia" panose="02040502050405020303" pitchFamily="18" charset="0"/>
              </a:rPr>
              <a:t>Перед днём: карточка с сюжетом, подсказка босса про тему и, с некоторым шансом, «утренняя весть» от друга или библиотекаря.</a:t>
            </a:r>
          </a:p>
        </p:txBody>
      </p:sp>
      <p:sp>
        <p:nvSpPr>
          <p:cNvPr id="34" name="slide-no">
            <a:extLst>
              <a:ext uri="{FF2B5EF4-FFF2-40B4-BE49-F238E27FC236}">
                <a16:creationId xmlns:a16="http://schemas.microsoft.com/office/drawing/2014/main" id="{3546DA7C-5834-49F8-A6E8-41119D16D02E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24390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B3D06-3CCB-4B86-9CF3-82EB41E6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Читаем газеты, снимаем трубку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2583C-D393-49C6-B540-E299C25C3342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МЕХАНИКА 1</a:t>
            </a:r>
          </a:p>
        </p:txBody>
      </p:sp>
      <p:pic>
        <p:nvPicPr>
          <p:cNvPr id="5" name="Рисунок 4" descr="Газета на столе: инфоповоды подсвечены">
            <a:extLst>
              <a:ext uri="{FF2B5EF4-FFF2-40B4-BE49-F238E27FC236}">
                <a16:creationId xmlns:a16="http://schemas.microsoft.com/office/drawing/2014/main" id="{D2CB376E-D2E0-478D-B75E-523427B772D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20800"/>
            <a:ext cx="5207000" cy="29337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pic>
        <p:nvPicPr>
          <p:cNvPr id="7" name="Рисунок 6" descr="Звонит телефон: табло звонящего и кнопка сброса">
            <a:extLst>
              <a:ext uri="{FF2B5EF4-FFF2-40B4-BE49-F238E27FC236}">
                <a16:creationId xmlns:a16="http://schemas.microsoft.com/office/drawing/2014/main" id="{1FC4891D-1949-4F92-933C-2C8CDED5BD7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1320800"/>
            <a:ext cx="5207000" cy="29337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CE2FD1-05C3-4569-927B-E812BBC51CFD}"/>
              </a:ext>
            </a:extLst>
          </p:cNvPr>
          <p:cNvSpPr txBox="1"/>
          <p:nvPr/>
        </p:nvSpPr>
        <p:spPr>
          <a:xfrm>
            <a:off x="609600" y="45466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ГАЗЕТА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8D83C-A692-48DB-8F5D-7B65A06F45BC}"/>
              </a:ext>
            </a:extLst>
          </p:cNvPr>
          <p:cNvSpPr txBox="1"/>
          <p:nvPr/>
        </p:nvSpPr>
        <p:spPr>
          <a:xfrm>
            <a:off x="609600" y="4876800"/>
            <a:ext cx="5207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Наводим на жирную строку и нажимаем: инфоповод уходит в «руку», а в газете строка лишь подсвечивается. Прочитанное тащим в стопку, она выдвигается веером.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719927-54B3-43B7-A4F7-4B590EEF5821}"/>
              </a:ext>
            </a:extLst>
          </p:cNvPr>
          <p:cNvSpPr txBox="1"/>
          <p:nvPr/>
        </p:nvSpPr>
        <p:spPr>
          <a:xfrm>
            <a:off x="6375400" y="45466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ТЕЛЕФОН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5F6210-1516-419B-9FBA-49CA7764120E}"/>
              </a:ext>
            </a:extLst>
          </p:cNvPr>
          <p:cNvSpPr txBox="1"/>
          <p:nvPr/>
        </p:nvSpPr>
        <p:spPr>
          <a:xfrm>
            <a:off x="6375400" y="4876800"/>
            <a:ext cx="5207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Звонит босс, коллега или незнакомый номер. Диалог в духе Undertale: у каждого свой «голос». Звонок можно пропустить или сбросить.</a:t>
            </a:r>
          </a:p>
        </p:txBody>
      </p:sp>
      <p:sp>
        <p:nvSpPr>
          <p:cNvPr id="12" name="slide-no">
            <a:extLst>
              <a:ext uri="{FF2B5EF4-FFF2-40B4-BE49-F238E27FC236}">
                <a16:creationId xmlns:a16="http://schemas.microsoft.com/office/drawing/2014/main" id="{6A168315-B2DA-4FBB-82B1-402C02B90044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619358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108CC-DA39-4A2C-9B03-DE2571F8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Проверка, а не угадывание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AFBEF-81E5-4AAB-AC07-B5AE5D979CAE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МЕХАНИКА 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07445B-CBA7-41F2-AFA2-0896A38DBA3C}"/>
              </a:ext>
            </a:extLst>
          </p:cNvPr>
          <p:cNvSpPr/>
          <p:nvPr/>
        </p:nvSpPr>
        <p:spPr>
          <a:xfrm>
            <a:off x="609600" y="1270000"/>
            <a:ext cx="5562600" cy="43434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F442A-871D-4FF9-8433-66046EFDD73A}"/>
              </a:ext>
            </a:extLst>
          </p:cNvPr>
          <p:cNvSpPr txBox="1"/>
          <p:nvPr/>
        </p:nvSpPr>
        <p:spPr>
          <a:xfrm>
            <a:off x="838200" y="1422400"/>
            <a:ext cx="279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Босс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B4F66-5D3A-47F9-B5E2-DFACDA592301}"/>
              </a:ext>
            </a:extLst>
          </p:cNvPr>
          <p:cNvSpPr txBox="1"/>
          <p:nvPr/>
        </p:nvSpPr>
        <p:spPr>
          <a:xfrm>
            <a:off x="838200" y="16637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i="1">
                <a:solidFill>
                  <a:srgbClr val="7A6A52"/>
                </a:solidFill>
                <a:latin typeface="Georgia" panose="02040502050405020303" pitchFamily="18" charset="0"/>
              </a:rPr>
              <a:t>всегда говорит правду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669EE99-F075-41C0-A548-B9EBD03CD21C}"/>
              </a:ext>
            </a:extLst>
          </p:cNvPr>
          <p:cNvSpPr/>
          <p:nvPr/>
        </p:nvSpPr>
        <p:spPr>
          <a:xfrm>
            <a:off x="4191000" y="15240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9B3F9C3-2F2E-44F0-A25B-258058000F39}"/>
              </a:ext>
            </a:extLst>
          </p:cNvPr>
          <p:cNvSpPr/>
          <p:nvPr/>
        </p:nvSpPr>
        <p:spPr>
          <a:xfrm>
            <a:off x="4546600" y="15240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DDD4F2-B732-4B71-8C67-66E279858014}"/>
              </a:ext>
            </a:extLst>
          </p:cNvPr>
          <p:cNvSpPr/>
          <p:nvPr/>
        </p:nvSpPr>
        <p:spPr>
          <a:xfrm>
            <a:off x="4902200" y="15240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8D09C6-E33A-4E7D-9B10-635E8477C342}"/>
              </a:ext>
            </a:extLst>
          </p:cNvPr>
          <p:cNvSpPr/>
          <p:nvPr/>
        </p:nvSpPr>
        <p:spPr>
          <a:xfrm>
            <a:off x="5257800" y="15240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C9569-13F7-41F5-93B7-659E77EDAE95}"/>
              </a:ext>
            </a:extLst>
          </p:cNvPr>
          <p:cNvSpPr txBox="1"/>
          <p:nvPr/>
        </p:nvSpPr>
        <p:spPr>
          <a:xfrm>
            <a:off x="838200" y="2006600"/>
            <a:ext cx="279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Библиотекарь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908FE-76EA-4861-B2F1-9C03ABCADE7B}"/>
              </a:ext>
            </a:extLst>
          </p:cNvPr>
          <p:cNvSpPr txBox="1"/>
          <p:nvPr/>
        </p:nvSpPr>
        <p:spPr>
          <a:xfrm>
            <a:off x="838200" y="22479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i="1">
                <a:solidFill>
                  <a:srgbClr val="7A6A52"/>
                </a:solidFill>
                <a:latin typeface="Georgia" panose="02040502050405020303" pitchFamily="18" charset="0"/>
              </a:rPr>
              <a:t>справки проверены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C1DFC7C-E699-471A-9AEF-4D81344EC69B}"/>
              </a:ext>
            </a:extLst>
          </p:cNvPr>
          <p:cNvSpPr/>
          <p:nvPr/>
        </p:nvSpPr>
        <p:spPr>
          <a:xfrm>
            <a:off x="4191000" y="21082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827E46E-B78F-44FC-98F0-D5C291A37BF9}"/>
              </a:ext>
            </a:extLst>
          </p:cNvPr>
          <p:cNvSpPr/>
          <p:nvPr/>
        </p:nvSpPr>
        <p:spPr>
          <a:xfrm>
            <a:off x="4546600" y="21082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C00FDD5-1A2C-4D52-B80A-F6D8302A3677}"/>
              </a:ext>
            </a:extLst>
          </p:cNvPr>
          <p:cNvSpPr/>
          <p:nvPr/>
        </p:nvSpPr>
        <p:spPr>
          <a:xfrm>
            <a:off x="4902200" y="21082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E984E06-7103-46DD-93B0-DD502DE1FA2E}"/>
              </a:ext>
            </a:extLst>
          </p:cNvPr>
          <p:cNvSpPr/>
          <p:nvPr/>
        </p:nvSpPr>
        <p:spPr>
          <a:xfrm>
            <a:off x="5257800" y="21082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7C22F-E83C-4859-A188-0F6AA77CF4FF}"/>
              </a:ext>
            </a:extLst>
          </p:cNvPr>
          <p:cNvSpPr txBox="1"/>
          <p:nvPr/>
        </p:nvSpPr>
        <p:spPr>
          <a:xfrm>
            <a:off x="838200" y="2590800"/>
            <a:ext cx="279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Серьёзная газета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6E62-466A-4021-B9D5-4E98AF741176}"/>
              </a:ext>
            </a:extLst>
          </p:cNvPr>
          <p:cNvSpPr txBox="1"/>
          <p:nvPr/>
        </p:nvSpPr>
        <p:spPr>
          <a:xfrm>
            <a:off x="838200" y="28321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i="1">
                <a:solidFill>
                  <a:srgbClr val="7A6A52"/>
                </a:solidFill>
                <a:latin typeface="Georgia" panose="02040502050405020303" pitchFamily="18" charset="0"/>
              </a:rPr>
              <a:t>«Справка редакции»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3AA860F-30A2-4888-92E4-3457397F6C0F}"/>
              </a:ext>
            </a:extLst>
          </p:cNvPr>
          <p:cNvSpPr/>
          <p:nvPr/>
        </p:nvSpPr>
        <p:spPr>
          <a:xfrm>
            <a:off x="4191000" y="26924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58480F9-B549-4BBD-B852-562E03584189}"/>
              </a:ext>
            </a:extLst>
          </p:cNvPr>
          <p:cNvSpPr/>
          <p:nvPr/>
        </p:nvSpPr>
        <p:spPr>
          <a:xfrm>
            <a:off x="4546600" y="26924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BE64D79-C6AA-4DC3-AF0C-7CB31A5F0C11}"/>
              </a:ext>
            </a:extLst>
          </p:cNvPr>
          <p:cNvSpPr/>
          <p:nvPr/>
        </p:nvSpPr>
        <p:spPr>
          <a:xfrm>
            <a:off x="4902200" y="2692400"/>
            <a:ext cx="279400" cy="165100"/>
          </a:xfrm>
          <a:prstGeom prst="rect">
            <a:avLst/>
          </a:prstGeom>
          <a:solidFill>
            <a:srgbClr val="4D7A47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D46C32D-4052-4500-93E2-BC0B2CD3D280}"/>
              </a:ext>
            </a:extLst>
          </p:cNvPr>
          <p:cNvSpPr/>
          <p:nvPr/>
        </p:nvSpPr>
        <p:spPr>
          <a:xfrm>
            <a:off x="5257800" y="26924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811F5F-260D-44C3-81C0-D027A5F2953C}"/>
              </a:ext>
            </a:extLst>
          </p:cNvPr>
          <p:cNvSpPr txBox="1"/>
          <p:nvPr/>
        </p:nvSpPr>
        <p:spPr>
          <a:xfrm>
            <a:off x="838200" y="3175000"/>
            <a:ext cx="279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Борис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70F2A9-558C-4D40-A8D1-50703F5E9A7E}"/>
              </a:ext>
            </a:extLst>
          </p:cNvPr>
          <p:cNvSpPr txBox="1"/>
          <p:nvPr/>
        </p:nvSpPr>
        <p:spPr>
          <a:xfrm>
            <a:off x="838200" y="34163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i="1">
                <a:solidFill>
                  <a:srgbClr val="7A6A52"/>
                </a:solidFill>
                <a:latin typeface="Georgia" panose="02040502050405020303" pitchFamily="18" charset="0"/>
              </a:rPr>
              <a:t>иногда путает цифры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EA9FD3-3471-4333-B340-195CB5ECCD7A}"/>
              </a:ext>
            </a:extLst>
          </p:cNvPr>
          <p:cNvSpPr/>
          <p:nvPr/>
        </p:nvSpPr>
        <p:spPr>
          <a:xfrm>
            <a:off x="4191000" y="3276600"/>
            <a:ext cx="279400" cy="165100"/>
          </a:xfrm>
          <a:prstGeom prst="rect">
            <a:avLst/>
          </a:prstGeom>
          <a:solidFill>
            <a:srgbClr val="E2B64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1F43673-FD45-4AEE-82F7-93197C75D4FD}"/>
              </a:ext>
            </a:extLst>
          </p:cNvPr>
          <p:cNvSpPr/>
          <p:nvPr/>
        </p:nvSpPr>
        <p:spPr>
          <a:xfrm>
            <a:off x="4546600" y="3276600"/>
            <a:ext cx="279400" cy="165100"/>
          </a:xfrm>
          <a:prstGeom prst="rect">
            <a:avLst/>
          </a:prstGeom>
          <a:solidFill>
            <a:srgbClr val="E2B64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D8581C5-37D7-46D9-BF36-04638D278985}"/>
              </a:ext>
            </a:extLst>
          </p:cNvPr>
          <p:cNvSpPr/>
          <p:nvPr/>
        </p:nvSpPr>
        <p:spPr>
          <a:xfrm>
            <a:off x="4902200" y="32766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DE79AD0-F902-4B79-A247-D533B4A6EC83}"/>
              </a:ext>
            </a:extLst>
          </p:cNvPr>
          <p:cNvSpPr/>
          <p:nvPr/>
        </p:nvSpPr>
        <p:spPr>
          <a:xfrm>
            <a:off x="5257800" y="32766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F521A9-73F1-4AB8-B8C0-A01FD1C917A1}"/>
              </a:ext>
            </a:extLst>
          </p:cNvPr>
          <p:cNvSpPr txBox="1"/>
          <p:nvPr/>
        </p:nvSpPr>
        <p:spPr>
          <a:xfrm>
            <a:off x="838200" y="3759200"/>
            <a:ext cx="279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Лена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C48B82-8A30-4FEF-A406-D067CDA9952D}"/>
              </a:ext>
            </a:extLst>
          </p:cNvPr>
          <p:cNvSpPr txBox="1"/>
          <p:nvPr/>
        </p:nvSpPr>
        <p:spPr>
          <a:xfrm>
            <a:off x="838200" y="40005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i="1">
                <a:solidFill>
                  <a:srgbClr val="7A6A52"/>
                </a:solidFill>
                <a:latin typeface="Georgia" panose="02040502050405020303" pitchFamily="18" charset="0"/>
              </a:rPr>
              <a:t>любит преувеличивать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7ADE4FF-B1BE-411E-AE1C-06AF4D1AECA0}"/>
              </a:ext>
            </a:extLst>
          </p:cNvPr>
          <p:cNvSpPr/>
          <p:nvPr/>
        </p:nvSpPr>
        <p:spPr>
          <a:xfrm>
            <a:off x="4191000" y="3860800"/>
            <a:ext cx="279400" cy="165100"/>
          </a:xfrm>
          <a:prstGeom prst="rect">
            <a:avLst/>
          </a:prstGeom>
          <a:solidFill>
            <a:srgbClr val="E2B64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06348E5-3F42-436E-8741-6299695287B3}"/>
              </a:ext>
            </a:extLst>
          </p:cNvPr>
          <p:cNvSpPr/>
          <p:nvPr/>
        </p:nvSpPr>
        <p:spPr>
          <a:xfrm>
            <a:off x="4546600" y="3860800"/>
            <a:ext cx="279400" cy="165100"/>
          </a:xfrm>
          <a:prstGeom prst="rect">
            <a:avLst/>
          </a:prstGeom>
          <a:solidFill>
            <a:srgbClr val="E2B64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F82F56C-1A26-484F-A799-F2C8580F4EFE}"/>
              </a:ext>
            </a:extLst>
          </p:cNvPr>
          <p:cNvSpPr/>
          <p:nvPr/>
        </p:nvSpPr>
        <p:spPr>
          <a:xfrm>
            <a:off x="4902200" y="38608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5225ED9-BA83-4092-9C81-D14DC5AE6124}"/>
              </a:ext>
            </a:extLst>
          </p:cNvPr>
          <p:cNvSpPr/>
          <p:nvPr/>
        </p:nvSpPr>
        <p:spPr>
          <a:xfrm>
            <a:off x="5257800" y="38608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6E257B-9F2F-47FF-9E3A-15901CFC012C}"/>
              </a:ext>
            </a:extLst>
          </p:cNvPr>
          <p:cNvSpPr txBox="1"/>
          <p:nvPr/>
        </p:nvSpPr>
        <p:spPr>
          <a:xfrm>
            <a:off x="838200" y="4343400"/>
            <a:ext cx="279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Жёлтая газета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1ACBBD-B0AE-4FBE-B742-61BF261444B2}"/>
              </a:ext>
            </a:extLst>
          </p:cNvPr>
          <p:cNvSpPr txBox="1"/>
          <p:nvPr/>
        </p:nvSpPr>
        <p:spPr>
          <a:xfrm>
            <a:off x="838200" y="45847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i="1">
                <a:solidFill>
                  <a:srgbClr val="7A6A52"/>
                </a:solidFill>
                <a:latin typeface="Georgia" panose="02040502050405020303" pitchFamily="18" charset="0"/>
              </a:rPr>
              <a:t>громко, но не всегда верно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50CE522-6401-46EE-B55D-1861C5B0127D}"/>
              </a:ext>
            </a:extLst>
          </p:cNvPr>
          <p:cNvSpPr/>
          <p:nvPr/>
        </p:nvSpPr>
        <p:spPr>
          <a:xfrm>
            <a:off x="4191000" y="4445000"/>
            <a:ext cx="279400" cy="165100"/>
          </a:xfrm>
          <a:prstGeom prst="rect">
            <a:avLst/>
          </a:prstGeom>
          <a:solidFill>
            <a:srgbClr val="B8392D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25FE8E28-EB3A-44EF-8402-D781DE65F12F}"/>
              </a:ext>
            </a:extLst>
          </p:cNvPr>
          <p:cNvSpPr/>
          <p:nvPr/>
        </p:nvSpPr>
        <p:spPr>
          <a:xfrm>
            <a:off x="4546600" y="44450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01985B9B-F243-4068-A68A-27F7CB9E2040}"/>
              </a:ext>
            </a:extLst>
          </p:cNvPr>
          <p:cNvSpPr/>
          <p:nvPr/>
        </p:nvSpPr>
        <p:spPr>
          <a:xfrm>
            <a:off x="4902200" y="44450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1DE362B-9879-4F2E-B725-A4F1884E2FEA}"/>
              </a:ext>
            </a:extLst>
          </p:cNvPr>
          <p:cNvSpPr/>
          <p:nvPr/>
        </p:nvSpPr>
        <p:spPr>
          <a:xfrm>
            <a:off x="5257800" y="44450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FFD818-08D8-4E3E-BEFC-CBFD0117A56D}"/>
              </a:ext>
            </a:extLst>
          </p:cNvPr>
          <p:cNvSpPr txBox="1"/>
          <p:nvPr/>
        </p:nvSpPr>
        <p:spPr>
          <a:xfrm>
            <a:off x="838200" y="4927600"/>
            <a:ext cx="2794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Незнакомый номер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266C8-34EB-45D3-8402-D883A2C86AB9}"/>
              </a:ext>
            </a:extLst>
          </p:cNvPr>
          <p:cNvSpPr txBox="1"/>
          <p:nvPr/>
        </p:nvSpPr>
        <p:spPr>
          <a:xfrm>
            <a:off x="838200" y="5168900"/>
            <a:ext cx="2921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i="1">
                <a:solidFill>
                  <a:srgbClr val="7A6A52"/>
                </a:solidFill>
                <a:latin typeface="Georgia" panose="02040502050405020303" pitchFamily="18" charset="0"/>
              </a:rPr>
              <a:t>конкурент или честный гражданин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301229D-C0A3-4DCC-99B5-7C0F1BE39A79}"/>
              </a:ext>
            </a:extLst>
          </p:cNvPr>
          <p:cNvSpPr/>
          <p:nvPr/>
        </p:nvSpPr>
        <p:spPr>
          <a:xfrm>
            <a:off x="4191000" y="50292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E20B5813-EBA7-489C-91C3-7BF41DF39397}"/>
              </a:ext>
            </a:extLst>
          </p:cNvPr>
          <p:cNvSpPr/>
          <p:nvPr/>
        </p:nvSpPr>
        <p:spPr>
          <a:xfrm>
            <a:off x="4546600" y="50292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3C10BD8-912C-4F76-8441-CBA7B8D0D941}"/>
              </a:ext>
            </a:extLst>
          </p:cNvPr>
          <p:cNvSpPr/>
          <p:nvPr/>
        </p:nvSpPr>
        <p:spPr>
          <a:xfrm>
            <a:off x="4902200" y="50292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CA86F81-AE1A-44AD-986D-BC6525A3D8F0}"/>
              </a:ext>
            </a:extLst>
          </p:cNvPr>
          <p:cNvSpPr/>
          <p:nvPr/>
        </p:nvSpPr>
        <p:spPr>
          <a:xfrm>
            <a:off x="5257800" y="5029200"/>
            <a:ext cx="279400" cy="165100"/>
          </a:xfrm>
          <a:prstGeom prst="rect">
            <a:avLst/>
          </a:prstGeom>
          <a:solidFill>
            <a:srgbClr val="BDB08C"/>
          </a:solidFill>
          <a:ln w="15875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372F03-B815-4C96-B5DE-2A5E9C0E1703}"/>
              </a:ext>
            </a:extLst>
          </p:cNvPr>
          <p:cNvSpPr txBox="1"/>
          <p:nvPr/>
        </p:nvSpPr>
        <p:spPr>
          <a:xfrm>
            <a:off x="5664200" y="5003800"/>
            <a:ext cx="254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7A6A52"/>
                </a:solidFill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B9366E-532D-4D01-B78D-DE9EB561B6FE}"/>
              </a:ext>
            </a:extLst>
          </p:cNvPr>
          <p:cNvSpPr txBox="1"/>
          <p:nvPr/>
        </p:nvSpPr>
        <p:spPr>
          <a:xfrm>
            <a:off x="6553200" y="1270000"/>
            <a:ext cx="5029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>
                <a:solidFill>
                  <a:srgbClr val="F2ECE0"/>
                </a:solidFill>
                <a:latin typeface="Georgia" panose="02040502050405020303" pitchFamily="18" charset="0"/>
              </a:rPr>
              <a:t>Игра не говорит, что правда. Подсказки спрятаны в газетах, звонках и утренних вестях, а </a:t>
            </a:r>
            <a:r>
              <a:rPr lang="ru-RU" sz="1700">
                <a:solidFill>
                  <a:srgbClr val="E2B64C"/>
                </a:solidFill>
                <a:latin typeface="Georgia" panose="02040502050405020303" pitchFamily="18" charset="0"/>
              </a:rPr>
              <a:t>надёжность канала решает всё</a:t>
            </a:r>
            <a:r>
              <a:rPr lang="ru-RU" sz="1700">
                <a:solidFill>
                  <a:srgbClr val="F2ECE0"/>
                </a:solidFill>
                <a:latin typeface="Georgia" panose="02040502050405020303" pitchFamily="18" charset="0"/>
              </a:rPr>
              <a:t>.</a:t>
            </a:r>
          </a:p>
        </p:txBody>
      </p:sp>
      <p:pic>
        <p:nvPicPr>
          <p:cNvPr id="50" name="Рисунок 49" descr="Карточки в руке, одна раскрыта">
            <a:extLst>
              <a:ext uri="{FF2B5EF4-FFF2-40B4-BE49-F238E27FC236}">
                <a16:creationId xmlns:a16="http://schemas.microsoft.com/office/drawing/2014/main" id="{4FAC6066-80E0-4C19-8662-C6E917B2F2F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336800"/>
            <a:ext cx="5029200" cy="28321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D522E24-AA91-4CB0-B42C-408FDA490DF9}"/>
              </a:ext>
            </a:extLst>
          </p:cNvPr>
          <p:cNvSpPr txBox="1"/>
          <p:nvPr/>
        </p:nvSpPr>
        <p:spPr>
          <a:xfrm>
            <a:off x="6553200" y="5308600"/>
            <a:ext cx="5029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CFC29C"/>
                </a:solidFill>
                <a:latin typeface="Courier New" panose="02070309020205020404" pitchFamily="49" charset="0"/>
              </a:rPr>
              <a:t>СВОЙ ВЕРДИКТ: «?» → «ДА» → «НЕТ». ПОМЕТКА ДЛЯ СЕБЯ, НА СЧЁТ НЕ ВЛИЯЕТ</a:t>
            </a:r>
          </a:p>
        </p:txBody>
      </p:sp>
      <p:sp>
        <p:nvSpPr>
          <p:cNvPr id="52" name="slide-no">
            <a:extLst>
              <a:ext uri="{FF2B5EF4-FFF2-40B4-BE49-F238E27FC236}">
                <a16:creationId xmlns:a16="http://schemas.microsoft.com/office/drawing/2014/main" id="{529EC3C5-B923-4EB4-B6DA-75F497D41E66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65357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83BEA-7C9B-48AC-8B61-AD864F70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Собираем страницу — получаем оценку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299E8-ECD6-4348-9385-B4E7977335A6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МЕХАНИКА 3</a:t>
            </a:r>
          </a:p>
        </p:txBody>
      </p:sp>
      <p:pic>
        <p:nvPicPr>
          <p:cNvPr id="5" name="Рисунок 4" descr="Страница статьи: слоты, заголовок и инфоповоды в руке">
            <a:extLst>
              <a:ext uri="{FF2B5EF4-FFF2-40B4-BE49-F238E27FC236}">
                <a16:creationId xmlns:a16="http://schemas.microsoft.com/office/drawing/2014/main" id="{76C0B8F3-159B-4D25-8AB7-6C64CCCD352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70000"/>
            <a:ext cx="5334000" cy="29972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F359FC-A5A8-4C48-91B5-7496C6C9AF65}"/>
              </a:ext>
            </a:extLst>
          </p:cNvPr>
          <p:cNvSpPr txBox="1"/>
          <p:nvPr/>
        </p:nvSpPr>
        <p:spPr>
          <a:xfrm>
            <a:off x="609600" y="4419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CFC29C"/>
                </a:solidFill>
                <a:latin typeface="Courier New" panose="02070309020205020404" pitchFamily="49" charset="0"/>
              </a:rPr>
              <a:t>СЛОТЫ → ЗАГОЛОВОК → «ОПУБЛИКОВАТЬ» → ОЦЕНКА И ШТАМП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FE1018-B947-41E0-88B7-CCF6D81C1625}"/>
              </a:ext>
            </a:extLst>
          </p:cNvPr>
          <p:cNvSpPr/>
          <p:nvPr/>
        </p:nvSpPr>
        <p:spPr>
          <a:xfrm>
            <a:off x="6324600" y="1270000"/>
            <a:ext cx="2590800" cy="9398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BB9-E887-4624-8FFA-9F5115D878AF}"/>
              </a:ext>
            </a:extLst>
          </p:cNvPr>
          <p:cNvSpPr txBox="1"/>
          <p:nvPr/>
        </p:nvSpPr>
        <p:spPr>
          <a:xfrm>
            <a:off x="6477000" y="13970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>
                <a:solidFill>
                  <a:srgbClr val="3F7A35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1EE8A-1E96-4D49-9CBE-B05D9561D3C7}"/>
              </a:ext>
            </a:extLst>
          </p:cNvPr>
          <p:cNvSpPr txBox="1"/>
          <p:nvPr/>
        </p:nvSpPr>
        <p:spPr>
          <a:xfrm>
            <a:off x="6477000" y="1828800"/>
            <a:ext cx="2336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41C16"/>
                </a:solidFill>
                <a:latin typeface="Georgia" panose="02040502050405020303" pitchFamily="18" charset="0"/>
              </a:rPr>
              <a:t>достоверно и по теме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82E89B7-93BB-4ED8-B3D7-E303D921B96D}"/>
              </a:ext>
            </a:extLst>
          </p:cNvPr>
          <p:cNvSpPr/>
          <p:nvPr/>
        </p:nvSpPr>
        <p:spPr>
          <a:xfrm>
            <a:off x="9067800" y="1270000"/>
            <a:ext cx="2590800" cy="9398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48EE9-EF9E-454B-BC61-37FC864FB2DF}"/>
              </a:ext>
            </a:extLst>
          </p:cNvPr>
          <p:cNvSpPr txBox="1"/>
          <p:nvPr/>
        </p:nvSpPr>
        <p:spPr>
          <a:xfrm>
            <a:off x="9220200" y="13970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>
                <a:solidFill>
                  <a:srgbClr val="B88A1F"/>
                </a:solidFill>
                <a:latin typeface="Courier New" panose="02070309020205020404" pitchFamily="49" charset="0"/>
              </a:rPr>
              <a:t>0,35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EF704-2FBE-4D93-B4D5-E716F8DAE04C}"/>
              </a:ext>
            </a:extLst>
          </p:cNvPr>
          <p:cNvSpPr txBox="1"/>
          <p:nvPr/>
        </p:nvSpPr>
        <p:spPr>
          <a:xfrm>
            <a:off x="9220200" y="1828800"/>
            <a:ext cx="2336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41C16"/>
                </a:solidFill>
                <a:latin typeface="Georgia" panose="02040502050405020303" pitchFamily="18" charset="0"/>
              </a:rPr>
              <a:t>достоверно, но не по теме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318586-7C00-46AB-A374-320B5469357B}"/>
              </a:ext>
            </a:extLst>
          </p:cNvPr>
          <p:cNvSpPr/>
          <p:nvPr/>
        </p:nvSpPr>
        <p:spPr>
          <a:xfrm>
            <a:off x="6324600" y="2336800"/>
            <a:ext cx="2590800" cy="9398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BFE464-F2A0-4326-8455-13E3CE342B31}"/>
              </a:ext>
            </a:extLst>
          </p:cNvPr>
          <p:cNvSpPr txBox="1"/>
          <p:nvPr/>
        </p:nvSpPr>
        <p:spPr>
          <a:xfrm>
            <a:off x="6477000" y="24638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>
                <a:solidFill>
                  <a:srgbClr val="B8392D"/>
                </a:solidFill>
                <a:latin typeface="Courier New" panose="02070309020205020404" pitchFamily="49" charset="0"/>
              </a:rPr>
              <a:t>0 и -12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0DB6AC-D2F7-4B85-BBA6-984A718CF04F}"/>
              </a:ext>
            </a:extLst>
          </p:cNvPr>
          <p:cNvSpPr txBox="1"/>
          <p:nvPr/>
        </p:nvSpPr>
        <p:spPr>
          <a:xfrm>
            <a:off x="6477000" y="2895600"/>
            <a:ext cx="2336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41C16"/>
                </a:solidFill>
                <a:latin typeface="Georgia" panose="02040502050405020303" pitchFamily="18" charset="0"/>
              </a:rPr>
              <a:t>ложь: ноль баллов и штраф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9DA8BF6-AB44-459A-8639-6D0E0BD88538}"/>
              </a:ext>
            </a:extLst>
          </p:cNvPr>
          <p:cNvSpPr/>
          <p:nvPr/>
        </p:nvSpPr>
        <p:spPr>
          <a:xfrm>
            <a:off x="9067800" y="2336800"/>
            <a:ext cx="2590800" cy="9398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2DD54D-F756-4BF0-BA0A-C6035E027EA6}"/>
              </a:ext>
            </a:extLst>
          </p:cNvPr>
          <p:cNvSpPr txBox="1"/>
          <p:nvPr/>
        </p:nvSpPr>
        <p:spPr>
          <a:xfrm>
            <a:off x="9220200" y="24638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>
                <a:solidFill>
                  <a:srgbClr val="B8392D"/>
                </a:solidFill>
                <a:latin typeface="Courier New" panose="02070309020205020404" pitchFamily="49" charset="0"/>
              </a:rPr>
              <a:t>-5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B73B8-2DAE-4B1E-BA60-6E3DBD65D2C1}"/>
              </a:ext>
            </a:extLst>
          </p:cNvPr>
          <p:cNvSpPr txBox="1"/>
          <p:nvPr/>
        </p:nvSpPr>
        <p:spPr>
          <a:xfrm>
            <a:off x="9220200" y="2895600"/>
            <a:ext cx="2336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41C16"/>
                </a:solidFill>
                <a:latin typeface="Georgia" panose="02040502050405020303" pitchFamily="18" charset="0"/>
              </a:rPr>
              <a:t>заголовок-кликбейт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58D10BB-CCD8-4A40-AE22-5F414554A090}"/>
              </a:ext>
            </a:extLst>
          </p:cNvPr>
          <p:cNvSpPr/>
          <p:nvPr/>
        </p:nvSpPr>
        <p:spPr>
          <a:xfrm>
            <a:off x="6324600" y="3530600"/>
            <a:ext cx="5334000" cy="13716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18B980-9231-420A-8772-DA46F6C67AB2}"/>
              </a:ext>
            </a:extLst>
          </p:cNvPr>
          <p:cNvSpPr txBox="1"/>
          <p:nvPr/>
        </p:nvSpPr>
        <p:spPr>
          <a:xfrm>
            <a:off x="6527800" y="3733800"/>
            <a:ext cx="49784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ru-RU" sz="1200" b="1">
                <a:solidFill>
                  <a:srgbClr val="F2ECE0"/>
                </a:solidFill>
                <a:latin typeface="Courier New" panose="02070309020205020404" pitchFamily="49" charset="0"/>
              </a:rPr>
              <a:t>ОЦЕНКА = БАЛЛЫ СЛОТОВ × 80 / ЧИСЛО СЛОТОВ</a:t>
            </a:r>
          </a:p>
          <a:p>
            <a:pPr>
              <a:spcAft>
                <a:spcPts val="600"/>
              </a:spcAft>
            </a:pPr>
            <a:r>
              <a:rPr lang="ru-RU" sz="1200" b="1">
                <a:solidFill>
                  <a:srgbClr val="F2ECE0"/>
                </a:solidFill>
                <a:latin typeface="Courier New" panose="02070309020205020404" pitchFamily="49" charset="0"/>
              </a:rPr>
              <a:t>+ 20 ЗА ВЕРНЫЙ ЗАГОЛОВОК</a:t>
            </a:r>
          </a:p>
          <a:p>
            <a:pPr>
              <a:spcAft>
                <a:spcPts val="600"/>
              </a:spcAft>
            </a:pPr>
            <a:r>
              <a:rPr lang="ru-RU" sz="1200" b="1">
                <a:solidFill>
                  <a:srgbClr val="E2B64C"/>
                </a:solidFill>
                <a:latin typeface="Courier New" panose="02070309020205020404" pitchFamily="49" charset="0"/>
              </a:rPr>
              <a:t>100 — ИДЕАЛЬНО · МЕНЬШЕ 50 — ПРОВАЛ</a:t>
            </a:r>
          </a:p>
        </p:txBody>
      </p:sp>
      <p:sp>
        <p:nvSpPr>
          <p:cNvPr id="21" name="slide-no">
            <a:extLst>
              <a:ext uri="{FF2B5EF4-FFF2-40B4-BE49-F238E27FC236}">
                <a16:creationId xmlns:a16="http://schemas.microsoft.com/office/drawing/2014/main" id="{47936A20-28D7-4263-A63F-65C5EB155277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333490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7CED8-1D26-4AC3-B27F-6E972E1C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Интервью: риск и награда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31E88-5946-4D8A-8738-E651B8D51437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МЕХАНИКА 4</a:t>
            </a:r>
          </a:p>
        </p:txBody>
      </p:sp>
      <p:pic>
        <p:nvPicPr>
          <p:cNvPr id="5" name="Рисунок 4" descr="Интервью: три вопроса на выбор">
            <a:extLst>
              <a:ext uri="{FF2B5EF4-FFF2-40B4-BE49-F238E27FC236}">
                <a16:creationId xmlns:a16="http://schemas.microsoft.com/office/drawing/2014/main" id="{501CC176-8DCA-41F2-A6E5-E111187D679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70000"/>
            <a:ext cx="5334000" cy="29972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074B1A-0BDD-4D5A-A96C-ED964A0744D8}"/>
              </a:ext>
            </a:extLst>
          </p:cNvPr>
          <p:cNvSpPr txBox="1"/>
          <p:nvPr/>
        </p:nvSpPr>
        <p:spPr>
          <a:xfrm>
            <a:off x="609600" y="4419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CFC29C"/>
                </a:solidFill>
                <a:latin typeface="Courier New" panose="02070309020205020404" pitchFamily="49" charset="0"/>
              </a:rPr>
              <a:t>КАРТОЧКА ГЕРОЯ → ТРИ ВОПРОСА НА ВЫБОР → ОТВЕТ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B0A6A6-9C23-4E4D-B331-5962BD555713}"/>
              </a:ext>
            </a:extLst>
          </p:cNvPr>
          <p:cNvSpPr/>
          <p:nvPr/>
        </p:nvSpPr>
        <p:spPr>
          <a:xfrm>
            <a:off x="6324600" y="1270000"/>
            <a:ext cx="279400" cy="2794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C22EE-96C8-42F4-B160-E11FB722A1CA}"/>
              </a:ext>
            </a:extLst>
          </p:cNvPr>
          <p:cNvSpPr txBox="1"/>
          <p:nvPr/>
        </p:nvSpPr>
        <p:spPr>
          <a:xfrm>
            <a:off x="6324600" y="1333500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00" b="1">
                <a:solidFill>
                  <a:srgbClr val="241C16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76903-3E99-41CC-9EAE-5738B76A685A}"/>
              </a:ext>
            </a:extLst>
          </p:cNvPr>
          <p:cNvSpPr txBox="1"/>
          <p:nvPr/>
        </p:nvSpPr>
        <p:spPr>
          <a:xfrm>
            <a:off x="6781800" y="1257300"/>
            <a:ext cx="4800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Открывается только при оценке 100 из 100.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4ACF6D7-0734-4082-BA17-6EA4DDDE5D1D}"/>
              </a:ext>
            </a:extLst>
          </p:cNvPr>
          <p:cNvSpPr/>
          <p:nvPr/>
        </p:nvSpPr>
        <p:spPr>
          <a:xfrm>
            <a:off x="6324600" y="2184400"/>
            <a:ext cx="279400" cy="2794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02D5C-E090-4195-97D0-21013616613C}"/>
              </a:ext>
            </a:extLst>
          </p:cNvPr>
          <p:cNvSpPr txBox="1"/>
          <p:nvPr/>
        </p:nvSpPr>
        <p:spPr>
          <a:xfrm>
            <a:off x="6324600" y="2247900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00" b="1">
                <a:solidFill>
                  <a:srgbClr val="241C16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07DC9-9C61-49B2-8A12-2A3EEB8E29DB}"/>
              </a:ext>
            </a:extLst>
          </p:cNvPr>
          <p:cNvSpPr txBox="1"/>
          <p:nvPr/>
        </p:nvSpPr>
        <p:spPr>
          <a:xfrm>
            <a:off x="6781800" y="2171700"/>
            <a:ext cx="4800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Три вопроса и 12, 9 или 6 секунд на выбор: один удачный, остальные мимо.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ACB9D4F-82F2-46EC-8E95-0F87B316DE70}"/>
              </a:ext>
            </a:extLst>
          </p:cNvPr>
          <p:cNvSpPr/>
          <p:nvPr/>
        </p:nvSpPr>
        <p:spPr>
          <a:xfrm>
            <a:off x="6324600" y="3098800"/>
            <a:ext cx="279400" cy="2794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A5158F-E1F9-4BC8-BD37-1ECAC712079A}"/>
              </a:ext>
            </a:extLst>
          </p:cNvPr>
          <p:cNvSpPr txBox="1"/>
          <p:nvPr/>
        </p:nvSpPr>
        <p:spPr>
          <a:xfrm>
            <a:off x="6324600" y="3162300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00" b="1">
                <a:solidFill>
                  <a:srgbClr val="241C16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02C5D3-BF31-4EC1-B175-2DEC2AFCAAA7}"/>
              </a:ext>
            </a:extLst>
          </p:cNvPr>
          <p:cNvSpPr txBox="1"/>
          <p:nvPr/>
        </p:nvSpPr>
        <p:spPr>
          <a:xfrm>
            <a:off x="6781800" y="3086100"/>
            <a:ext cx="4800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Опасная тема — риск: герой вспылит, и весь бонус сгорит, а может дать двойной успех.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C97C9B5-0CED-428E-94CA-3A1DD4632E12}"/>
              </a:ext>
            </a:extLst>
          </p:cNvPr>
          <p:cNvSpPr/>
          <p:nvPr/>
        </p:nvSpPr>
        <p:spPr>
          <a:xfrm>
            <a:off x="6324600" y="4013200"/>
            <a:ext cx="279400" cy="2794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6DA1FD-2141-4C88-AC5C-66C988087DE9}"/>
              </a:ext>
            </a:extLst>
          </p:cNvPr>
          <p:cNvSpPr txBox="1"/>
          <p:nvPr/>
        </p:nvSpPr>
        <p:spPr>
          <a:xfrm>
            <a:off x="6324600" y="4076700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00" b="1">
                <a:solidFill>
                  <a:srgbClr val="241C16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94E618-F87C-43B6-9F9A-9AF6358E8884}"/>
              </a:ext>
            </a:extLst>
          </p:cNvPr>
          <p:cNvSpPr txBox="1"/>
          <p:nvPr/>
        </p:nvSpPr>
        <p:spPr>
          <a:xfrm>
            <a:off x="6781800" y="4000500"/>
            <a:ext cx="4800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Награда: золотые инфоповоды на следующий день, достоверные и логичные.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F7EFAFC-AC5A-4387-ABE5-15164BF6BF8F}"/>
              </a:ext>
            </a:extLst>
          </p:cNvPr>
          <p:cNvSpPr/>
          <p:nvPr/>
        </p:nvSpPr>
        <p:spPr>
          <a:xfrm>
            <a:off x="6324600" y="4927600"/>
            <a:ext cx="279400" cy="279400"/>
          </a:xfrm>
          <a:prstGeom prst="rect">
            <a:avLst/>
          </a:prstGeom>
          <a:solidFill>
            <a:srgbClr val="E2B64C"/>
          </a:solidFill>
          <a:ln w="19050">
            <a:solidFill>
              <a:srgbClr val="241C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6BE48-3D51-4CC9-9161-13420FC99F1F}"/>
              </a:ext>
            </a:extLst>
          </p:cNvPr>
          <p:cNvSpPr txBox="1"/>
          <p:nvPr/>
        </p:nvSpPr>
        <p:spPr>
          <a:xfrm>
            <a:off x="6324600" y="4991100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000" b="1">
                <a:solidFill>
                  <a:srgbClr val="241C16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3498C3-8549-4091-8990-05278ECD94B9}"/>
              </a:ext>
            </a:extLst>
          </p:cNvPr>
          <p:cNvSpPr txBox="1"/>
          <p:nvPr/>
        </p:nvSpPr>
        <p:spPr>
          <a:xfrm>
            <a:off x="6781800" y="4914900"/>
            <a:ext cx="4800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F2ECE0"/>
                </a:solidFill>
                <a:latin typeface="Georgia" panose="02040502050405020303" pitchFamily="18" charset="0"/>
              </a:rPr>
              <a:t>Не «вечная сотня»: интервью закрывает не больше половины страницы и два дня подряд не бывает.</a:t>
            </a:r>
          </a:p>
        </p:txBody>
      </p:sp>
      <p:sp>
        <p:nvSpPr>
          <p:cNvPr id="22" name="slide-no">
            <a:extLst>
              <a:ext uri="{FF2B5EF4-FFF2-40B4-BE49-F238E27FC236}">
                <a16:creationId xmlns:a16="http://schemas.microsoft.com/office/drawing/2014/main" id="{8AB399D9-4F53-4C60-A9FE-305AFF87C342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365482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BC318-B796-46D5-A5FE-D8EB43B9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делает игрок — что делает журналист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91BDC-8743-4468-85B6-E862BBB8103A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ЦЕЛЬ КЕЙСА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74E3D34-C1C0-4EC6-99B5-47150E9AB3FB}"/>
              </a:ext>
            </a:extLst>
          </p:cNvPr>
          <p:cNvSpPr/>
          <p:nvPr/>
        </p:nvSpPr>
        <p:spPr>
          <a:xfrm>
            <a:off x="609600" y="1295400"/>
            <a:ext cx="5207000" cy="5334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A3540-934C-4F20-9D39-83559E0B0410}"/>
              </a:ext>
            </a:extLst>
          </p:cNvPr>
          <p:cNvSpPr txBox="1"/>
          <p:nvPr/>
        </p:nvSpPr>
        <p:spPr>
          <a:xfrm>
            <a:off x="787400" y="1447800"/>
            <a:ext cx="495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Строка газеты уходит «в руку»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97DBC-5557-4BD8-AFEF-4681065ED998}"/>
              </a:ext>
            </a:extLst>
          </p:cNvPr>
          <p:cNvSpPr txBox="1"/>
          <p:nvPr/>
        </p:nvSpPr>
        <p:spPr>
          <a:xfrm>
            <a:off x="5867400" y="1460500"/>
            <a:ext cx="431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8E302D-6938-4D8E-9BB8-8D737B3ECA7B}"/>
              </a:ext>
            </a:extLst>
          </p:cNvPr>
          <p:cNvSpPr/>
          <p:nvPr/>
        </p:nvSpPr>
        <p:spPr>
          <a:xfrm>
            <a:off x="6324600" y="1295400"/>
            <a:ext cx="5257800" cy="533400"/>
          </a:xfrm>
          <a:prstGeom prst="rect">
            <a:avLst/>
          </a:prstGeom>
          <a:solidFill>
            <a:srgbClr val="1A1511"/>
          </a:solidFill>
          <a:ln w="19050">
            <a:solidFill>
              <a:srgbClr val="CFC29C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AFE14-FE12-4A4D-BAEF-64E63B7270E6}"/>
              </a:ext>
            </a:extLst>
          </p:cNvPr>
          <p:cNvSpPr txBox="1"/>
          <p:nvPr/>
        </p:nvSpPr>
        <p:spPr>
          <a:xfrm>
            <a:off x="6502400" y="14478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Мониторинг СМИ, отбор инфоповодов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78BC40-B427-4569-9442-E03625AF647A}"/>
              </a:ext>
            </a:extLst>
          </p:cNvPr>
          <p:cNvSpPr/>
          <p:nvPr/>
        </p:nvSpPr>
        <p:spPr>
          <a:xfrm>
            <a:off x="609600" y="1955800"/>
            <a:ext cx="5207000" cy="5334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56DE4-1311-49B3-A357-4A210355CA0F}"/>
              </a:ext>
            </a:extLst>
          </p:cNvPr>
          <p:cNvSpPr txBox="1"/>
          <p:nvPr/>
        </p:nvSpPr>
        <p:spPr>
          <a:xfrm>
            <a:off x="787400" y="2108200"/>
            <a:ext cx="495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Звонки: босс, коллега, незнакомец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2DD10B-9250-44FC-95E4-1F8A7CCE5B43}"/>
              </a:ext>
            </a:extLst>
          </p:cNvPr>
          <p:cNvSpPr txBox="1"/>
          <p:nvPr/>
        </p:nvSpPr>
        <p:spPr>
          <a:xfrm>
            <a:off x="5867400" y="2120900"/>
            <a:ext cx="431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7508254-CD13-4D8E-807F-1EF2A5668275}"/>
              </a:ext>
            </a:extLst>
          </p:cNvPr>
          <p:cNvSpPr/>
          <p:nvPr/>
        </p:nvSpPr>
        <p:spPr>
          <a:xfrm>
            <a:off x="6324600" y="1955800"/>
            <a:ext cx="5257800" cy="533400"/>
          </a:xfrm>
          <a:prstGeom prst="rect">
            <a:avLst/>
          </a:prstGeom>
          <a:solidFill>
            <a:srgbClr val="1A1511"/>
          </a:solidFill>
          <a:ln w="19050">
            <a:solidFill>
              <a:srgbClr val="CFC29C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1EC914-48C0-4E7A-91CC-B145775FDC93}"/>
              </a:ext>
            </a:extLst>
          </p:cNvPr>
          <p:cNvSpPr txBox="1"/>
          <p:nvPr/>
        </p:nvSpPr>
        <p:spPr>
          <a:xfrm>
            <a:off x="6502400" y="21082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Работа с источниками: кому доверять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F38484-FBA9-4A57-834F-D8BBDE33E1C1}"/>
              </a:ext>
            </a:extLst>
          </p:cNvPr>
          <p:cNvSpPr/>
          <p:nvPr/>
        </p:nvSpPr>
        <p:spPr>
          <a:xfrm>
            <a:off x="609600" y="2616200"/>
            <a:ext cx="5207000" cy="5334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9721E3-8B36-436E-B958-B9702C94526A}"/>
              </a:ext>
            </a:extLst>
          </p:cNvPr>
          <p:cNvSpPr txBox="1"/>
          <p:nvPr/>
        </p:nvSpPr>
        <p:spPr>
          <a:xfrm>
            <a:off x="787400" y="2768600"/>
            <a:ext cx="495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Подсказки в газетах и блокнот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2A0E8-D03C-41F2-8810-C81C386378B9}"/>
              </a:ext>
            </a:extLst>
          </p:cNvPr>
          <p:cNvSpPr txBox="1"/>
          <p:nvPr/>
        </p:nvSpPr>
        <p:spPr>
          <a:xfrm>
            <a:off x="5867400" y="2781300"/>
            <a:ext cx="431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68522E8-ECEE-4EED-AC28-05F0753F45AF}"/>
              </a:ext>
            </a:extLst>
          </p:cNvPr>
          <p:cNvSpPr/>
          <p:nvPr/>
        </p:nvSpPr>
        <p:spPr>
          <a:xfrm>
            <a:off x="6324600" y="2616200"/>
            <a:ext cx="5257800" cy="533400"/>
          </a:xfrm>
          <a:prstGeom prst="rect">
            <a:avLst/>
          </a:prstGeom>
          <a:solidFill>
            <a:srgbClr val="1A1511"/>
          </a:solidFill>
          <a:ln w="19050">
            <a:solidFill>
              <a:srgbClr val="CFC29C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57F586-48F9-4A7F-950B-A98DCBEBEB6F}"/>
              </a:ext>
            </a:extLst>
          </p:cNvPr>
          <p:cNvSpPr txBox="1"/>
          <p:nvPr/>
        </p:nvSpPr>
        <p:spPr>
          <a:xfrm>
            <a:off x="6502400" y="27686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Проверка факта по второму источнику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0B32DF7-73D5-4DDF-AA1A-7C4B7D0AC9FB}"/>
              </a:ext>
            </a:extLst>
          </p:cNvPr>
          <p:cNvSpPr/>
          <p:nvPr/>
        </p:nvSpPr>
        <p:spPr>
          <a:xfrm>
            <a:off x="609600" y="3276600"/>
            <a:ext cx="5207000" cy="5334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0CEEA6-F8EC-4E83-BDCC-B07E00381919}"/>
              </a:ext>
            </a:extLst>
          </p:cNvPr>
          <p:cNvSpPr txBox="1"/>
          <p:nvPr/>
        </p:nvSpPr>
        <p:spPr>
          <a:xfrm>
            <a:off x="787400" y="3429000"/>
            <a:ext cx="495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Таймер и «Завершить день»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B7234-99C4-4A01-8F6D-4F468F46649C}"/>
              </a:ext>
            </a:extLst>
          </p:cNvPr>
          <p:cNvSpPr txBox="1"/>
          <p:nvPr/>
        </p:nvSpPr>
        <p:spPr>
          <a:xfrm>
            <a:off x="5867400" y="3441700"/>
            <a:ext cx="431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D3612B9-7183-4E22-8A26-B40E10040802}"/>
              </a:ext>
            </a:extLst>
          </p:cNvPr>
          <p:cNvSpPr/>
          <p:nvPr/>
        </p:nvSpPr>
        <p:spPr>
          <a:xfrm>
            <a:off x="6324600" y="3276600"/>
            <a:ext cx="5257800" cy="533400"/>
          </a:xfrm>
          <a:prstGeom prst="rect">
            <a:avLst/>
          </a:prstGeom>
          <a:solidFill>
            <a:srgbClr val="1A1511"/>
          </a:solidFill>
          <a:ln w="19050">
            <a:solidFill>
              <a:srgbClr val="CFC29C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F43F7F-7BD8-4C2E-9AD7-598425D25272}"/>
              </a:ext>
            </a:extLst>
          </p:cNvPr>
          <p:cNvSpPr txBox="1"/>
          <p:nvPr/>
        </p:nvSpPr>
        <p:spPr>
          <a:xfrm>
            <a:off x="6502400" y="34290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Дедлайн выпуска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D289857-6ECA-4147-B29A-0DA0F8D4A559}"/>
              </a:ext>
            </a:extLst>
          </p:cNvPr>
          <p:cNvSpPr/>
          <p:nvPr/>
        </p:nvSpPr>
        <p:spPr>
          <a:xfrm>
            <a:off x="609600" y="3937000"/>
            <a:ext cx="5207000" cy="5334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C1CCC-B630-4DFB-842E-653B503D883B}"/>
              </a:ext>
            </a:extLst>
          </p:cNvPr>
          <p:cNvSpPr txBox="1"/>
          <p:nvPr/>
        </p:nvSpPr>
        <p:spPr>
          <a:xfrm>
            <a:off x="787400" y="4089400"/>
            <a:ext cx="495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Страница: четыре слота и заголовок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E9E9A5-5936-4AC4-9531-1293A048B9F8}"/>
              </a:ext>
            </a:extLst>
          </p:cNvPr>
          <p:cNvSpPr txBox="1"/>
          <p:nvPr/>
        </p:nvSpPr>
        <p:spPr>
          <a:xfrm>
            <a:off x="5867400" y="4102100"/>
            <a:ext cx="431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733656B-CC74-4F2E-B77F-0AC13421A028}"/>
              </a:ext>
            </a:extLst>
          </p:cNvPr>
          <p:cNvSpPr/>
          <p:nvPr/>
        </p:nvSpPr>
        <p:spPr>
          <a:xfrm>
            <a:off x="6324600" y="3937000"/>
            <a:ext cx="5257800" cy="533400"/>
          </a:xfrm>
          <a:prstGeom prst="rect">
            <a:avLst/>
          </a:prstGeom>
          <a:solidFill>
            <a:srgbClr val="1A1511"/>
          </a:solidFill>
          <a:ln w="19050">
            <a:solidFill>
              <a:srgbClr val="CFC29C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B151CF-2224-4216-B015-20B63AF26CF7}"/>
              </a:ext>
            </a:extLst>
          </p:cNvPr>
          <p:cNvSpPr txBox="1"/>
          <p:nvPr/>
        </p:nvSpPr>
        <p:spPr>
          <a:xfrm>
            <a:off x="6502400" y="40894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Вёрстка полосы, главное в заголовок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B626AEB-6EB6-4101-9580-F78C748D944A}"/>
              </a:ext>
            </a:extLst>
          </p:cNvPr>
          <p:cNvSpPr/>
          <p:nvPr/>
        </p:nvSpPr>
        <p:spPr>
          <a:xfrm>
            <a:off x="609600" y="4597400"/>
            <a:ext cx="5207000" cy="5334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099476-CA79-421B-8736-8F43DE1DF02E}"/>
              </a:ext>
            </a:extLst>
          </p:cNvPr>
          <p:cNvSpPr txBox="1"/>
          <p:nvPr/>
        </p:nvSpPr>
        <p:spPr>
          <a:xfrm>
            <a:off x="787400" y="4749800"/>
            <a:ext cx="495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Планёрка с разбором и источниками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47773-9C79-41CE-8A99-87E21FDB16EF}"/>
              </a:ext>
            </a:extLst>
          </p:cNvPr>
          <p:cNvSpPr txBox="1"/>
          <p:nvPr/>
        </p:nvSpPr>
        <p:spPr>
          <a:xfrm>
            <a:off x="5867400" y="4762500"/>
            <a:ext cx="431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AEC37F8-C3C2-4FDA-8018-F9794D112209}"/>
              </a:ext>
            </a:extLst>
          </p:cNvPr>
          <p:cNvSpPr/>
          <p:nvPr/>
        </p:nvSpPr>
        <p:spPr>
          <a:xfrm>
            <a:off x="6324600" y="4597400"/>
            <a:ext cx="5257800" cy="533400"/>
          </a:xfrm>
          <a:prstGeom prst="rect">
            <a:avLst/>
          </a:prstGeom>
          <a:solidFill>
            <a:srgbClr val="1A1511"/>
          </a:solidFill>
          <a:ln w="19050">
            <a:solidFill>
              <a:srgbClr val="CFC29C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89B9D-3308-404F-AFEC-39888167736C}"/>
              </a:ext>
            </a:extLst>
          </p:cNvPr>
          <p:cNvSpPr txBox="1"/>
          <p:nvPr/>
        </p:nvSpPr>
        <p:spPr>
          <a:xfrm>
            <a:off x="6502400" y="47498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Работа над ошибками, опровержение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F366978-0560-41A6-B1C9-EC33432E86F0}"/>
              </a:ext>
            </a:extLst>
          </p:cNvPr>
          <p:cNvSpPr/>
          <p:nvPr/>
        </p:nvSpPr>
        <p:spPr>
          <a:xfrm>
            <a:off x="609600" y="5257800"/>
            <a:ext cx="5207000" cy="5334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32F139-63B6-4C62-9086-471CA05BE409}"/>
              </a:ext>
            </a:extLst>
          </p:cNvPr>
          <p:cNvSpPr txBox="1"/>
          <p:nvPr/>
        </p:nvSpPr>
        <p:spPr>
          <a:xfrm>
            <a:off x="787400" y="5410200"/>
            <a:ext cx="495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Georgia" panose="02040502050405020303" pitchFamily="18" charset="0"/>
              </a:rPr>
              <a:t>Интервью: вопросы по характеру героя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ED30B2-5E20-43BF-B3B2-2C49018819E4}"/>
              </a:ext>
            </a:extLst>
          </p:cNvPr>
          <p:cNvSpPr txBox="1"/>
          <p:nvPr/>
        </p:nvSpPr>
        <p:spPr>
          <a:xfrm>
            <a:off x="5867400" y="5422900"/>
            <a:ext cx="431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3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5A63B31-2301-46C3-9EB4-B1E242C7C93E}"/>
              </a:ext>
            </a:extLst>
          </p:cNvPr>
          <p:cNvSpPr/>
          <p:nvPr/>
        </p:nvSpPr>
        <p:spPr>
          <a:xfrm>
            <a:off x="6324600" y="5257800"/>
            <a:ext cx="5257800" cy="533400"/>
          </a:xfrm>
          <a:prstGeom prst="rect">
            <a:avLst/>
          </a:prstGeom>
          <a:solidFill>
            <a:srgbClr val="1A1511"/>
          </a:solidFill>
          <a:ln w="19050">
            <a:solidFill>
              <a:srgbClr val="CFC29C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191E6F-5557-4CC7-9865-AC70C04C1AC1}"/>
              </a:ext>
            </a:extLst>
          </p:cNvPr>
          <p:cNvSpPr txBox="1"/>
          <p:nvPr/>
        </p:nvSpPr>
        <p:spPr>
          <a:xfrm>
            <a:off x="6502400" y="54102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Подготовка к разговору, риск острых тем</a:t>
            </a:r>
          </a:p>
        </p:txBody>
      </p:sp>
      <p:sp>
        <p:nvSpPr>
          <p:cNvPr id="39" name="slide-no">
            <a:extLst>
              <a:ext uri="{FF2B5EF4-FFF2-40B4-BE49-F238E27FC236}">
                <a16:creationId xmlns:a16="http://schemas.microsoft.com/office/drawing/2014/main" id="{579BF740-83E4-4685-8280-9D2740F9C971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508048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3F76E-3CBC-412D-9AA4-68092148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Пиксельный стол, нарисованный кодом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3149B-2C37-4591-A9D3-1BF501874AFA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ВИЗУАЛЬНЫЙ СТИЛЬ</a:t>
            </a:r>
          </a:p>
        </p:txBody>
      </p:sp>
      <p:pic>
        <p:nvPicPr>
          <p:cNvPr id="5" name="Рисунок 4" descr="МЕНЮ">
            <a:extLst>
              <a:ext uri="{FF2B5EF4-FFF2-40B4-BE49-F238E27FC236}">
                <a16:creationId xmlns:a16="http://schemas.microsoft.com/office/drawing/2014/main" id="{D182A015-9E1D-49E9-8892-3305D10204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70000"/>
            <a:ext cx="3429000" cy="19304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3D20B9B-27C4-41E0-BC5D-FB2DCAB07E89}"/>
              </a:ext>
            </a:extLst>
          </p:cNvPr>
          <p:cNvSpPr/>
          <p:nvPr/>
        </p:nvSpPr>
        <p:spPr>
          <a:xfrm>
            <a:off x="660400" y="2971800"/>
            <a:ext cx="736600" cy="177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9DF41-A20D-425D-BF4F-42EAAAA225C4}"/>
              </a:ext>
            </a:extLst>
          </p:cNvPr>
          <p:cNvSpPr txBox="1"/>
          <p:nvPr/>
        </p:nvSpPr>
        <p:spPr>
          <a:xfrm>
            <a:off x="711200" y="3009900"/>
            <a:ext cx="812800" cy="12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750" b="1">
                <a:solidFill>
                  <a:srgbClr val="FFFFFF"/>
                </a:solidFill>
                <a:latin typeface="Courier New" panose="02070309020205020404" pitchFamily="49" charset="0"/>
              </a:rPr>
              <a:t>МЕНЮ</a:t>
            </a:r>
          </a:p>
        </p:txBody>
      </p:sp>
      <p:pic>
        <p:nvPicPr>
          <p:cNvPr id="9" name="Рисунок 8" descr="СТОЛ">
            <a:extLst>
              <a:ext uri="{FF2B5EF4-FFF2-40B4-BE49-F238E27FC236}">
                <a16:creationId xmlns:a16="http://schemas.microsoft.com/office/drawing/2014/main" id="{029A5F8F-2451-4038-8003-1FDF8A666A8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1270000"/>
            <a:ext cx="3429000" cy="19304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B575FF6-4FAF-4495-A4C7-00DB6D50D140}"/>
              </a:ext>
            </a:extLst>
          </p:cNvPr>
          <p:cNvSpPr/>
          <p:nvPr/>
        </p:nvSpPr>
        <p:spPr>
          <a:xfrm>
            <a:off x="4432300" y="2971800"/>
            <a:ext cx="736600" cy="177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8DC6D-DC9E-4C13-B130-FC7C83006B9C}"/>
              </a:ext>
            </a:extLst>
          </p:cNvPr>
          <p:cNvSpPr txBox="1"/>
          <p:nvPr/>
        </p:nvSpPr>
        <p:spPr>
          <a:xfrm>
            <a:off x="4483100" y="3009900"/>
            <a:ext cx="812800" cy="12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750" b="1">
                <a:solidFill>
                  <a:srgbClr val="FFFFFF"/>
                </a:solidFill>
                <a:latin typeface="Courier New" panose="02070309020205020404" pitchFamily="49" charset="0"/>
              </a:rPr>
              <a:t>СТОЛ</a:t>
            </a:r>
          </a:p>
        </p:txBody>
      </p:sp>
      <p:pic>
        <p:nvPicPr>
          <p:cNvPr id="13" name="Рисунок 12" descr="ЗВОНОК">
            <a:extLst>
              <a:ext uri="{FF2B5EF4-FFF2-40B4-BE49-F238E27FC236}">
                <a16:creationId xmlns:a16="http://schemas.microsoft.com/office/drawing/2014/main" id="{98E532D8-ECF3-4F5B-ADBA-CDFE9C4C805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270000"/>
            <a:ext cx="3429000" cy="19304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E4FDE02-8DB1-4A2B-B669-176CE8A28A11}"/>
              </a:ext>
            </a:extLst>
          </p:cNvPr>
          <p:cNvSpPr/>
          <p:nvPr/>
        </p:nvSpPr>
        <p:spPr>
          <a:xfrm>
            <a:off x="8204200" y="2971800"/>
            <a:ext cx="736600" cy="177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B11F8-D6CF-4419-B2CD-961FD173EB02}"/>
              </a:ext>
            </a:extLst>
          </p:cNvPr>
          <p:cNvSpPr txBox="1"/>
          <p:nvPr/>
        </p:nvSpPr>
        <p:spPr>
          <a:xfrm>
            <a:off x="8255000" y="3009900"/>
            <a:ext cx="812800" cy="12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750" b="1">
                <a:solidFill>
                  <a:srgbClr val="FFFFFF"/>
                </a:solidFill>
                <a:latin typeface="Courier New" panose="02070309020205020404" pitchFamily="49" charset="0"/>
              </a:rPr>
              <a:t>ЗВОНОК</a:t>
            </a:r>
          </a:p>
        </p:txBody>
      </p:sp>
      <p:pic>
        <p:nvPicPr>
          <p:cNvPr id="17" name="Рисунок 16" descr="СТРАНИЦА">
            <a:extLst>
              <a:ext uri="{FF2B5EF4-FFF2-40B4-BE49-F238E27FC236}">
                <a16:creationId xmlns:a16="http://schemas.microsoft.com/office/drawing/2014/main" id="{78A5D419-A939-4653-A0BE-0AB1C2A17B0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403600"/>
            <a:ext cx="3429000" cy="19304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E2EFFE2-22F8-48EE-B7D7-F6E844535BF1}"/>
              </a:ext>
            </a:extLst>
          </p:cNvPr>
          <p:cNvSpPr/>
          <p:nvPr/>
        </p:nvSpPr>
        <p:spPr>
          <a:xfrm>
            <a:off x="660400" y="5105400"/>
            <a:ext cx="736600" cy="177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0730EC-A86E-4B46-B5D5-32BE615C78A4}"/>
              </a:ext>
            </a:extLst>
          </p:cNvPr>
          <p:cNvSpPr txBox="1"/>
          <p:nvPr/>
        </p:nvSpPr>
        <p:spPr>
          <a:xfrm>
            <a:off x="711200" y="5143500"/>
            <a:ext cx="812800" cy="12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750" b="1">
                <a:solidFill>
                  <a:srgbClr val="FFFFFF"/>
                </a:solidFill>
                <a:latin typeface="Courier New" panose="02070309020205020404" pitchFamily="49" charset="0"/>
              </a:rPr>
              <a:t>СТРАНИЦА</a:t>
            </a:r>
          </a:p>
        </p:txBody>
      </p:sp>
      <p:pic>
        <p:nvPicPr>
          <p:cNvPr id="21" name="Рисунок 20" descr="ПЛАНЁРКА">
            <a:extLst>
              <a:ext uri="{FF2B5EF4-FFF2-40B4-BE49-F238E27FC236}">
                <a16:creationId xmlns:a16="http://schemas.microsoft.com/office/drawing/2014/main" id="{E0F02B68-3EB2-45A1-BA21-FFEE6CA8CAD0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3403600"/>
            <a:ext cx="3429000" cy="19304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281C3B1-B28E-475D-BA18-FC2083E8C8EF}"/>
              </a:ext>
            </a:extLst>
          </p:cNvPr>
          <p:cNvSpPr/>
          <p:nvPr/>
        </p:nvSpPr>
        <p:spPr>
          <a:xfrm>
            <a:off x="4432300" y="5105400"/>
            <a:ext cx="736600" cy="177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3BB87C-0413-4576-A90A-8E7518B56C32}"/>
              </a:ext>
            </a:extLst>
          </p:cNvPr>
          <p:cNvSpPr txBox="1"/>
          <p:nvPr/>
        </p:nvSpPr>
        <p:spPr>
          <a:xfrm>
            <a:off x="4483100" y="5143500"/>
            <a:ext cx="812800" cy="12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750" b="1">
                <a:solidFill>
                  <a:srgbClr val="FFFFFF"/>
                </a:solidFill>
                <a:latin typeface="Courier New" panose="02070309020205020404" pitchFamily="49" charset="0"/>
              </a:rPr>
              <a:t>ПЛАНЁРКА</a:t>
            </a:r>
          </a:p>
        </p:txBody>
      </p:sp>
      <p:pic>
        <p:nvPicPr>
          <p:cNvPr id="25" name="Рисунок 24" descr="ИНТЕРВЬЮ">
            <a:extLst>
              <a:ext uri="{FF2B5EF4-FFF2-40B4-BE49-F238E27FC236}">
                <a16:creationId xmlns:a16="http://schemas.microsoft.com/office/drawing/2014/main" id="{4884A7F9-D3B7-455A-B636-FB1DD2FC366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3403600"/>
            <a:ext cx="3429000" cy="1930400"/>
          </a:xfrm>
          <a:prstGeom prst="rect">
            <a:avLst/>
          </a:prstGeom>
          <a:ln w="3175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158ABAA-8279-4AF3-ACEA-D82DF912966A}"/>
              </a:ext>
            </a:extLst>
          </p:cNvPr>
          <p:cNvSpPr/>
          <p:nvPr/>
        </p:nvSpPr>
        <p:spPr>
          <a:xfrm>
            <a:off x="8204200" y="5105400"/>
            <a:ext cx="736600" cy="1778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C2D190-FB04-4536-B425-FDA03EBE863B}"/>
              </a:ext>
            </a:extLst>
          </p:cNvPr>
          <p:cNvSpPr txBox="1"/>
          <p:nvPr/>
        </p:nvSpPr>
        <p:spPr>
          <a:xfrm>
            <a:off x="8255000" y="5143500"/>
            <a:ext cx="812800" cy="12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750" b="1">
                <a:solidFill>
                  <a:srgbClr val="FFFFFF"/>
                </a:solidFill>
                <a:latin typeface="Courier New" panose="02070309020205020404" pitchFamily="49" charset="0"/>
              </a:rPr>
              <a:t>ИНТЕРВЬЮ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E7B2EB5-290C-4171-B548-B8B52EF7140F}"/>
              </a:ext>
            </a:extLst>
          </p:cNvPr>
          <p:cNvSpPr/>
          <p:nvPr/>
        </p:nvSpPr>
        <p:spPr>
          <a:xfrm>
            <a:off x="609600" y="5664200"/>
            <a:ext cx="584200" cy="355600"/>
          </a:xfrm>
          <a:prstGeom prst="rect">
            <a:avLst/>
          </a:prstGeom>
          <a:solidFill>
            <a:srgbClr val="241C16"/>
          </a:solidFill>
          <a:ln w="19050">
            <a:solidFill>
              <a:srgbClr val="F6EF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E93D782-68FB-4156-AFB2-7F987C97F640}"/>
              </a:ext>
            </a:extLst>
          </p:cNvPr>
          <p:cNvSpPr/>
          <p:nvPr/>
        </p:nvSpPr>
        <p:spPr>
          <a:xfrm>
            <a:off x="1270000" y="5664200"/>
            <a:ext cx="584200" cy="355600"/>
          </a:xfrm>
          <a:prstGeom prst="rect">
            <a:avLst/>
          </a:prstGeom>
          <a:solidFill>
            <a:srgbClr val="EADFC2"/>
          </a:solidFill>
          <a:ln w="19050">
            <a:solidFill>
              <a:srgbClr val="F6EF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B5E3610-742A-41BA-A5C8-FBB030F368FF}"/>
              </a:ext>
            </a:extLst>
          </p:cNvPr>
          <p:cNvSpPr/>
          <p:nvPr/>
        </p:nvSpPr>
        <p:spPr>
          <a:xfrm>
            <a:off x="1930400" y="5664200"/>
            <a:ext cx="584200" cy="355600"/>
          </a:xfrm>
          <a:prstGeom prst="rect">
            <a:avLst/>
          </a:prstGeom>
          <a:solidFill>
            <a:srgbClr val="B8392D"/>
          </a:solidFill>
          <a:ln w="19050">
            <a:solidFill>
              <a:srgbClr val="F6EF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4829F4B-7453-4F69-9193-9E7EA811DECC}"/>
              </a:ext>
            </a:extLst>
          </p:cNvPr>
          <p:cNvSpPr/>
          <p:nvPr/>
        </p:nvSpPr>
        <p:spPr>
          <a:xfrm>
            <a:off x="2590800" y="5664200"/>
            <a:ext cx="584200" cy="355600"/>
          </a:xfrm>
          <a:prstGeom prst="rect">
            <a:avLst/>
          </a:prstGeom>
          <a:solidFill>
            <a:srgbClr val="3B5E8C"/>
          </a:solidFill>
          <a:ln w="19050">
            <a:solidFill>
              <a:srgbClr val="F6EF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D458F9C-07C8-4737-A691-AFAE73A6E157}"/>
              </a:ext>
            </a:extLst>
          </p:cNvPr>
          <p:cNvSpPr/>
          <p:nvPr/>
        </p:nvSpPr>
        <p:spPr>
          <a:xfrm>
            <a:off x="3251200" y="5664200"/>
            <a:ext cx="584200" cy="355600"/>
          </a:xfrm>
          <a:prstGeom prst="rect">
            <a:avLst/>
          </a:prstGeom>
          <a:solidFill>
            <a:srgbClr val="4D7A47"/>
          </a:solidFill>
          <a:ln w="19050">
            <a:solidFill>
              <a:srgbClr val="F6EF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D5D3BE2-EFE7-4FCE-B78A-834A5772A540}"/>
              </a:ext>
            </a:extLst>
          </p:cNvPr>
          <p:cNvSpPr/>
          <p:nvPr/>
        </p:nvSpPr>
        <p:spPr>
          <a:xfrm>
            <a:off x="3911600" y="5664200"/>
            <a:ext cx="584200" cy="355600"/>
          </a:xfrm>
          <a:prstGeom prst="rect">
            <a:avLst/>
          </a:prstGeom>
          <a:solidFill>
            <a:srgbClr val="E2B64C"/>
          </a:solidFill>
          <a:ln w="19050">
            <a:solidFill>
              <a:srgbClr val="F6EF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686BB1B-E276-4DD7-847C-A92B22EBB271}"/>
              </a:ext>
            </a:extLst>
          </p:cNvPr>
          <p:cNvSpPr/>
          <p:nvPr/>
        </p:nvSpPr>
        <p:spPr>
          <a:xfrm>
            <a:off x="4572000" y="5664200"/>
            <a:ext cx="584200" cy="355600"/>
          </a:xfrm>
          <a:prstGeom prst="rect">
            <a:avLst/>
          </a:prstGeom>
          <a:solidFill>
            <a:srgbClr val="6C4630"/>
          </a:solidFill>
          <a:ln w="19050">
            <a:solidFill>
              <a:srgbClr val="F6EF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C50F48-AC10-47C6-9BC7-9A31EF1020AB}"/>
              </a:ext>
            </a:extLst>
          </p:cNvPr>
          <p:cNvSpPr txBox="1"/>
          <p:nvPr/>
        </p:nvSpPr>
        <p:spPr>
          <a:xfrm>
            <a:off x="5461000" y="5613400"/>
            <a:ext cx="6121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2ECE0"/>
                </a:solidFill>
                <a:latin typeface="Georgia" panose="02040502050405020303" pitchFamily="18" charset="0"/>
              </a:rPr>
              <a:t>Палитра из семи цветов, шрифт Press Start 2P для интерфейса, Georgia для газет. Всё нарисовано кодом: картинок в игре нет.</a:t>
            </a:r>
          </a:p>
        </p:txBody>
      </p:sp>
      <p:sp>
        <p:nvSpPr>
          <p:cNvPr id="36" name="slide-no">
            <a:extLst>
              <a:ext uri="{FF2B5EF4-FFF2-40B4-BE49-F238E27FC236}">
                <a16:creationId xmlns:a16="http://schemas.microsoft.com/office/drawing/2014/main" id="{9A6192A7-83D9-4516-AB6C-4183F2ABECC6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3289867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3664E-3F0E-4E4E-83EB-F9D2A78A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Три сложности и сохранение в файл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A2940-EC60-4073-9EC9-AAA19E163A44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ЗАДАНИЯ СО ЗВЁЗДОЧКОЙ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E5E9B2-31F7-4751-BCFE-292334C173B9}"/>
              </a:ext>
            </a:extLst>
          </p:cNvPr>
          <p:cNvSpPr/>
          <p:nvPr/>
        </p:nvSpPr>
        <p:spPr>
          <a:xfrm>
            <a:off x="609600" y="1270000"/>
            <a:ext cx="2489200" cy="3810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8D0A2-25E9-40A0-9BF7-89A1AD22219B}"/>
              </a:ext>
            </a:extLst>
          </p:cNvPr>
          <p:cNvSpPr/>
          <p:nvPr/>
        </p:nvSpPr>
        <p:spPr>
          <a:xfrm>
            <a:off x="609600" y="1270000"/>
            <a:ext cx="2489200" cy="431800"/>
          </a:xfrm>
          <a:prstGeom prst="rect">
            <a:avLst/>
          </a:prstGeom>
          <a:solidFill>
            <a:srgbClr val="3F6B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EA52A-952C-4C10-8409-844B6FFEC0FB}"/>
              </a:ext>
            </a:extLst>
          </p:cNvPr>
          <p:cNvSpPr txBox="1"/>
          <p:nvPr/>
        </p:nvSpPr>
        <p:spPr>
          <a:xfrm>
            <a:off x="723900" y="1390650"/>
            <a:ext cx="23114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 b="1">
                <a:solidFill>
                  <a:srgbClr val="FFFFFF"/>
                </a:solidFill>
                <a:latin typeface="Courier New" panose="02070309020205020404" pitchFamily="49" charset="0"/>
              </a:rPr>
              <a:t>ЛЁГКАЯ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4F978-09AC-4E36-9EAC-1B0C01A5C5B1}"/>
              </a:ext>
            </a:extLst>
          </p:cNvPr>
          <p:cNvSpPr txBox="1"/>
          <p:nvPr/>
        </p:nvSpPr>
        <p:spPr>
          <a:xfrm>
            <a:off x="762000" y="19050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Время дня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7EE4A-7045-420E-96CF-72591079C0D8}"/>
              </a:ext>
            </a:extLst>
          </p:cNvPr>
          <p:cNvSpPr txBox="1"/>
          <p:nvPr/>
        </p:nvSpPr>
        <p:spPr>
          <a:xfrm>
            <a:off x="1879600" y="19177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5:00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D27E11E-2E33-438B-B78A-2184F6E7B697}"/>
              </a:ext>
            </a:extLst>
          </p:cNvPr>
          <p:cNvCxnSpPr/>
          <p:nvPr/>
        </p:nvCxnSpPr>
        <p:spPr>
          <a:xfrm>
            <a:off x="762000" y="22098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1E360B-7F79-4656-916C-5AE7D178538E}"/>
              </a:ext>
            </a:extLst>
          </p:cNvPr>
          <p:cNvSpPr txBox="1"/>
          <p:nvPr/>
        </p:nvSpPr>
        <p:spPr>
          <a:xfrm>
            <a:off x="762000" y="23368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Газет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3F20C-04E6-44BB-9A6B-6A144183430A}"/>
              </a:ext>
            </a:extLst>
          </p:cNvPr>
          <p:cNvSpPr txBox="1"/>
          <p:nvPr/>
        </p:nvSpPr>
        <p:spPr>
          <a:xfrm>
            <a:off x="1879600" y="23495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89B7C2D-854B-4200-B304-DC1AE7D17506}"/>
              </a:ext>
            </a:extLst>
          </p:cNvPr>
          <p:cNvCxnSpPr/>
          <p:nvPr/>
        </p:nvCxnSpPr>
        <p:spPr>
          <a:xfrm>
            <a:off x="762000" y="26416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688DDA-5B0D-4CF3-B215-38B79ADE0E71}"/>
              </a:ext>
            </a:extLst>
          </p:cNvPr>
          <p:cNvSpPr txBox="1"/>
          <p:nvPr/>
        </p:nvSpPr>
        <p:spPr>
          <a:xfrm>
            <a:off x="762000" y="27686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Звонков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1CB405-4A84-47C1-B838-A25A72AE4731}"/>
              </a:ext>
            </a:extLst>
          </p:cNvPr>
          <p:cNvSpPr txBox="1"/>
          <p:nvPr/>
        </p:nvSpPr>
        <p:spPr>
          <a:xfrm>
            <a:off x="1879600" y="27813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3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A139DC5-8E57-45CE-B88A-06F2F6231058}"/>
              </a:ext>
            </a:extLst>
          </p:cNvPr>
          <p:cNvCxnSpPr/>
          <p:nvPr/>
        </p:nvCxnSpPr>
        <p:spPr>
          <a:xfrm>
            <a:off x="762000" y="30734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A1FD48-2B9B-4446-80B7-42D8648D778E}"/>
              </a:ext>
            </a:extLst>
          </p:cNvPr>
          <p:cNvSpPr txBox="1"/>
          <p:nvPr/>
        </p:nvSpPr>
        <p:spPr>
          <a:xfrm>
            <a:off x="762000" y="32004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Верных по теме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F43C60-692B-402E-9BD8-F27B1D65F05E}"/>
              </a:ext>
            </a:extLst>
          </p:cNvPr>
          <p:cNvSpPr txBox="1"/>
          <p:nvPr/>
        </p:nvSpPr>
        <p:spPr>
          <a:xfrm>
            <a:off x="1879600" y="32131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7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927AF71-68D4-4F12-A2B2-1AAD403E029B}"/>
              </a:ext>
            </a:extLst>
          </p:cNvPr>
          <p:cNvCxnSpPr/>
          <p:nvPr/>
        </p:nvCxnSpPr>
        <p:spPr>
          <a:xfrm>
            <a:off x="762000" y="35052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2848030-CD5E-4498-A1B5-2024230BAB6C}"/>
              </a:ext>
            </a:extLst>
          </p:cNvPr>
          <p:cNvSpPr txBox="1"/>
          <p:nvPr/>
        </p:nvSpPr>
        <p:spPr>
          <a:xfrm>
            <a:off x="762000" y="36322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Подвохов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C13169-B3B8-4573-B592-8840785E1156}"/>
              </a:ext>
            </a:extLst>
          </p:cNvPr>
          <p:cNvSpPr txBox="1"/>
          <p:nvPr/>
        </p:nvSpPr>
        <p:spPr>
          <a:xfrm>
            <a:off x="1879600" y="36449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2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B698E24-8E40-4F4E-85CE-074B9854F44C}"/>
              </a:ext>
            </a:extLst>
          </p:cNvPr>
          <p:cNvCxnSpPr/>
          <p:nvPr/>
        </p:nvCxnSpPr>
        <p:spPr>
          <a:xfrm>
            <a:off x="762000" y="39370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7E083E-374F-4E71-BF35-46E4371AB89B}"/>
              </a:ext>
            </a:extLst>
          </p:cNvPr>
          <p:cNvSpPr txBox="1"/>
          <p:nvPr/>
        </p:nvSpPr>
        <p:spPr>
          <a:xfrm>
            <a:off x="762000" y="40640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Вопрос в интервью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67FD2B-B8FE-4884-BFC5-FC52EF39E53C}"/>
              </a:ext>
            </a:extLst>
          </p:cNvPr>
          <p:cNvSpPr txBox="1"/>
          <p:nvPr/>
        </p:nvSpPr>
        <p:spPr>
          <a:xfrm>
            <a:off x="1879600" y="40767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12 с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65CC67CF-5C80-47C6-85B6-010BD36F6B57}"/>
              </a:ext>
            </a:extLst>
          </p:cNvPr>
          <p:cNvCxnSpPr/>
          <p:nvPr/>
        </p:nvCxnSpPr>
        <p:spPr>
          <a:xfrm>
            <a:off x="762000" y="43688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6139AF-2CBC-49B4-9C06-ADD9594A5AE1}"/>
              </a:ext>
            </a:extLst>
          </p:cNvPr>
          <p:cNvSpPr txBox="1"/>
          <p:nvPr/>
        </p:nvSpPr>
        <p:spPr>
          <a:xfrm>
            <a:off x="762000" y="44958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Тема от босса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EA6C54-2CAF-40DC-B02C-621105CBAC4A}"/>
              </a:ext>
            </a:extLst>
          </p:cNvPr>
          <p:cNvSpPr txBox="1"/>
          <p:nvPr/>
        </p:nvSpPr>
        <p:spPr>
          <a:xfrm>
            <a:off x="1879600" y="45085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названа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5193C3-ED3C-495E-A1ED-799725A3F7A5}"/>
              </a:ext>
            </a:extLst>
          </p:cNvPr>
          <p:cNvSpPr/>
          <p:nvPr/>
        </p:nvSpPr>
        <p:spPr>
          <a:xfrm>
            <a:off x="3251200" y="1270000"/>
            <a:ext cx="2489200" cy="3810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B557ACD-DE67-4772-A449-64279D30A329}"/>
              </a:ext>
            </a:extLst>
          </p:cNvPr>
          <p:cNvSpPr/>
          <p:nvPr/>
        </p:nvSpPr>
        <p:spPr>
          <a:xfrm>
            <a:off x="3251200" y="1270000"/>
            <a:ext cx="2489200" cy="431800"/>
          </a:xfrm>
          <a:prstGeom prst="rect">
            <a:avLst/>
          </a:prstGeom>
          <a:solidFill>
            <a:srgbClr val="D996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C62205-F646-45DD-B67A-203108C0EB58}"/>
              </a:ext>
            </a:extLst>
          </p:cNvPr>
          <p:cNvSpPr txBox="1"/>
          <p:nvPr/>
        </p:nvSpPr>
        <p:spPr>
          <a:xfrm>
            <a:off x="3365500" y="1390650"/>
            <a:ext cx="23114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 b="1">
                <a:solidFill>
                  <a:srgbClr val="241C16"/>
                </a:solidFill>
                <a:latin typeface="Courier New" panose="02070309020205020404" pitchFamily="49" charset="0"/>
              </a:rPr>
              <a:t>НОРМАЛЬНАЯ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66AC96-1DA3-4DCC-96A4-35A49FE38D3B}"/>
              </a:ext>
            </a:extLst>
          </p:cNvPr>
          <p:cNvSpPr txBox="1"/>
          <p:nvPr/>
        </p:nvSpPr>
        <p:spPr>
          <a:xfrm>
            <a:off x="3403600" y="19050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Время дня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30C108-9FD6-443D-9A63-4CF0E1244C1D}"/>
              </a:ext>
            </a:extLst>
          </p:cNvPr>
          <p:cNvSpPr txBox="1"/>
          <p:nvPr/>
        </p:nvSpPr>
        <p:spPr>
          <a:xfrm>
            <a:off x="4521200" y="19177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4:00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92AEB3E3-6794-419C-8EDF-104CF57AFBED}"/>
              </a:ext>
            </a:extLst>
          </p:cNvPr>
          <p:cNvCxnSpPr/>
          <p:nvPr/>
        </p:nvCxnSpPr>
        <p:spPr>
          <a:xfrm>
            <a:off x="3403600" y="22098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8739C7B-3B87-4EF1-B13D-F030E9778580}"/>
              </a:ext>
            </a:extLst>
          </p:cNvPr>
          <p:cNvSpPr txBox="1"/>
          <p:nvPr/>
        </p:nvSpPr>
        <p:spPr>
          <a:xfrm>
            <a:off x="3403600" y="23368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Газет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87A6CF-788D-4797-B0AC-919CB6B3BACA}"/>
              </a:ext>
            </a:extLst>
          </p:cNvPr>
          <p:cNvSpPr txBox="1"/>
          <p:nvPr/>
        </p:nvSpPr>
        <p:spPr>
          <a:xfrm>
            <a:off x="4521200" y="23495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5</a:t>
            </a: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52B019C7-4303-42B9-9390-47B095EB91CC}"/>
              </a:ext>
            </a:extLst>
          </p:cNvPr>
          <p:cNvCxnSpPr/>
          <p:nvPr/>
        </p:nvCxnSpPr>
        <p:spPr>
          <a:xfrm>
            <a:off x="3403600" y="26416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E279D9B-CF56-4517-9B35-19CC33C945A8}"/>
              </a:ext>
            </a:extLst>
          </p:cNvPr>
          <p:cNvSpPr txBox="1"/>
          <p:nvPr/>
        </p:nvSpPr>
        <p:spPr>
          <a:xfrm>
            <a:off x="3403600" y="27686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Звонков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214725-86A5-4C64-AAE3-C8453B745419}"/>
              </a:ext>
            </a:extLst>
          </p:cNvPr>
          <p:cNvSpPr txBox="1"/>
          <p:nvPr/>
        </p:nvSpPr>
        <p:spPr>
          <a:xfrm>
            <a:off x="4521200" y="27813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690F490B-C0C7-42B1-A343-EF4D9CB1497E}"/>
              </a:ext>
            </a:extLst>
          </p:cNvPr>
          <p:cNvCxnSpPr/>
          <p:nvPr/>
        </p:nvCxnSpPr>
        <p:spPr>
          <a:xfrm>
            <a:off x="3403600" y="30734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801FC97-DE0C-41BD-97C0-836BEA40210C}"/>
              </a:ext>
            </a:extLst>
          </p:cNvPr>
          <p:cNvSpPr txBox="1"/>
          <p:nvPr/>
        </p:nvSpPr>
        <p:spPr>
          <a:xfrm>
            <a:off x="3403600" y="32004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Верных по теме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4B5B35-A929-44EE-BAF7-E2968E6DE5AF}"/>
              </a:ext>
            </a:extLst>
          </p:cNvPr>
          <p:cNvSpPr txBox="1"/>
          <p:nvPr/>
        </p:nvSpPr>
        <p:spPr>
          <a:xfrm>
            <a:off x="4521200" y="32131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6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A1FE1E3B-A871-4625-96BA-597DCB142F4F}"/>
              </a:ext>
            </a:extLst>
          </p:cNvPr>
          <p:cNvCxnSpPr/>
          <p:nvPr/>
        </p:nvCxnSpPr>
        <p:spPr>
          <a:xfrm>
            <a:off x="3403600" y="35052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AE49526-37A1-4EAA-8F2C-9169728C4C99}"/>
              </a:ext>
            </a:extLst>
          </p:cNvPr>
          <p:cNvSpPr txBox="1"/>
          <p:nvPr/>
        </p:nvSpPr>
        <p:spPr>
          <a:xfrm>
            <a:off x="3403600" y="36322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Подвохов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F11E1A-DA08-47B8-BA08-D80C34693896}"/>
              </a:ext>
            </a:extLst>
          </p:cNvPr>
          <p:cNvSpPr txBox="1"/>
          <p:nvPr/>
        </p:nvSpPr>
        <p:spPr>
          <a:xfrm>
            <a:off x="4521200" y="36449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3</a:t>
            </a:r>
          </a:p>
        </p:txBody>
      </p: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C7FED42B-0D40-4429-BA51-BA7A516FE2A1}"/>
              </a:ext>
            </a:extLst>
          </p:cNvPr>
          <p:cNvCxnSpPr/>
          <p:nvPr/>
        </p:nvCxnSpPr>
        <p:spPr>
          <a:xfrm>
            <a:off x="3403600" y="39370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9567D92-7B1C-4166-BE71-473322FDB55F}"/>
              </a:ext>
            </a:extLst>
          </p:cNvPr>
          <p:cNvSpPr txBox="1"/>
          <p:nvPr/>
        </p:nvSpPr>
        <p:spPr>
          <a:xfrm>
            <a:off x="3403600" y="40640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Вопрос в интервью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388E0A-3DB7-4E12-BFD4-5E65FC2EC4D2}"/>
              </a:ext>
            </a:extLst>
          </p:cNvPr>
          <p:cNvSpPr txBox="1"/>
          <p:nvPr/>
        </p:nvSpPr>
        <p:spPr>
          <a:xfrm>
            <a:off x="4521200" y="40767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9 с</a:t>
            </a: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91245641-37B6-409D-A26B-8C31D2279969}"/>
              </a:ext>
            </a:extLst>
          </p:cNvPr>
          <p:cNvCxnSpPr/>
          <p:nvPr/>
        </p:nvCxnSpPr>
        <p:spPr>
          <a:xfrm>
            <a:off x="3403600" y="43688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445A24F-16CE-4836-8BE1-1B3A4D1185A1}"/>
              </a:ext>
            </a:extLst>
          </p:cNvPr>
          <p:cNvSpPr txBox="1"/>
          <p:nvPr/>
        </p:nvSpPr>
        <p:spPr>
          <a:xfrm>
            <a:off x="3403600" y="44958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Тема от босса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0429A9-CEC1-46B1-8F60-70E5D6BEC500}"/>
              </a:ext>
            </a:extLst>
          </p:cNvPr>
          <p:cNvSpPr txBox="1"/>
          <p:nvPr/>
        </p:nvSpPr>
        <p:spPr>
          <a:xfrm>
            <a:off x="4521200" y="45085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намёк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B51BD94-C0C4-47F3-897B-19F2E4943118}"/>
              </a:ext>
            </a:extLst>
          </p:cNvPr>
          <p:cNvSpPr/>
          <p:nvPr/>
        </p:nvSpPr>
        <p:spPr>
          <a:xfrm>
            <a:off x="5892800" y="1270000"/>
            <a:ext cx="2489200" cy="3810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A0516AD5-7056-4087-A063-202AE24C468A}"/>
              </a:ext>
            </a:extLst>
          </p:cNvPr>
          <p:cNvSpPr/>
          <p:nvPr/>
        </p:nvSpPr>
        <p:spPr>
          <a:xfrm>
            <a:off x="5892800" y="1270000"/>
            <a:ext cx="2489200" cy="431800"/>
          </a:xfrm>
          <a:prstGeom prst="rect">
            <a:avLst/>
          </a:prstGeom>
          <a:solidFill>
            <a:srgbClr val="7A31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B340A6-A705-466B-8743-3BCEA3593573}"/>
              </a:ext>
            </a:extLst>
          </p:cNvPr>
          <p:cNvSpPr txBox="1"/>
          <p:nvPr/>
        </p:nvSpPr>
        <p:spPr>
          <a:xfrm>
            <a:off x="6007100" y="1390650"/>
            <a:ext cx="23114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 b="1">
                <a:solidFill>
                  <a:srgbClr val="FFFFFF"/>
                </a:solidFill>
                <a:latin typeface="Courier New" panose="02070309020205020404" pitchFamily="49" charset="0"/>
              </a:rPr>
              <a:t>СЛОЖНАЯ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93FE7D-0CFE-4361-B656-4348E423C612}"/>
              </a:ext>
            </a:extLst>
          </p:cNvPr>
          <p:cNvSpPr txBox="1"/>
          <p:nvPr/>
        </p:nvSpPr>
        <p:spPr>
          <a:xfrm>
            <a:off x="6045200" y="19050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Время дня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7E22A5-8E42-444B-8B61-6D9C725BFF6C}"/>
              </a:ext>
            </a:extLst>
          </p:cNvPr>
          <p:cNvSpPr txBox="1"/>
          <p:nvPr/>
        </p:nvSpPr>
        <p:spPr>
          <a:xfrm>
            <a:off x="7162800" y="19177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3:10</a:t>
            </a:r>
          </a:p>
        </p:txBody>
      </p: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E507C104-80F5-40A5-8DA8-367F3635C873}"/>
              </a:ext>
            </a:extLst>
          </p:cNvPr>
          <p:cNvCxnSpPr/>
          <p:nvPr/>
        </p:nvCxnSpPr>
        <p:spPr>
          <a:xfrm>
            <a:off x="6045200" y="22098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E0ADA77-4321-4F44-BA70-A19FB949B149}"/>
              </a:ext>
            </a:extLst>
          </p:cNvPr>
          <p:cNvSpPr txBox="1"/>
          <p:nvPr/>
        </p:nvSpPr>
        <p:spPr>
          <a:xfrm>
            <a:off x="6045200" y="23368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Газет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649376-B793-40F9-8154-905D0E65890A}"/>
              </a:ext>
            </a:extLst>
          </p:cNvPr>
          <p:cNvSpPr txBox="1"/>
          <p:nvPr/>
        </p:nvSpPr>
        <p:spPr>
          <a:xfrm>
            <a:off x="7162800" y="23495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5</a:t>
            </a:r>
          </a:p>
        </p:txBody>
      </p: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7896B2F9-82F1-4F52-B2BD-23284F383CDC}"/>
              </a:ext>
            </a:extLst>
          </p:cNvPr>
          <p:cNvCxnSpPr/>
          <p:nvPr/>
        </p:nvCxnSpPr>
        <p:spPr>
          <a:xfrm>
            <a:off x="6045200" y="26416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C7871F2-6D6F-49FE-8895-4BC97F8CE5BA}"/>
              </a:ext>
            </a:extLst>
          </p:cNvPr>
          <p:cNvSpPr txBox="1"/>
          <p:nvPr/>
        </p:nvSpPr>
        <p:spPr>
          <a:xfrm>
            <a:off x="6045200" y="27686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Звонков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437A8A-7F7E-45C1-B8D2-E1B2BB37B8FF}"/>
              </a:ext>
            </a:extLst>
          </p:cNvPr>
          <p:cNvSpPr txBox="1"/>
          <p:nvPr/>
        </p:nvSpPr>
        <p:spPr>
          <a:xfrm>
            <a:off x="7162800" y="27813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ACAD93BB-E420-4921-8C81-599E888A811E}"/>
              </a:ext>
            </a:extLst>
          </p:cNvPr>
          <p:cNvCxnSpPr/>
          <p:nvPr/>
        </p:nvCxnSpPr>
        <p:spPr>
          <a:xfrm>
            <a:off x="6045200" y="30734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5FAC5DA-9E0F-4939-89CF-6369475FCC73}"/>
              </a:ext>
            </a:extLst>
          </p:cNvPr>
          <p:cNvSpPr txBox="1"/>
          <p:nvPr/>
        </p:nvSpPr>
        <p:spPr>
          <a:xfrm>
            <a:off x="6045200" y="32004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Верных по теме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E5F6F9-8980-4ACE-BD98-662EE4B73FA5}"/>
              </a:ext>
            </a:extLst>
          </p:cNvPr>
          <p:cNvSpPr txBox="1"/>
          <p:nvPr/>
        </p:nvSpPr>
        <p:spPr>
          <a:xfrm>
            <a:off x="7162800" y="32131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5</a:t>
            </a:r>
          </a:p>
        </p:txBody>
      </p: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DF971802-B03A-43C5-98B7-379AEE4950E6}"/>
              </a:ext>
            </a:extLst>
          </p:cNvPr>
          <p:cNvCxnSpPr/>
          <p:nvPr/>
        </p:nvCxnSpPr>
        <p:spPr>
          <a:xfrm>
            <a:off x="6045200" y="35052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7F0DC12-A0FF-4991-A741-25EE0FB9D788}"/>
              </a:ext>
            </a:extLst>
          </p:cNvPr>
          <p:cNvSpPr txBox="1"/>
          <p:nvPr/>
        </p:nvSpPr>
        <p:spPr>
          <a:xfrm>
            <a:off x="6045200" y="36322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Подвохов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0049CB-B3A8-429C-B486-273AF86AC489}"/>
              </a:ext>
            </a:extLst>
          </p:cNvPr>
          <p:cNvSpPr txBox="1"/>
          <p:nvPr/>
        </p:nvSpPr>
        <p:spPr>
          <a:xfrm>
            <a:off x="7162800" y="36449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4</a:t>
            </a:r>
          </a:p>
        </p:txBody>
      </p: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ECFA0A3F-7C7D-4A04-910D-8C79E25E71C9}"/>
              </a:ext>
            </a:extLst>
          </p:cNvPr>
          <p:cNvCxnSpPr/>
          <p:nvPr/>
        </p:nvCxnSpPr>
        <p:spPr>
          <a:xfrm>
            <a:off x="6045200" y="39370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5148D3-2E99-4888-BBCE-EDFF4269785D}"/>
              </a:ext>
            </a:extLst>
          </p:cNvPr>
          <p:cNvSpPr txBox="1"/>
          <p:nvPr/>
        </p:nvSpPr>
        <p:spPr>
          <a:xfrm>
            <a:off x="6045200" y="40640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Вопрос в интервью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45AEE6-47B8-4F7D-9AC5-9F164739DED6}"/>
              </a:ext>
            </a:extLst>
          </p:cNvPr>
          <p:cNvSpPr txBox="1"/>
          <p:nvPr/>
        </p:nvSpPr>
        <p:spPr>
          <a:xfrm>
            <a:off x="7162800" y="40767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6 с</a:t>
            </a:r>
          </a:p>
        </p:txBody>
      </p: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9849A92B-8576-41C8-8AC3-DAE8BA0DA7CF}"/>
              </a:ext>
            </a:extLst>
          </p:cNvPr>
          <p:cNvCxnSpPr/>
          <p:nvPr/>
        </p:nvCxnSpPr>
        <p:spPr>
          <a:xfrm>
            <a:off x="6045200" y="4368800"/>
            <a:ext cx="2184400" cy="0"/>
          </a:xfrm>
          <a:prstGeom prst="line">
            <a:avLst/>
          </a:prstGeom>
          <a:ln w="9525">
            <a:solidFill>
              <a:srgbClr val="B3A6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D2B7165-EB01-4074-8B52-4E2EFC083367}"/>
              </a:ext>
            </a:extLst>
          </p:cNvPr>
          <p:cNvSpPr txBox="1"/>
          <p:nvPr/>
        </p:nvSpPr>
        <p:spPr>
          <a:xfrm>
            <a:off x="6045200" y="4495800"/>
            <a:ext cx="1397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41C16"/>
                </a:solidFill>
                <a:latin typeface="Georgia" panose="02040502050405020303" pitchFamily="18" charset="0"/>
              </a:rPr>
              <a:t>Тема от босса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C06B94-01EE-4BFF-8AFD-0C29C7CC31D9}"/>
              </a:ext>
            </a:extLst>
          </p:cNvPr>
          <p:cNvSpPr txBox="1"/>
          <p:nvPr/>
        </p:nvSpPr>
        <p:spPr>
          <a:xfrm>
            <a:off x="7162800" y="4508500"/>
            <a:ext cx="1066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молчит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59F82F15-4117-4728-9D42-C29080439BFD}"/>
              </a:ext>
            </a:extLst>
          </p:cNvPr>
          <p:cNvSpPr/>
          <p:nvPr/>
        </p:nvSpPr>
        <p:spPr>
          <a:xfrm>
            <a:off x="8686800" y="1270000"/>
            <a:ext cx="2895600" cy="38100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FAC1F9-8CA8-4B2B-8FBC-4981CA3D4B83}"/>
              </a:ext>
            </a:extLst>
          </p:cNvPr>
          <p:cNvSpPr txBox="1"/>
          <p:nvPr/>
        </p:nvSpPr>
        <p:spPr>
          <a:xfrm>
            <a:off x="8915400" y="1498600"/>
            <a:ext cx="2413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E2B64C"/>
                </a:solidFill>
                <a:latin typeface="Courier New" panose="02070309020205020404" pitchFamily="49" charset="0"/>
              </a:rPr>
              <a:t>СОХРАНЕНИЕ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BE82F8-543E-45D0-BF12-FB2126B92139}"/>
              </a:ext>
            </a:extLst>
          </p:cNvPr>
          <p:cNvSpPr txBox="1"/>
          <p:nvPr/>
        </p:nvSpPr>
        <p:spPr>
          <a:xfrm>
            <a:off x="8915400" y="1828800"/>
            <a:ext cx="24638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2ECE0"/>
                </a:solidFill>
                <a:latin typeface="Georgia" panose="02040502050405020303" pitchFamily="18" charset="0"/>
              </a:rPr>
              <a:t>Прогресс сохраняется файлом между днями, а загружается в главном меню.</a:t>
            </a: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82EED64-806D-476A-93D3-F0F00D5A93F5}"/>
              </a:ext>
            </a:extLst>
          </p:cNvPr>
          <p:cNvSpPr/>
          <p:nvPr/>
        </p:nvSpPr>
        <p:spPr>
          <a:xfrm>
            <a:off x="8915400" y="2844800"/>
            <a:ext cx="2413000" cy="635000"/>
          </a:xfrm>
          <a:prstGeom prst="rect">
            <a:avLst/>
          </a:prstGeom>
          <a:solidFill>
            <a:srgbClr val="EADFC2"/>
          </a:solidFill>
          <a:ln w="19050">
            <a:solidFill>
              <a:srgbClr val="CFC2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32FEBA-57FF-4E61-A180-285B4B33D275}"/>
              </a:ext>
            </a:extLst>
          </p:cNvPr>
          <p:cNvSpPr txBox="1"/>
          <p:nvPr/>
        </p:nvSpPr>
        <p:spPr>
          <a:xfrm>
            <a:off x="8991600" y="2921000"/>
            <a:ext cx="22606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850" b="1">
                <a:solidFill>
                  <a:srgbClr val="241C16"/>
                </a:solidFill>
                <a:latin typeface="Courier New" panose="02070309020205020404" pitchFamily="49" charset="0"/>
              </a:rPr>
              <a:t>Инфоповодоинатор_Джон-Блохастый_день-3_нормальная.json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076AE2-569B-4121-AD8D-57275FE3DD1D}"/>
              </a:ext>
            </a:extLst>
          </p:cNvPr>
          <p:cNvSpPr txBox="1"/>
          <p:nvPr/>
        </p:nvSpPr>
        <p:spPr>
          <a:xfrm>
            <a:off x="8915400" y="3683000"/>
            <a:ext cx="24638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F2ECE0"/>
                </a:solidFill>
                <a:latin typeface="Georgia" panose="02040502050405020303" pitchFamily="18" charset="0"/>
              </a:rPr>
              <a:t>Контрольная сумма: вручную изменённый файл не загрузится.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4637EF-888C-490D-9F1A-711F605A0871}"/>
              </a:ext>
            </a:extLst>
          </p:cNvPr>
          <p:cNvSpPr txBox="1"/>
          <p:nvPr/>
        </p:nvSpPr>
        <p:spPr>
          <a:xfrm>
            <a:off x="609600" y="53848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CFC29C"/>
                </a:solidFill>
                <a:latin typeface="Georgia" panose="02040502050405020303" pitchFamily="18" charset="0"/>
              </a:rPr>
              <a:t>Глава длится пять дней, как рабочая неделя. Тема дня каждый раз новая, а число слотов на странице всегда четыре.</a:t>
            </a:r>
          </a:p>
        </p:txBody>
      </p:sp>
      <p:sp>
        <p:nvSpPr>
          <p:cNvPr id="80" name="slide-no">
            <a:extLst>
              <a:ext uri="{FF2B5EF4-FFF2-40B4-BE49-F238E27FC236}">
                <a16:creationId xmlns:a16="http://schemas.microsoft.com/office/drawing/2014/main" id="{92CE1B18-F00B-47C4-80E4-9889FC1940C8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154961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70F28-04E5-403F-B3F2-E15A39F4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Чистый браузер, без зависимостей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F5BDD-5172-47B4-BD2C-936948AB9E4C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СТЕК И КАЧЕСТВО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03AC5A-A966-4F5A-9001-A34348EC0809}"/>
              </a:ext>
            </a:extLst>
          </p:cNvPr>
          <p:cNvSpPr/>
          <p:nvPr/>
        </p:nvSpPr>
        <p:spPr>
          <a:xfrm>
            <a:off x="609600" y="1270000"/>
            <a:ext cx="2082800" cy="7112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69EF1-315A-421A-8A22-DC789D883200}"/>
              </a:ext>
            </a:extLst>
          </p:cNvPr>
          <p:cNvSpPr txBox="1"/>
          <p:nvPr/>
        </p:nvSpPr>
        <p:spPr>
          <a:xfrm>
            <a:off x="736600" y="1371600"/>
            <a:ext cx="187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241C16"/>
                </a:solidFill>
                <a:latin typeface="Courier New" panose="02070309020205020404" pitchFamily="49" charset="0"/>
              </a:rPr>
              <a:t>HTML5 + CSS3</a:t>
            </a:r>
            <a:endParaRPr lang="ru-RU" sz="1200" b="1">
              <a:solidFill>
                <a:srgbClr val="241C16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34BC6-85A6-44DA-9470-D185569502DB}"/>
              </a:ext>
            </a:extLst>
          </p:cNvPr>
          <p:cNvSpPr txBox="1"/>
          <p:nvPr/>
        </p:nvSpPr>
        <p:spPr>
          <a:xfrm>
            <a:off x="736600" y="1651000"/>
            <a:ext cx="1879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>
                <a:solidFill>
                  <a:srgbClr val="5B4C38"/>
                </a:solidFill>
                <a:latin typeface="Georgia" panose="02040502050405020303" pitchFamily="18" charset="0"/>
              </a:rPr>
              <a:t>без фреймворков и сборки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526C37D-E21B-4A28-9EBF-0352A1270070}"/>
              </a:ext>
            </a:extLst>
          </p:cNvPr>
          <p:cNvSpPr/>
          <p:nvPr/>
        </p:nvSpPr>
        <p:spPr>
          <a:xfrm>
            <a:off x="2832100" y="1270000"/>
            <a:ext cx="2082800" cy="7112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0DD8F-0831-4134-B8AA-64FE5E7D1CA2}"/>
              </a:ext>
            </a:extLst>
          </p:cNvPr>
          <p:cNvSpPr txBox="1"/>
          <p:nvPr/>
        </p:nvSpPr>
        <p:spPr>
          <a:xfrm>
            <a:off x="2959100" y="1371600"/>
            <a:ext cx="187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241C16"/>
                </a:solidFill>
                <a:latin typeface="Courier New" panose="02070309020205020404" pitchFamily="49" charset="0"/>
              </a:rPr>
              <a:t>JavaScript</a:t>
            </a:r>
            <a:endParaRPr lang="ru-RU" sz="1200" b="1">
              <a:solidFill>
                <a:srgbClr val="241C16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B05E1-CB11-4C36-BC5A-2BA6D35FF72E}"/>
              </a:ext>
            </a:extLst>
          </p:cNvPr>
          <p:cNvSpPr txBox="1"/>
          <p:nvPr/>
        </p:nvSpPr>
        <p:spPr>
          <a:xfrm>
            <a:off x="2959100" y="1651000"/>
            <a:ext cx="1879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>
                <a:solidFill>
                  <a:srgbClr val="5B4C38"/>
                </a:solidFill>
                <a:latin typeface="Georgia" panose="02040502050405020303" pitchFamily="18" charset="0"/>
              </a:rPr>
              <a:t>обычные скрипты, </a:t>
            </a:r>
            <a:r>
              <a:rPr lang="en-US" sz="1100">
                <a:solidFill>
                  <a:srgbClr val="5B4C38"/>
                </a:solidFill>
                <a:latin typeface="Georgia" panose="02040502050405020303" pitchFamily="18" charset="0"/>
              </a:rPr>
              <a:t>ES2017</a:t>
            </a:r>
            <a:endParaRPr lang="ru-RU" sz="1100">
              <a:solidFill>
                <a:srgbClr val="5B4C38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13C88D9-0A0F-4215-909F-86647EE320CD}"/>
              </a:ext>
            </a:extLst>
          </p:cNvPr>
          <p:cNvSpPr/>
          <p:nvPr/>
        </p:nvSpPr>
        <p:spPr>
          <a:xfrm>
            <a:off x="5054600" y="1270000"/>
            <a:ext cx="2082800" cy="7112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31C02-4864-4D61-9951-391C8B944549}"/>
              </a:ext>
            </a:extLst>
          </p:cNvPr>
          <p:cNvSpPr txBox="1"/>
          <p:nvPr/>
        </p:nvSpPr>
        <p:spPr>
          <a:xfrm>
            <a:off x="5181600" y="1371600"/>
            <a:ext cx="187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241C16"/>
                </a:solidFill>
                <a:latin typeface="Courier New" panose="02070309020205020404" pitchFamily="49" charset="0"/>
              </a:rPr>
              <a:t>Canvas 2D</a:t>
            </a:r>
            <a:endParaRPr lang="ru-RU" sz="1200" b="1">
              <a:solidFill>
                <a:srgbClr val="241C16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E3105-0A94-4FEE-B9B6-EF4CE0479D30}"/>
              </a:ext>
            </a:extLst>
          </p:cNvPr>
          <p:cNvSpPr txBox="1"/>
          <p:nvPr/>
        </p:nvSpPr>
        <p:spPr>
          <a:xfrm>
            <a:off x="5181600" y="1651000"/>
            <a:ext cx="1879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>
                <a:solidFill>
                  <a:srgbClr val="5B4C38"/>
                </a:solidFill>
                <a:latin typeface="Georgia" panose="02040502050405020303" pitchFamily="18" charset="0"/>
              </a:rPr>
              <a:t>пиксель-арт из кода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A84809-BC78-4047-9461-AD0DD7B77C81}"/>
              </a:ext>
            </a:extLst>
          </p:cNvPr>
          <p:cNvSpPr/>
          <p:nvPr/>
        </p:nvSpPr>
        <p:spPr>
          <a:xfrm>
            <a:off x="7277100" y="1270000"/>
            <a:ext cx="2082800" cy="7112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605483-5A38-426C-8370-2C27C70A069F}"/>
              </a:ext>
            </a:extLst>
          </p:cNvPr>
          <p:cNvSpPr txBox="1"/>
          <p:nvPr/>
        </p:nvSpPr>
        <p:spPr>
          <a:xfrm>
            <a:off x="7404100" y="1371600"/>
            <a:ext cx="187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241C16"/>
                </a:solidFill>
                <a:latin typeface="Courier New" panose="02070309020205020404" pitchFamily="49" charset="0"/>
              </a:rPr>
              <a:t>Web Audio</a:t>
            </a:r>
            <a:endParaRPr lang="ru-RU" sz="1200" b="1">
              <a:solidFill>
                <a:srgbClr val="241C16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EC2C8B-9339-494B-924B-CA5E131646D2}"/>
              </a:ext>
            </a:extLst>
          </p:cNvPr>
          <p:cNvSpPr txBox="1"/>
          <p:nvPr/>
        </p:nvSpPr>
        <p:spPr>
          <a:xfrm>
            <a:off x="7404100" y="1651000"/>
            <a:ext cx="1879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>
                <a:solidFill>
                  <a:srgbClr val="5B4C38"/>
                </a:solidFill>
                <a:latin typeface="Georgia" panose="02040502050405020303" pitchFamily="18" charset="0"/>
              </a:rPr>
              <a:t>музыка и звуки без файлов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5E6F90D-08E0-470B-A70B-593299B91EA5}"/>
              </a:ext>
            </a:extLst>
          </p:cNvPr>
          <p:cNvSpPr/>
          <p:nvPr/>
        </p:nvSpPr>
        <p:spPr>
          <a:xfrm>
            <a:off x="9499600" y="1270000"/>
            <a:ext cx="2082800" cy="711200"/>
          </a:xfrm>
          <a:prstGeom prst="rect">
            <a:avLst/>
          </a:prstGeom>
          <a:solidFill>
            <a:srgbClr val="EADFC2"/>
          </a:solidFill>
          <a:ln w="25400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05BBD1-323C-4BB6-B7B7-A7DDEA963A4D}"/>
              </a:ext>
            </a:extLst>
          </p:cNvPr>
          <p:cNvSpPr txBox="1"/>
          <p:nvPr/>
        </p:nvSpPr>
        <p:spPr>
          <a:xfrm>
            <a:off x="9626600" y="1371600"/>
            <a:ext cx="187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b="1">
                <a:solidFill>
                  <a:srgbClr val="241C16"/>
                </a:solidFill>
                <a:latin typeface="Courier New" panose="02070309020205020404" pitchFamily="49" charset="0"/>
              </a:rPr>
              <a:t>Своя физика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DBA68-8849-41BB-B629-457021CCA3AF}"/>
              </a:ext>
            </a:extLst>
          </p:cNvPr>
          <p:cNvSpPr txBox="1"/>
          <p:nvPr/>
        </p:nvSpPr>
        <p:spPr>
          <a:xfrm>
            <a:off x="9626600" y="1651000"/>
            <a:ext cx="1879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100">
                <a:solidFill>
                  <a:srgbClr val="5B4C38"/>
                </a:solidFill>
                <a:latin typeface="Georgia" panose="02040502050405020303" pitchFamily="18" charset="0"/>
              </a:rPr>
              <a:t>пружинная анимация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A084FD9-F724-4407-A1C9-27618E0BA61E}"/>
              </a:ext>
            </a:extLst>
          </p:cNvPr>
          <p:cNvSpPr/>
          <p:nvPr/>
        </p:nvSpPr>
        <p:spPr>
          <a:xfrm>
            <a:off x="609600" y="2387600"/>
            <a:ext cx="2590800" cy="19050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0FF860-927A-40C3-A29A-8F954ED66F66}"/>
              </a:ext>
            </a:extLst>
          </p:cNvPr>
          <p:cNvSpPr txBox="1"/>
          <p:nvPr/>
        </p:nvSpPr>
        <p:spPr>
          <a:xfrm>
            <a:off x="787400" y="2590800"/>
            <a:ext cx="228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>
                <a:solidFill>
                  <a:srgbClr val="E2B64C"/>
                </a:solidFill>
                <a:latin typeface="Courier New" panose="02070309020205020404" pitchFamily="49" charset="0"/>
              </a:rPr>
              <a:t>6000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477D8F-B5DC-4966-99C5-251C019114FF}"/>
              </a:ext>
            </a:extLst>
          </p:cNvPr>
          <p:cNvSpPr txBox="1"/>
          <p:nvPr/>
        </p:nvSpPr>
        <p:spPr>
          <a:xfrm>
            <a:off x="787400" y="3251200"/>
            <a:ext cx="22606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игровых дней прошёл автотест решаемости без единой ошибки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1167CC3-830F-4CD1-BA18-F1B00C6710FB}"/>
              </a:ext>
            </a:extLst>
          </p:cNvPr>
          <p:cNvSpPr/>
          <p:nvPr/>
        </p:nvSpPr>
        <p:spPr>
          <a:xfrm>
            <a:off x="3403600" y="2387600"/>
            <a:ext cx="2590800" cy="19050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30CF0E-DFE6-409F-BE28-1CF30016FBE7}"/>
              </a:ext>
            </a:extLst>
          </p:cNvPr>
          <p:cNvSpPr txBox="1"/>
          <p:nvPr/>
        </p:nvSpPr>
        <p:spPr>
          <a:xfrm>
            <a:off x="3581400" y="2590800"/>
            <a:ext cx="228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>
                <a:solidFill>
                  <a:srgbClr val="E2B64C"/>
                </a:solidFill>
                <a:latin typeface="Courier New" panose="02070309020205020404" pitchFamily="49" charset="0"/>
              </a:rPr>
              <a:t>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52C6-524E-4C50-A496-B4E1239FB473}"/>
              </a:ext>
            </a:extLst>
          </p:cNvPr>
          <p:cNvSpPr txBox="1"/>
          <p:nvPr/>
        </p:nvSpPr>
        <p:spPr>
          <a:xfrm>
            <a:off x="3581400" y="3251200"/>
            <a:ext cx="22606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кадров в секунду в замерах на тестовом ПК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C85DAAF-FDAD-44CA-9449-E7299A02636F}"/>
              </a:ext>
            </a:extLst>
          </p:cNvPr>
          <p:cNvSpPr/>
          <p:nvPr/>
        </p:nvSpPr>
        <p:spPr>
          <a:xfrm>
            <a:off x="6197600" y="2387600"/>
            <a:ext cx="2590800" cy="19050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76714E-052E-479F-9DA6-8A5086DB56D2}"/>
              </a:ext>
            </a:extLst>
          </p:cNvPr>
          <p:cNvSpPr txBox="1"/>
          <p:nvPr/>
        </p:nvSpPr>
        <p:spPr>
          <a:xfrm>
            <a:off x="6375400" y="2590800"/>
            <a:ext cx="228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>
                <a:solidFill>
                  <a:srgbClr val="E2B64C"/>
                </a:solidFill>
                <a:latin typeface="Courier New" panose="02070309020205020404" pitchFamily="49" charset="0"/>
              </a:rPr>
              <a:t>550 КБ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23B355-3B99-457E-9765-47DE4DEC9CE8}"/>
              </a:ext>
            </a:extLst>
          </p:cNvPr>
          <p:cNvSpPr txBox="1"/>
          <p:nvPr/>
        </p:nvSpPr>
        <p:spPr>
          <a:xfrm>
            <a:off x="6375400" y="3251200"/>
            <a:ext cx="22606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вся игра одним файлом для телефонов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4458AAD-937F-4DD4-AA02-0F257E870584}"/>
              </a:ext>
            </a:extLst>
          </p:cNvPr>
          <p:cNvSpPr/>
          <p:nvPr/>
        </p:nvSpPr>
        <p:spPr>
          <a:xfrm>
            <a:off x="8991600" y="2387600"/>
            <a:ext cx="2590800" cy="19050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F155F6-D554-40F4-B722-B887A8A59DD6}"/>
              </a:ext>
            </a:extLst>
          </p:cNvPr>
          <p:cNvSpPr txBox="1"/>
          <p:nvPr/>
        </p:nvSpPr>
        <p:spPr>
          <a:xfrm>
            <a:off x="9169400" y="2590800"/>
            <a:ext cx="228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200" b="1">
                <a:solidFill>
                  <a:srgbClr val="E2B64C"/>
                </a:solidFill>
                <a:latin typeface="Courier New" panose="02070309020205020404" pitchFamily="49" charset="0"/>
              </a:rPr>
              <a:t>203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3E7AF5-F9F6-4701-9708-819CD0FE69C0}"/>
              </a:ext>
            </a:extLst>
          </p:cNvPr>
          <p:cNvSpPr txBox="1"/>
          <p:nvPr/>
        </p:nvSpPr>
        <p:spPr>
          <a:xfrm>
            <a:off x="9169400" y="3251200"/>
            <a:ext cx="22606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новости в 14 темах, у каждой разбор и источник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CE7F67-4625-4463-AA40-7FB7D0520309}"/>
              </a:ext>
            </a:extLst>
          </p:cNvPr>
          <p:cNvSpPr txBox="1"/>
          <p:nvPr/>
        </p:nvSpPr>
        <p:spPr>
          <a:xfrm>
            <a:off x="609600" y="46482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CFC29C"/>
                </a:solidFill>
                <a:latin typeface="Georgia" panose="02040502050405020303" pitchFamily="18" charset="0"/>
              </a:rPr>
              <a:t>Разработка шла вместе с ИИ-помощником (Claude Code): требования, концепцию и приёмку задавала команда, код и тексты писались и проверялись вместе с ним.</a:t>
            </a:r>
          </a:p>
        </p:txBody>
      </p:sp>
      <p:sp>
        <p:nvSpPr>
          <p:cNvPr id="32" name="slide-no">
            <a:extLst>
              <a:ext uri="{FF2B5EF4-FFF2-40B4-BE49-F238E27FC236}">
                <a16:creationId xmlns:a16="http://schemas.microsoft.com/office/drawing/2014/main" id="{DD146E32-5DD3-4437-963B-E7C806FD36E7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359862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8C502-8770-4C0C-A224-610C1531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Новая тема — один объект данных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203D7-30C7-4C08-AB55-9669BF9F648A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МАСШТАБИРУЕМОСТЬ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88FCBF-66F3-4F70-9F80-6BFA58F1FB41}"/>
              </a:ext>
            </a:extLst>
          </p:cNvPr>
          <p:cNvSpPr/>
          <p:nvPr/>
        </p:nvSpPr>
        <p:spPr>
          <a:xfrm>
            <a:off x="609600" y="1270000"/>
            <a:ext cx="6477000" cy="2489200"/>
          </a:xfrm>
          <a:prstGeom prst="rect">
            <a:avLst/>
          </a:prstGeom>
          <a:solidFill>
            <a:srgbClr val="1A1511"/>
          </a:solidFill>
          <a:ln w="28575">
            <a:solidFill>
              <a:srgbClr val="F6EFD9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DDFF1-63C7-4ED7-BB6C-8FD96D04A436}"/>
              </a:ext>
            </a:extLst>
          </p:cNvPr>
          <p:cNvSpPr txBox="1"/>
          <p:nvPr/>
        </p:nvSpPr>
        <p:spPr>
          <a:xfrm>
            <a:off x="838200" y="1473200"/>
            <a:ext cx="6096000" cy="215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ru-RU" sz="1300" b="1">
                <a:solidFill>
                  <a:srgbClr val="8E8A7A"/>
                </a:solidFill>
                <a:latin typeface="Courier New" panose="02070309020205020404" pitchFamily="49" charset="0"/>
              </a:rPr>
              <a:t>// упрощённый пример новости в </a:t>
            </a:r>
            <a:r>
              <a:rPr lang="en-US" sz="1300" b="1">
                <a:solidFill>
                  <a:srgbClr val="8E8A7A"/>
                </a:solidFill>
                <a:latin typeface="Courier New" panose="02070309020205020404" pitchFamily="49" charset="0"/>
              </a:rPr>
              <a:t>js/content/groups.js</a:t>
            </a:r>
          </a:p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E8DCC0"/>
                </a:solidFill>
                <a:latin typeface="Courier New" panose="02070309020205020404" pitchFamily="49" charset="0"/>
              </a:rPr>
              <a:t>{ v: 1,                // 1 — </a:t>
            </a: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правда, 0 — ложь</a:t>
            </a:r>
          </a:p>
          <a:p>
            <a:pPr>
              <a:spcAft>
                <a:spcPts val="400"/>
              </a:spcAft>
            </a:pP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  </a:t>
            </a:r>
            <a:r>
              <a:rPr lang="en-US" sz="1300" b="1">
                <a:solidFill>
                  <a:srgbClr val="E8DCC0"/>
                </a:solidFill>
                <a:latin typeface="Courier New" panose="02070309020205020404" pitchFamily="49" charset="0"/>
              </a:rPr>
              <a:t>t: '</a:t>
            </a: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Валентина Терешкова стала первой…',</a:t>
            </a:r>
          </a:p>
          <a:p>
            <a:pPr>
              <a:spcAft>
                <a:spcPts val="400"/>
              </a:spcAft>
            </a:pP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  </a:t>
            </a:r>
            <a:r>
              <a:rPr lang="en-US" sz="1300" b="1">
                <a:solidFill>
                  <a:srgbClr val="E8DCC0"/>
                </a:solidFill>
                <a:latin typeface="Courier New" panose="02070309020205020404" pitchFamily="49" charset="0"/>
              </a:rPr>
              <a:t>why: '</a:t>
            </a: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Разбор для планёрки',</a:t>
            </a:r>
          </a:p>
          <a:p>
            <a:pPr>
              <a:spcAft>
                <a:spcPts val="400"/>
              </a:spcAft>
            </a:pP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  </a:t>
            </a:r>
            <a:r>
              <a:rPr lang="en-US" sz="1300" b="1">
                <a:solidFill>
                  <a:srgbClr val="E8DCC0"/>
                </a:solidFill>
                <a:latin typeface="Courier New" panose="02070309020205020404" pitchFamily="49" charset="0"/>
              </a:rPr>
              <a:t>src: '</a:t>
            </a: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Источник со ссылкой',</a:t>
            </a:r>
          </a:p>
          <a:p>
            <a:pPr>
              <a:spcAft>
                <a:spcPts val="400"/>
              </a:spcAft>
            </a:pP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  </a:t>
            </a:r>
            <a:r>
              <a:rPr lang="en-US" sz="1300" b="1">
                <a:solidFill>
                  <a:srgbClr val="E8DCC0"/>
                </a:solidFill>
                <a:latin typeface="Courier New" panose="02070309020205020404" pitchFamily="49" charset="0"/>
              </a:rPr>
              <a:t>ok: '</a:t>
            </a: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Верная подсказка',</a:t>
            </a:r>
          </a:p>
          <a:p>
            <a:pPr>
              <a:spcAft>
                <a:spcPts val="400"/>
              </a:spcAft>
            </a:pP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  </a:t>
            </a:r>
            <a:r>
              <a:rPr lang="en-US" sz="1300" b="1">
                <a:solidFill>
                  <a:srgbClr val="E8DCC0"/>
                </a:solidFill>
                <a:latin typeface="Courier New" panose="02070309020205020404" pitchFamily="49" charset="0"/>
              </a:rPr>
              <a:t>bad: '</a:t>
            </a:r>
            <a:r>
              <a:rPr lang="ru-RU" sz="1300" b="1">
                <a:solidFill>
                  <a:srgbClr val="E8DCC0"/>
                </a:solidFill>
                <a:latin typeface="Courier New" panose="02070309020205020404" pitchFamily="49" charset="0"/>
              </a:rPr>
              <a:t>Вводящая в заблуждение'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9BCD6-C5CC-431A-81F5-3BD51AA3F76A}"/>
              </a:ext>
            </a:extLst>
          </p:cNvPr>
          <p:cNvSpPr txBox="1"/>
          <p:nvPr/>
        </p:nvSpPr>
        <p:spPr>
          <a:xfrm>
            <a:off x="7569200" y="1320800"/>
            <a:ext cx="381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КУДА ДАЛЬШЕ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840E0-C529-4A35-87FA-80A733A5875B}"/>
              </a:ext>
            </a:extLst>
          </p:cNvPr>
          <p:cNvSpPr txBox="1"/>
          <p:nvPr/>
        </p:nvSpPr>
        <p:spPr>
          <a:xfrm>
            <a:off x="7569200" y="17526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A626C-FF88-491F-B10B-2A42EBD0EC1F}"/>
              </a:ext>
            </a:extLst>
          </p:cNvPr>
          <p:cNvSpPr txBox="1"/>
          <p:nvPr/>
        </p:nvSpPr>
        <p:spPr>
          <a:xfrm>
            <a:off x="7848600" y="1701800"/>
            <a:ext cx="3733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F2ECE0"/>
                </a:solidFill>
                <a:latin typeface="Georgia" panose="02040502050405020303" pitchFamily="18" charset="0"/>
              </a:rPr>
              <a:t>Больше тем: регион, кино, музыка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E34ED-4EC2-4B92-9C5A-537DFBD83F1F}"/>
              </a:ext>
            </a:extLst>
          </p:cNvPr>
          <p:cNvSpPr txBox="1"/>
          <p:nvPr/>
        </p:nvSpPr>
        <p:spPr>
          <a:xfrm>
            <a:off x="7569200" y="23622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BB3B5-2DF6-4D02-9733-222B567DCC23}"/>
              </a:ext>
            </a:extLst>
          </p:cNvPr>
          <p:cNvSpPr txBox="1"/>
          <p:nvPr/>
        </p:nvSpPr>
        <p:spPr>
          <a:xfrm>
            <a:off x="7848600" y="2311400"/>
            <a:ext cx="3733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F2ECE0"/>
                </a:solidFill>
                <a:latin typeface="Georgia" panose="02040502050405020303" pitchFamily="18" charset="0"/>
              </a:rPr>
              <a:t>Сюжет с выбором и новые звонящие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21114-294F-4353-B904-C4D73C405DF7}"/>
              </a:ext>
            </a:extLst>
          </p:cNvPr>
          <p:cNvSpPr txBox="1"/>
          <p:nvPr/>
        </p:nvSpPr>
        <p:spPr>
          <a:xfrm>
            <a:off x="7569200" y="29718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8DA68-ED40-4DD0-B0DE-03CD7D2B3F34}"/>
              </a:ext>
            </a:extLst>
          </p:cNvPr>
          <p:cNvSpPr txBox="1"/>
          <p:nvPr/>
        </p:nvSpPr>
        <p:spPr>
          <a:xfrm>
            <a:off x="7848600" y="2921000"/>
            <a:ext cx="3733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F2ECE0"/>
                </a:solidFill>
                <a:latin typeface="Georgia" panose="02040502050405020303" pitchFamily="18" charset="0"/>
              </a:rPr>
              <a:t>Ежедневные задания босса, таблица рекордов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4B640-B85F-48C2-81A5-D0A56F0C0BD8}"/>
              </a:ext>
            </a:extLst>
          </p:cNvPr>
          <p:cNvSpPr txBox="1"/>
          <p:nvPr/>
        </p:nvSpPr>
        <p:spPr>
          <a:xfrm>
            <a:off x="7569200" y="35814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30B95-807E-460B-9AB3-87A1A1802EE7}"/>
              </a:ext>
            </a:extLst>
          </p:cNvPr>
          <p:cNvSpPr txBox="1"/>
          <p:nvPr/>
        </p:nvSpPr>
        <p:spPr>
          <a:xfrm>
            <a:off x="7848600" y="3530600"/>
            <a:ext cx="3733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F2ECE0"/>
                </a:solidFill>
                <a:latin typeface="Georgia" panose="02040502050405020303" pitchFamily="18" charset="0"/>
              </a:rPr>
              <a:t>Озвучка героев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422535-832C-4F3A-9DB8-6E4C5689EB7E}"/>
              </a:ext>
            </a:extLst>
          </p:cNvPr>
          <p:cNvSpPr txBox="1"/>
          <p:nvPr/>
        </p:nvSpPr>
        <p:spPr>
          <a:xfrm>
            <a:off x="7569200" y="4191000"/>
            <a:ext cx="177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E2B64C"/>
                </a:solidFill>
                <a:latin typeface="Courier New" panose="02070309020205020404" pitchFamily="49" charset="0"/>
              </a:rPr>
              <a:t>▶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C59016-DB3A-4822-B9E4-FBE338A24533}"/>
              </a:ext>
            </a:extLst>
          </p:cNvPr>
          <p:cNvSpPr txBox="1"/>
          <p:nvPr/>
        </p:nvSpPr>
        <p:spPr>
          <a:xfrm>
            <a:off x="7848600" y="4140200"/>
            <a:ext cx="3733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F2ECE0"/>
                </a:solidFill>
                <a:latin typeface="Georgia" panose="02040502050405020303" pitchFamily="18" charset="0"/>
              </a:rPr>
              <a:t>Проверка на живых подростках</a:t>
            </a:r>
          </a:p>
        </p:txBody>
      </p:sp>
      <p:sp>
        <p:nvSpPr>
          <p:cNvPr id="17" name="slide-no">
            <a:extLst>
              <a:ext uri="{FF2B5EF4-FFF2-40B4-BE49-F238E27FC236}">
                <a16:creationId xmlns:a16="http://schemas.microsoft.com/office/drawing/2014/main" id="{C7D3605A-8532-4092-A309-27A1F68E89E4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3895225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D5AAA-00ED-4345-ABD8-9FED626F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Кто делал игру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7D577-C9BF-49C0-9A80-4C2284E83155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КОМАНДА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284310-A5AD-41E3-BC05-5D820EC56021}"/>
              </a:ext>
            </a:extLst>
          </p:cNvPr>
          <p:cNvSpPr/>
          <p:nvPr/>
        </p:nvSpPr>
        <p:spPr>
          <a:xfrm>
            <a:off x="609600" y="1320800"/>
            <a:ext cx="3556000" cy="21844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EC71C3-63CB-40C3-B874-E5669300B66D}"/>
              </a:ext>
            </a:extLst>
          </p:cNvPr>
          <p:cNvSpPr/>
          <p:nvPr/>
        </p:nvSpPr>
        <p:spPr>
          <a:xfrm>
            <a:off x="647700" y="1358900"/>
            <a:ext cx="1168400" cy="2108200"/>
          </a:xfrm>
          <a:prstGeom prst="rect">
            <a:avLst/>
          </a:prstGeom>
          <a:solidFill>
            <a:srgbClr val="CFC7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Картинка участника: Lozzix">
            <a:extLst>
              <a:ext uri="{FF2B5EF4-FFF2-40B4-BE49-F238E27FC236}">
                <a16:creationId xmlns:a16="http://schemas.microsoft.com/office/drawing/2014/main" id="{C5583914-873F-403F-94DC-20C9C0CA8A2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473200"/>
            <a:ext cx="1168400" cy="194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B41690-66FA-44CF-A14B-0346720E9EF1}"/>
              </a:ext>
            </a:extLst>
          </p:cNvPr>
          <p:cNvSpPr txBox="1"/>
          <p:nvPr/>
        </p:nvSpPr>
        <p:spPr>
          <a:xfrm>
            <a:off x="1981200" y="1498600"/>
            <a:ext cx="208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241C16"/>
                </a:solidFill>
                <a:latin typeface="Courier New" panose="02070309020205020404" pitchFamily="49" charset="0"/>
              </a:rPr>
              <a:t>Lozzix</a:t>
            </a:r>
            <a:endParaRPr lang="ru-RU" sz="1500" b="1">
              <a:solidFill>
                <a:srgbClr val="241C16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EBD7C-68BF-4B1E-810F-E2ACA49CA16F}"/>
              </a:ext>
            </a:extLst>
          </p:cNvPr>
          <p:cNvSpPr txBox="1"/>
          <p:nvPr/>
        </p:nvSpPr>
        <p:spPr>
          <a:xfrm>
            <a:off x="1981200" y="1879600"/>
            <a:ext cx="208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241C16"/>
                </a:solidFill>
                <a:latin typeface="Georgia" panose="02040502050405020303" pitchFamily="18" charset="0"/>
              </a:rPr>
              <a:t>Жуков Ярослав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C68A576-067E-4189-B9E5-4CCBEE71F206}"/>
              </a:ext>
            </a:extLst>
          </p:cNvPr>
          <p:cNvSpPr/>
          <p:nvPr/>
        </p:nvSpPr>
        <p:spPr>
          <a:xfrm>
            <a:off x="1981200" y="2743200"/>
            <a:ext cx="2082800" cy="584200"/>
          </a:xfrm>
          <a:prstGeom prst="rect">
            <a:avLst/>
          </a:prstGeom>
          <a:solidFill>
            <a:srgbClr val="C496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27174-2DFB-4987-A0EB-94C89E57CA6C}"/>
              </a:ext>
            </a:extLst>
          </p:cNvPr>
          <p:cNvSpPr txBox="1"/>
          <p:nvPr/>
        </p:nvSpPr>
        <p:spPr>
          <a:xfrm>
            <a:off x="2082800" y="2743200"/>
            <a:ext cx="1879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 b="1">
                <a:solidFill>
                  <a:srgbClr val="241C16"/>
                </a:solidFill>
                <a:latin typeface="Courier New" panose="02070309020205020404" pitchFamily="49" charset="0"/>
              </a:rPr>
              <a:t>Автор идеи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FCBD27-E615-4B8C-BA14-33C650659360}"/>
              </a:ext>
            </a:extLst>
          </p:cNvPr>
          <p:cNvSpPr/>
          <p:nvPr/>
        </p:nvSpPr>
        <p:spPr>
          <a:xfrm>
            <a:off x="4318000" y="1320800"/>
            <a:ext cx="3556000" cy="21844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1E20917-A8E2-453B-9551-AFB38C4AE1FC}"/>
              </a:ext>
            </a:extLst>
          </p:cNvPr>
          <p:cNvSpPr/>
          <p:nvPr/>
        </p:nvSpPr>
        <p:spPr>
          <a:xfrm>
            <a:off x="4356100" y="1358900"/>
            <a:ext cx="1168400" cy="2108200"/>
          </a:xfrm>
          <a:prstGeom prst="rect">
            <a:avLst/>
          </a:prstGeom>
          <a:solidFill>
            <a:srgbClr val="CFC7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EF2FF10-926B-4D91-B5BA-3791023188CF}"/>
              </a:ext>
            </a:extLst>
          </p:cNvPr>
          <p:cNvSpPr/>
          <p:nvPr/>
        </p:nvSpPr>
        <p:spPr>
          <a:xfrm>
            <a:off x="4711700" y="1701800"/>
            <a:ext cx="431800" cy="4318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2210139-A226-4229-A191-C8FEF210879D}"/>
              </a:ext>
            </a:extLst>
          </p:cNvPr>
          <p:cNvSpPr/>
          <p:nvPr/>
        </p:nvSpPr>
        <p:spPr>
          <a:xfrm>
            <a:off x="4533900" y="2235200"/>
            <a:ext cx="787400" cy="12319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BAEB2-122D-4F88-9326-787D769863DF}"/>
              </a:ext>
            </a:extLst>
          </p:cNvPr>
          <p:cNvSpPr txBox="1"/>
          <p:nvPr/>
        </p:nvSpPr>
        <p:spPr>
          <a:xfrm>
            <a:off x="5689600" y="1498600"/>
            <a:ext cx="208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241C16"/>
                </a:solidFill>
                <a:latin typeface="Courier New" panose="02070309020205020404" pitchFamily="49" charset="0"/>
              </a:rPr>
              <a:t>Quadrus</a:t>
            </a:r>
            <a:endParaRPr lang="ru-RU" sz="1500" b="1">
              <a:solidFill>
                <a:srgbClr val="241C16"/>
              </a:solidFill>
              <a:latin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F66F8-32EF-4C15-A2ED-C7CAA521B7B8}"/>
              </a:ext>
            </a:extLst>
          </p:cNvPr>
          <p:cNvSpPr txBox="1"/>
          <p:nvPr/>
        </p:nvSpPr>
        <p:spPr>
          <a:xfrm>
            <a:off x="5689600" y="1879600"/>
            <a:ext cx="208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241C16"/>
                </a:solidFill>
                <a:latin typeface="Georgia" panose="02040502050405020303" pitchFamily="18" charset="0"/>
              </a:rPr>
              <a:t>Ковалев Кирилл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3D83E4E-C3A1-4CCE-802B-B2F2912A78B9}"/>
              </a:ext>
            </a:extLst>
          </p:cNvPr>
          <p:cNvSpPr/>
          <p:nvPr/>
        </p:nvSpPr>
        <p:spPr>
          <a:xfrm>
            <a:off x="5689600" y="2743200"/>
            <a:ext cx="2082800" cy="584200"/>
          </a:xfrm>
          <a:prstGeom prst="rect">
            <a:avLst/>
          </a:prstGeom>
          <a:solidFill>
            <a:srgbClr val="3B5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5B2BC-CCCB-4B8E-90D7-ABFC2FEACF69}"/>
              </a:ext>
            </a:extLst>
          </p:cNvPr>
          <p:cNvSpPr txBox="1"/>
          <p:nvPr/>
        </p:nvSpPr>
        <p:spPr>
          <a:xfrm>
            <a:off x="5791200" y="2743200"/>
            <a:ext cx="1879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 b="1">
                <a:solidFill>
                  <a:srgbClr val="FFFFFF"/>
                </a:solidFill>
                <a:latin typeface="Courier New" panose="02070309020205020404" pitchFamily="49" charset="0"/>
              </a:rPr>
              <a:t>Капитан команды, бэкенд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0D0181D-7AA9-45A7-979D-18DBDD17FB43}"/>
              </a:ext>
            </a:extLst>
          </p:cNvPr>
          <p:cNvSpPr/>
          <p:nvPr/>
        </p:nvSpPr>
        <p:spPr>
          <a:xfrm>
            <a:off x="8026400" y="1320800"/>
            <a:ext cx="3556000" cy="21844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8326B42-9707-4BA3-8F03-E8CEEC7EFD2D}"/>
              </a:ext>
            </a:extLst>
          </p:cNvPr>
          <p:cNvSpPr/>
          <p:nvPr/>
        </p:nvSpPr>
        <p:spPr>
          <a:xfrm>
            <a:off x="8064500" y="1358900"/>
            <a:ext cx="1168400" cy="2108200"/>
          </a:xfrm>
          <a:prstGeom prst="rect">
            <a:avLst/>
          </a:prstGeom>
          <a:solidFill>
            <a:srgbClr val="CFC7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EEB692F-A1E4-4354-87F2-C2D13D611F05}"/>
              </a:ext>
            </a:extLst>
          </p:cNvPr>
          <p:cNvSpPr/>
          <p:nvPr/>
        </p:nvSpPr>
        <p:spPr>
          <a:xfrm>
            <a:off x="8420100" y="1701800"/>
            <a:ext cx="431800" cy="4318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474E85D-6C4A-4CAE-A970-A2AF5F8E8BCF}"/>
              </a:ext>
            </a:extLst>
          </p:cNvPr>
          <p:cNvSpPr/>
          <p:nvPr/>
        </p:nvSpPr>
        <p:spPr>
          <a:xfrm>
            <a:off x="8242300" y="2235200"/>
            <a:ext cx="787400" cy="12319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4E49A6-0738-40CD-8D94-5DFDC57EB2FC}"/>
              </a:ext>
            </a:extLst>
          </p:cNvPr>
          <p:cNvSpPr txBox="1"/>
          <p:nvPr/>
        </p:nvSpPr>
        <p:spPr>
          <a:xfrm>
            <a:off x="9398000" y="1498600"/>
            <a:ext cx="208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241C16"/>
                </a:solidFill>
                <a:latin typeface="Courier New" panose="02070309020205020404" pitchFamily="49" charset="0"/>
              </a:rPr>
              <a:t>KOTLETA</a:t>
            </a:r>
            <a:endParaRPr lang="ru-RU" sz="1500" b="1">
              <a:solidFill>
                <a:srgbClr val="241C16"/>
              </a:solidFill>
              <a:latin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0D7F0D-8078-4FA3-9C23-C57FA696321C}"/>
              </a:ext>
            </a:extLst>
          </p:cNvPr>
          <p:cNvSpPr txBox="1"/>
          <p:nvPr/>
        </p:nvSpPr>
        <p:spPr>
          <a:xfrm>
            <a:off x="9398000" y="1879600"/>
            <a:ext cx="208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241C16"/>
                </a:solidFill>
                <a:latin typeface="Georgia" panose="02040502050405020303" pitchFamily="18" charset="0"/>
              </a:rPr>
              <a:t>Шубин Фёдор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9E34382-C742-4E9B-A55C-C1B61C193BB3}"/>
              </a:ext>
            </a:extLst>
          </p:cNvPr>
          <p:cNvSpPr/>
          <p:nvPr/>
        </p:nvSpPr>
        <p:spPr>
          <a:xfrm>
            <a:off x="9398000" y="2743200"/>
            <a:ext cx="2082800" cy="584200"/>
          </a:xfrm>
          <a:prstGeom prst="rect">
            <a:avLst/>
          </a:prstGeom>
          <a:solidFill>
            <a:srgbClr val="3B5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997FDC-CE16-44F7-B574-88CB3FADDC89}"/>
              </a:ext>
            </a:extLst>
          </p:cNvPr>
          <p:cNvSpPr txBox="1"/>
          <p:nvPr/>
        </p:nvSpPr>
        <p:spPr>
          <a:xfrm>
            <a:off x="9499600" y="2743200"/>
            <a:ext cx="1879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 b="1">
                <a:solidFill>
                  <a:srgbClr val="FFFFFF"/>
                </a:solidFill>
                <a:latin typeface="Courier New" panose="02070309020205020404" pitchFamily="49" charset="0"/>
              </a:rPr>
              <a:t>Бэкенд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EFAE064-5065-4EA9-828E-203271BD45A2}"/>
              </a:ext>
            </a:extLst>
          </p:cNvPr>
          <p:cNvSpPr/>
          <p:nvPr/>
        </p:nvSpPr>
        <p:spPr>
          <a:xfrm>
            <a:off x="609600" y="3733800"/>
            <a:ext cx="3556000" cy="21844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2599056-8911-4657-B4DC-BACB6F8833E7}"/>
              </a:ext>
            </a:extLst>
          </p:cNvPr>
          <p:cNvSpPr/>
          <p:nvPr/>
        </p:nvSpPr>
        <p:spPr>
          <a:xfrm>
            <a:off x="647700" y="3771900"/>
            <a:ext cx="1168400" cy="2108200"/>
          </a:xfrm>
          <a:prstGeom prst="rect">
            <a:avLst/>
          </a:prstGeom>
          <a:solidFill>
            <a:srgbClr val="CFC7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7FF6E7B-5952-4DE2-B881-05D01810BCA6}"/>
              </a:ext>
            </a:extLst>
          </p:cNvPr>
          <p:cNvSpPr/>
          <p:nvPr/>
        </p:nvSpPr>
        <p:spPr>
          <a:xfrm>
            <a:off x="1003300" y="4114800"/>
            <a:ext cx="431800" cy="4318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8328824-6C2D-48ED-A7E1-6F6B94C71B94}"/>
              </a:ext>
            </a:extLst>
          </p:cNvPr>
          <p:cNvSpPr/>
          <p:nvPr/>
        </p:nvSpPr>
        <p:spPr>
          <a:xfrm>
            <a:off x="825500" y="4648200"/>
            <a:ext cx="787400" cy="12319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D93D0B-ABE5-42E0-9F72-864482537E24}"/>
              </a:ext>
            </a:extLst>
          </p:cNvPr>
          <p:cNvSpPr txBox="1"/>
          <p:nvPr/>
        </p:nvSpPr>
        <p:spPr>
          <a:xfrm>
            <a:off x="1981200" y="3911600"/>
            <a:ext cx="208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Courier New" panose="02070309020205020404" pitchFamily="49" charset="0"/>
              </a:rPr>
              <a:t>Сусанна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5AA76E-EA8F-4D70-AE12-8EF5C3AF9BA7}"/>
              </a:ext>
            </a:extLst>
          </p:cNvPr>
          <p:cNvSpPr txBox="1"/>
          <p:nvPr/>
        </p:nvSpPr>
        <p:spPr>
          <a:xfrm>
            <a:off x="1981200" y="4292600"/>
            <a:ext cx="208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ru-RU" sz="1400">
              <a:solidFill>
                <a:srgbClr val="241C16"/>
              </a:solidFill>
              <a:latin typeface="Georgia" panose="02040502050405020303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A4E54EB-C5BD-4F96-8A38-16E819D5C859}"/>
              </a:ext>
            </a:extLst>
          </p:cNvPr>
          <p:cNvSpPr/>
          <p:nvPr/>
        </p:nvSpPr>
        <p:spPr>
          <a:xfrm>
            <a:off x="1981200" y="5156200"/>
            <a:ext cx="2082800" cy="584200"/>
          </a:xfrm>
          <a:prstGeom prst="rect">
            <a:avLst/>
          </a:prstGeom>
          <a:solidFill>
            <a:srgbClr val="4D7A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8B569-7A88-4D1D-A516-6A8E73301B58}"/>
              </a:ext>
            </a:extLst>
          </p:cNvPr>
          <p:cNvSpPr txBox="1"/>
          <p:nvPr/>
        </p:nvSpPr>
        <p:spPr>
          <a:xfrm>
            <a:off x="2082800" y="5156200"/>
            <a:ext cx="1879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 b="1">
                <a:solidFill>
                  <a:srgbClr val="FFFFFF"/>
                </a:solidFill>
                <a:latin typeface="Courier New" panose="02070309020205020404" pitchFamily="49" charset="0"/>
              </a:rPr>
              <a:t>Презентация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B2CCFB8-B260-4043-8760-F51CFE8CB39B}"/>
              </a:ext>
            </a:extLst>
          </p:cNvPr>
          <p:cNvSpPr/>
          <p:nvPr/>
        </p:nvSpPr>
        <p:spPr>
          <a:xfrm>
            <a:off x="4318000" y="3733800"/>
            <a:ext cx="3556000" cy="21844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CA24830-90F9-4C18-8549-4BB0878D7F7F}"/>
              </a:ext>
            </a:extLst>
          </p:cNvPr>
          <p:cNvSpPr/>
          <p:nvPr/>
        </p:nvSpPr>
        <p:spPr>
          <a:xfrm>
            <a:off x="4356100" y="3771900"/>
            <a:ext cx="1168400" cy="2108200"/>
          </a:xfrm>
          <a:prstGeom prst="rect">
            <a:avLst/>
          </a:prstGeom>
          <a:solidFill>
            <a:srgbClr val="CFC7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0FA7B3A-32C4-4807-98A7-BC4922FFADB4}"/>
              </a:ext>
            </a:extLst>
          </p:cNvPr>
          <p:cNvSpPr/>
          <p:nvPr/>
        </p:nvSpPr>
        <p:spPr>
          <a:xfrm>
            <a:off x="4711700" y="4114800"/>
            <a:ext cx="431800" cy="4318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AB3815C7-A359-45F6-803E-D8C1B2F30508}"/>
              </a:ext>
            </a:extLst>
          </p:cNvPr>
          <p:cNvSpPr/>
          <p:nvPr/>
        </p:nvSpPr>
        <p:spPr>
          <a:xfrm>
            <a:off x="4533900" y="4648200"/>
            <a:ext cx="787400" cy="12319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ACADCF-037A-43B2-9C0D-683EE628EA75}"/>
              </a:ext>
            </a:extLst>
          </p:cNvPr>
          <p:cNvSpPr txBox="1"/>
          <p:nvPr/>
        </p:nvSpPr>
        <p:spPr>
          <a:xfrm>
            <a:off x="5689600" y="3911600"/>
            <a:ext cx="208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Courier New" panose="02070309020205020404" pitchFamily="49" charset="0"/>
              </a:rPr>
              <a:t>Аня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235DFF-3E75-43AA-9692-5005B63132A7}"/>
              </a:ext>
            </a:extLst>
          </p:cNvPr>
          <p:cNvSpPr txBox="1"/>
          <p:nvPr/>
        </p:nvSpPr>
        <p:spPr>
          <a:xfrm>
            <a:off x="5689600" y="4292600"/>
            <a:ext cx="208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ru-RU" sz="1400">
              <a:solidFill>
                <a:srgbClr val="241C16"/>
              </a:solidFill>
              <a:latin typeface="Georgia" panose="02040502050405020303" pitchFamily="18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08041B2-4770-43B5-BCDE-20B15DD25926}"/>
              </a:ext>
            </a:extLst>
          </p:cNvPr>
          <p:cNvSpPr/>
          <p:nvPr/>
        </p:nvSpPr>
        <p:spPr>
          <a:xfrm>
            <a:off x="5689600" y="5156200"/>
            <a:ext cx="2082800" cy="584200"/>
          </a:xfrm>
          <a:prstGeom prst="rect">
            <a:avLst/>
          </a:prstGeom>
          <a:solidFill>
            <a:srgbClr val="7A4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0D8F14-84E7-46F6-BE77-9A9F55A5464E}"/>
              </a:ext>
            </a:extLst>
          </p:cNvPr>
          <p:cNvSpPr txBox="1"/>
          <p:nvPr/>
        </p:nvSpPr>
        <p:spPr>
          <a:xfrm>
            <a:off x="5791200" y="5156200"/>
            <a:ext cx="1879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 b="1">
                <a:solidFill>
                  <a:srgbClr val="FFFFFF"/>
                </a:solidFill>
                <a:latin typeface="Courier New" panose="02070309020205020404" pitchFamily="49" charset="0"/>
              </a:rPr>
              <a:t>Дизайн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AE2AFE6-E54E-4BA2-8BF1-9157641EB56A}"/>
              </a:ext>
            </a:extLst>
          </p:cNvPr>
          <p:cNvSpPr/>
          <p:nvPr/>
        </p:nvSpPr>
        <p:spPr>
          <a:xfrm>
            <a:off x="8026400" y="3733800"/>
            <a:ext cx="3556000" cy="21844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EF18957-E921-47C8-8871-955FB940E178}"/>
              </a:ext>
            </a:extLst>
          </p:cNvPr>
          <p:cNvSpPr/>
          <p:nvPr/>
        </p:nvSpPr>
        <p:spPr>
          <a:xfrm>
            <a:off x="8064500" y="3771900"/>
            <a:ext cx="1168400" cy="2108200"/>
          </a:xfrm>
          <a:prstGeom prst="rect">
            <a:avLst/>
          </a:prstGeom>
          <a:solidFill>
            <a:srgbClr val="CFC7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60D69659-ED0D-48BE-9F7C-C899774C830F}"/>
              </a:ext>
            </a:extLst>
          </p:cNvPr>
          <p:cNvSpPr/>
          <p:nvPr/>
        </p:nvSpPr>
        <p:spPr>
          <a:xfrm>
            <a:off x="8420100" y="4114800"/>
            <a:ext cx="431800" cy="4318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D796F9A-32D6-43C9-BCAE-6F809FEA54F7}"/>
              </a:ext>
            </a:extLst>
          </p:cNvPr>
          <p:cNvSpPr/>
          <p:nvPr/>
        </p:nvSpPr>
        <p:spPr>
          <a:xfrm>
            <a:off x="8242300" y="4648200"/>
            <a:ext cx="787400" cy="1231900"/>
          </a:xfrm>
          <a:prstGeom prst="rect">
            <a:avLst/>
          </a:prstGeom>
          <a:solidFill>
            <a:srgbClr val="1D17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0AE6EA-708C-42E0-9FCD-472DAAF3C046}"/>
              </a:ext>
            </a:extLst>
          </p:cNvPr>
          <p:cNvSpPr txBox="1"/>
          <p:nvPr/>
        </p:nvSpPr>
        <p:spPr>
          <a:xfrm>
            <a:off x="9398000" y="3911600"/>
            <a:ext cx="208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241C16"/>
                </a:solidFill>
                <a:latin typeface="Courier New" panose="02070309020205020404" pitchFamily="49" charset="0"/>
              </a:rPr>
              <a:t>Ви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6073F9-1D19-48B4-892E-C030B3EE93BD}"/>
              </a:ext>
            </a:extLst>
          </p:cNvPr>
          <p:cNvSpPr txBox="1"/>
          <p:nvPr/>
        </p:nvSpPr>
        <p:spPr>
          <a:xfrm>
            <a:off x="9398000" y="4292600"/>
            <a:ext cx="208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ru-RU" sz="1400">
              <a:solidFill>
                <a:srgbClr val="241C16"/>
              </a:solidFill>
              <a:latin typeface="Georgia" panose="02040502050405020303" pitchFamily="18" charset="0"/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F7071103-97B3-4C74-8C2E-23CEEC62B09F}"/>
              </a:ext>
            </a:extLst>
          </p:cNvPr>
          <p:cNvSpPr/>
          <p:nvPr/>
        </p:nvSpPr>
        <p:spPr>
          <a:xfrm>
            <a:off x="9398000" y="5156200"/>
            <a:ext cx="2082800" cy="584200"/>
          </a:xfrm>
          <a:prstGeom prst="rect">
            <a:avLst/>
          </a:prstGeom>
          <a:solidFill>
            <a:srgbClr val="B839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2E45D9-1CDF-4069-8890-1E46515A11ED}"/>
              </a:ext>
            </a:extLst>
          </p:cNvPr>
          <p:cNvSpPr txBox="1"/>
          <p:nvPr/>
        </p:nvSpPr>
        <p:spPr>
          <a:xfrm>
            <a:off x="9499600" y="5156200"/>
            <a:ext cx="1879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 b="1">
                <a:solidFill>
                  <a:srgbClr val="FFFFFF"/>
                </a:solidFill>
                <a:latin typeface="Courier New" panose="02070309020205020404" pitchFamily="49" charset="0"/>
              </a:rPr>
              <a:t>Фронтенд</a:t>
            </a:r>
          </a:p>
        </p:txBody>
      </p:sp>
      <p:sp>
        <p:nvSpPr>
          <p:cNvPr id="52" name="slide-no">
            <a:extLst>
              <a:ext uri="{FF2B5EF4-FFF2-40B4-BE49-F238E27FC236}">
                <a16:creationId xmlns:a16="http://schemas.microsoft.com/office/drawing/2014/main" id="{B7568FCA-A230-49DF-B10E-254D3196C887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3006380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306E5-9A6B-45DC-BBE2-B2CF6CF4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Чем мы вдохновлялись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E6D7F-FABA-42BF-8914-FF62E34A6F96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РЕФЕРЕНСЫ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8DD132-5ECF-4F70-9C00-3E789FEC0CE5}"/>
              </a:ext>
            </a:extLst>
          </p:cNvPr>
          <p:cNvSpPr/>
          <p:nvPr/>
        </p:nvSpPr>
        <p:spPr>
          <a:xfrm>
            <a:off x="609600" y="1371600"/>
            <a:ext cx="3505200" cy="3937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6F9032-27B6-45B1-930D-652C106CA061}"/>
              </a:ext>
            </a:extLst>
          </p:cNvPr>
          <p:cNvSpPr/>
          <p:nvPr/>
        </p:nvSpPr>
        <p:spPr>
          <a:xfrm>
            <a:off x="609600" y="1371600"/>
            <a:ext cx="3505200" cy="304800"/>
          </a:xfrm>
          <a:prstGeom prst="rect">
            <a:avLst/>
          </a:prstGeom>
          <a:solidFill>
            <a:srgbClr val="3B5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298D0-63B3-4DB7-9B7E-E2CE78B41834}"/>
              </a:ext>
            </a:extLst>
          </p:cNvPr>
          <p:cNvSpPr txBox="1"/>
          <p:nvPr/>
        </p:nvSpPr>
        <p:spPr>
          <a:xfrm>
            <a:off x="723900" y="1444625"/>
            <a:ext cx="33274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Courier New" panose="02070309020205020404" pitchFamily="49" charset="0"/>
              </a:rPr>
              <a:t>UNDERTALE</a:t>
            </a:r>
            <a:endParaRPr lang="ru-RU" sz="1050" b="1">
              <a:solidFill>
                <a:srgbClr val="FFFFFF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C214F-753A-4C80-8DE7-3A9ED9BE2664}"/>
              </a:ext>
            </a:extLst>
          </p:cNvPr>
          <p:cNvSpPr txBox="1"/>
          <p:nvPr/>
        </p:nvSpPr>
        <p:spPr>
          <a:xfrm>
            <a:off x="812800" y="18796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6D5D44"/>
                </a:solidFill>
                <a:latin typeface="Courier New" panose="02070309020205020404" pitchFamily="49" charset="0"/>
              </a:rPr>
              <a:t>ВЗЯЛИ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26227-DD94-47CB-9B00-56201347E993}"/>
              </a:ext>
            </a:extLst>
          </p:cNvPr>
          <p:cNvSpPr txBox="1"/>
          <p:nvPr/>
        </p:nvSpPr>
        <p:spPr>
          <a:xfrm>
            <a:off x="812800" y="2108200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241C16"/>
                </a:solidFill>
                <a:latin typeface="Georgia" panose="02040502050405020303" pitchFamily="18" charset="0"/>
              </a:rPr>
              <a:t>диалоговое окно с побуквенным текстом и «голосом» героя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75D67-2038-4070-BD56-24BCC282A604}"/>
              </a:ext>
            </a:extLst>
          </p:cNvPr>
          <p:cNvSpPr txBox="1"/>
          <p:nvPr/>
        </p:nvSpPr>
        <p:spPr>
          <a:xfrm>
            <a:off x="812800" y="31750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6D5D44"/>
                </a:solidFill>
                <a:latin typeface="Courier New" panose="02070309020205020404" pitchFamily="49" charset="0"/>
              </a:rPr>
              <a:t>СДЕЛАЛИ СВОЁ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982D8-060D-4303-B335-C9A6733E555A}"/>
              </a:ext>
            </a:extLst>
          </p:cNvPr>
          <p:cNvSpPr txBox="1"/>
          <p:nvPr/>
        </p:nvSpPr>
        <p:spPr>
          <a:xfrm>
            <a:off x="812800" y="3403600"/>
            <a:ext cx="30988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241C16"/>
                </a:solidFill>
                <a:latin typeface="Georgia" panose="02040502050405020303" pitchFamily="18" charset="0"/>
              </a:rPr>
              <a:t>у каждого звонящего свой звук голоса, а характер слышно ещё до слов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1CC931-F7F8-423F-80CE-6EEDD62ACE16}"/>
              </a:ext>
            </a:extLst>
          </p:cNvPr>
          <p:cNvSpPr/>
          <p:nvPr/>
        </p:nvSpPr>
        <p:spPr>
          <a:xfrm>
            <a:off x="4343400" y="1371600"/>
            <a:ext cx="3505200" cy="3937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077E34-839A-4AEE-9ED6-53A4DACD41AE}"/>
              </a:ext>
            </a:extLst>
          </p:cNvPr>
          <p:cNvSpPr/>
          <p:nvPr/>
        </p:nvSpPr>
        <p:spPr>
          <a:xfrm>
            <a:off x="4343400" y="1371600"/>
            <a:ext cx="3505200" cy="304800"/>
          </a:xfrm>
          <a:prstGeom prst="rect">
            <a:avLst/>
          </a:prstGeom>
          <a:solidFill>
            <a:srgbClr val="B839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692CF-EDFE-4249-86B5-F4A4C47D81CD}"/>
              </a:ext>
            </a:extLst>
          </p:cNvPr>
          <p:cNvSpPr txBox="1"/>
          <p:nvPr/>
        </p:nvSpPr>
        <p:spPr>
          <a:xfrm>
            <a:off x="4457700" y="1444625"/>
            <a:ext cx="33274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Courier New" panose="02070309020205020404" pitchFamily="49" charset="0"/>
              </a:rPr>
              <a:t>INVENTORY INTERACTIONS</a:t>
            </a:r>
            <a:endParaRPr lang="ru-RU" sz="1050" b="1">
              <a:solidFill>
                <a:srgbClr val="FFFFFF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31E41C-E62D-4EC6-A8A1-007E7CB925AD}"/>
              </a:ext>
            </a:extLst>
          </p:cNvPr>
          <p:cNvSpPr txBox="1"/>
          <p:nvPr/>
        </p:nvSpPr>
        <p:spPr>
          <a:xfrm>
            <a:off x="4546600" y="18796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6D5D44"/>
                </a:solidFill>
                <a:latin typeface="Courier New" panose="02070309020205020404" pitchFamily="49" charset="0"/>
              </a:rPr>
              <a:t>ВЗЯЛИ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AA3D13-9E91-4A04-8CEC-3BC1C77E2087}"/>
              </a:ext>
            </a:extLst>
          </p:cNvPr>
          <p:cNvSpPr txBox="1"/>
          <p:nvPr/>
        </p:nvSpPr>
        <p:spPr>
          <a:xfrm>
            <a:off x="4546600" y="2108200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241C16"/>
                </a:solidFill>
                <a:latin typeface="Georgia" panose="02040502050405020303" pitchFamily="18" charset="0"/>
              </a:rPr>
              <a:t>плавное перетаскивание предметов, как в моде для Minecraft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351455-0676-4DD1-AD7E-8D1E154BF629}"/>
              </a:ext>
            </a:extLst>
          </p:cNvPr>
          <p:cNvSpPr txBox="1"/>
          <p:nvPr/>
        </p:nvSpPr>
        <p:spPr>
          <a:xfrm>
            <a:off x="4546600" y="31750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6D5D44"/>
                </a:solidFill>
                <a:latin typeface="Courier New" panose="02070309020205020404" pitchFamily="49" charset="0"/>
              </a:rPr>
              <a:t>СДЕЛАЛИ СВОЁ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E0C61-CF06-4D71-85FB-06B33A683A3D}"/>
              </a:ext>
            </a:extLst>
          </p:cNvPr>
          <p:cNvSpPr txBox="1"/>
          <p:nvPr/>
        </p:nvSpPr>
        <p:spPr>
          <a:xfrm>
            <a:off x="4546600" y="3403600"/>
            <a:ext cx="30988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241C16"/>
                </a:solidFill>
                <a:latin typeface="Georgia" panose="02040502050405020303" pitchFamily="18" charset="0"/>
              </a:rPr>
              <a:t>собственная пружинная физика: газета наклоняется в руке, прочитанные выдвигаются веером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3003276-3EE8-4B14-96F0-4AD02A642F6D}"/>
              </a:ext>
            </a:extLst>
          </p:cNvPr>
          <p:cNvSpPr/>
          <p:nvPr/>
        </p:nvSpPr>
        <p:spPr>
          <a:xfrm>
            <a:off x="8077200" y="1371600"/>
            <a:ext cx="3505200" cy="3937000"/>
          </a:xfrm>
          <a:prstGeom prst="rect">
            <a:avLst/>
          </a:prstGeom>
          <a:solidFill>
            <a:srgbClr val="EADFC2"/>
          </a:solidFill>
          <a:ln w="28575">
            <a:solidFill>
              <a:srgbClr val="241C16"/>
            </a:solidFill>
          </a:ln>
          <a:effectLst>
            <a:outerShdw dist="62862" dir="2699988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233ECB7-80DA-402B-9091-5CEB60487886}"/>
              </a:ext>
            </a:extLst>
          </p:cNvPr>
          <p:cNvSpPr/>
          <p:nvPr/>
        </p:nvSpPr>
        <p:spPr>
          <a:xfrm>
            <a:off x="8077200" y="1371600"/>
            <a:ext cx="3505200" cy="304800"/>
          </a:xfrm>
          <a:prstGeom prst="rect">
            <a:avLst/>
          </a:prstGeom>
          <a:solidFill>
            <a:srgbClr val="7A4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531D9A-395E-49DF-A76B-3C67C3328CBB}"/>
              </a:ext>
            </a:extLst>
          </p:cNvPr>
          <p:cNvSpPr txBox="1"/>
          <p:nvPr/>
        </p:nvSpPr>
        <p:spPr>
          <a:xfrm>
            <a:off x="8191500" y="1444625"/>
            <a:ext cx="33274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Courier New" panose="02070309020205020404" pitchFamily="49" charset="0"/>
              </a:rPr>
              <a:t>PAPERS, PLEASE</a:t>
            </a:r>
            <a:endParaRPr lang="ru-RU" sz="1050" b="1">
              <a:solidFill>
                <a:srgbClr val="FFFFFF"/>
              </a:solidFill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446E0-525C-4278-AA32-678E2BD63DE5}"/>
              </a:ext>
            </a:extLst>
          </p:cNvPr>
          <p:cNvSpPr txBox="1"/>
          <p:nvPr/>
        </p:nvSpPr>
        <p:spPr>
          <a:xfrm>
            <a:off x="8280400" y="18796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6D5D44"/>
                </a:solidFill>
                <a:latin typeface="Courier New" panose="02070309020205020404" pitchFamily="49" charset="0"/>
              </a:rPr>
              <a:t>ОБЩЕЕ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A27209-4408-4580-8950-07610C903257}"/>
              </a:ext>
            </a:extLst>
          </p:cNvPr>
          <p:cNvSpPr txBox="1"/>
          <p:nvPr/>
        </p:nvSpPr>
        <p:spPr>
          <a:xfrm>
            <a:off x="8280400" y="2108200"/>
            <a:ext cx="30988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241C16"/>
                </a:solidFill>
                <a:latin typeface="Georgia" panose="02040502050405020303" pitchFamily="18" charset="0"/>
              </a:rPr>
              <a:t>работа за столом с документами и давление времени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7675D-C5BE-42EA-AB04-6E3C9C3ED015}"/>
              </a:ext>
            </a:extLst>
          </p:cNvPr>
          <p:cNvSpPr txBox="1"/>
          <p:nvPr/>
        </p:nvSpPr>
        <p:spPr>
          <a:xfrm>
            <a:off x="8280400" y="31750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b="1">
                <a:solidFill>
                  <a:srgbClr val="6D5D44"/>
                </a:solidFill>
                <a:latin typeface="Courier New" panose="02070309020205020404" pitchFamily="49" charset="0"/>
              </a:rPr>
              <a:t>СДЕЛАЛИ СВОЁ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CE9E65-636B-42F1-B170-36F54505CAE8}"/>
              </a:ext>
            </a:extLst>
          </p:cNvPr>
          <p:cNvSpPr txBox="1"/>
          <p:nvPr/>
        </p:nvSpPr>
        <p:spPr>
          <a:xfrm>
            <a:off x="8280400" y="3403600"/>
            <a:ext cx="30988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241C16"/>
                </a:solidFill>
                <a:latin typeface="Georgia" panose="02040502050405020303" pitchFamily="18" charset="0"/>
              </a:rPr>
              <a:t>не «пропустить или отказать», а проверить факт и сложить из проверенного заметку</a:t>
            </a:r>
          </a:p>
        </p:txBody>
      </p:sp>
      <p:sp>
        <p:nvSpPr>
          <p:cNvPr id="25" name="slide-no">
            <a:extLst>
              <a:ext uri="{FF2B5EF4-FFF2-40B4-BE49-F238E27FC236}">
                <a16:creationId xmlns:a16="http://schemas.microsoft.com/office/drawing/2014/main" id="{0CA5C312-CF9F-4B1F-95E2-B97E35BF5B24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094633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1F6A1-DAED-4925-B7CA-447B3C81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Попробуйте сами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12131-29DD-4C03-814C-400FC04EA304}"/>
              </a:ext>
            </a:extLst>
          </p:cNvPr>
          <p:cNvSpPr txBox="1"/>
          <p:nvPr/>
        </p:nvSpPr>
        <p:spPr>
          <a:xfrm>
            <a:off x="609600" y="279400"/>
            <a:ext cx="889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ИГРАЙТЕ</a:t>
            </a:r>
          </a:p>
        </p:txBody>
      </p:sp>
      <p:pic>
        <p:nvPicPr>
          <p:cNvPr id="5" name="Рисунок 4" descr="QR-код: http://84.21.191.32/">
            <a:extLst>
              <a:ext uri="{FF2B5EF4-FFF2-40B4-BE49-F238E27FC236}">
                <a16:creationId xmlns:a16="http://schemas.microsoft.com/office/drawing/2014/main" id="{DD40B52B-64C3-477E-A937-CCE6A775CB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20800"/>
            <a:ext cx="2590800" cy="2590800"/>
          </a:xfrm>
          <a:prstGeom prst="rect">
            <a:avLst/>
          </a:prstGeom>
          <a:ln w="5080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231422-ABA9-4D23-83F0-4260EC6900E3}"/>
              </a:ext>
            </a:extLst>
          </p:cNvPr>
          <p:cNvSpPr txBox="1"/>
          <p:nvPr/>
        </p:nvSpPr>
        <p:spPr>
          <a:xfrm>
            <a:off x="609600" y="4470400"/>
            <a:ext cx="26416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50" b="1">
                <a:solidFill>
                  <a:srgbClr val="F2ECE0"/>
                </a:solidFill>
                <a:latin typeface="Courier New" panose="02070309020205020404" pitchFamily="49" charset="0"/>
              </a:rPr>
              <a:t>84.21.191.32/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7DC9E-AF98-481E-BFAA-1F49E4D2E6A0}"/>
              </a:ext>
            </a:extLst>
          </p:cNvPr>
          <p:cNvSpPr txBox="1"/>
          <p:nvPr/>
        </p:nvSpPr>
        <p:spPr>
          <a:xfrm>
            <a:off x="609600" y="4089400"/>
            <a:ext cx="259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2B64C"/>
                </a:solidFill>
                <a:latin typeface="Courier New" panose="02070309020205020404" pitchFamily="49" charset="0"/>
              </a:rPr>
              <a:t>ИГРА</a:t>
            </a:r>
          </a:p>
        </p:txBody>
      </p:sp>
      <p:pic>
        <p:nvPicPr>
          <p:cNvPr id="9" name="Рисунок 8" descr="QR-код: https://github.com/Lozzix0/-">
            <a:extLst>
              <a:ext uri="{FF2B5EF4-FFF2-40B4-BE49-F238E27FC236}">
                <a16:creationId xmlns:a16="http://schemas.microsoft.com/office/drawing/2014/main" id="{A36B27FB-7605-4571-89D8-280DE182455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1320800"/>
            <a:ext cx="2590800" cy="2590800"/>
          </a:xfrm>
          <a:prstGeom prst="rect">
            <a:avLst/>
          </a:prstGeom>
          <a:ln w="5080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D5776C-C92C-4289-BDB6-6356EB0A67C2}"/>
              </a:ext>
            </a:extLst>
          </p:cNvPr>
          <p:cNvSpPr txBox="1"/>
          <p:nvPr/>
        </p:nvSpPr>
        <p:spPr>
          <a:xfrm>
            <a:off x="3454400" y="4470400"/>
            <a:ext cx="26416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2ECE0"/>
                </a:solidFill>
                <a:latin typeface="Courier New" panose="02070309020205020404" pitchFamily="49" charset="0"/>
              </a:rPr>
              <a:t>github.com/Lozzix0/-</a:t>
            </a:r>
            <a:endParaRPr lang="ru-RU" sz="1050" b="1">
              <a:solidFill>
                <a:srgbClr val="F2ECE0"/>
              </a:solidFill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41B3AC-0A60-4094-90C6-FAA0FFD65048}"/>
              </a:ext>
            </a:extLst>
          </p:cNvPr>
          <p:cNvSpPr txBox="1"/>
          <p:nvPr/>
        </p:nvSpPr>
        <p:spPr>
          <a:xfrm>
            <a:off x="3454400" y="4089400"/>
            <a:ext cx="259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2B64C"/>
                </a:solidFill>
                <a:latin typeface="Courier New" panose="02070309020205020404" pitchFamily="49" charset="0"/>
              </a:rPr>
              <a:t>КОД</a:t>
            </a:r>
          </a:p>
        </p:txBody>
      </p:sp>
      <p:pic>
        <p:nvPicPr>
          <p:cNvPr id="13" name="Рисунок 12" descr="QR-код: http://84.21.191.32/presentation/index.html">
            <a:extLst>
              <a:ext uri="{FF2B5EF4-FFF2-40B4-BE49-F238E27FC236}">
                <a16:creationId xmlns:a16="http://schemas.microsoft.com/office/drawing/2014/main" id="{E57DB2A3-4862-431B-B7AF-F83B4DA4AF5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1320800"/>
            <a:ext cx="2590800" cy="2590800"/>
          </a:xfrm>
          <a:prstGeom prst="rect">
            <a:avLst/>
          </a:prstGeom>
          <a:ln w="50800">
            <a:solidFill>
              <a:srgbClr val="F6EFD9"/>
            </a:solidFill>
          </a:ln>
          <a:effectLst>
            <a:outerShdw dist="71842" dir="2700013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7BB67C-4A83-4D62-B833-469BFB7D684E}"/>
              </a:ext>
            </a:extLst>
          </p:cNvPr>
          <p:cNvSpPr txBox="1"/>
          <p:nvPr/>
        </p:nvSpPr>
        <p:spPr>
          <a:xfrm>
            <a:off x="6299200" y="4470400"/>
            <a:ext cx="26416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2ECE0"/>
                </a:solidFill>
                <a:latin typeface="Courier New" panose="02070309020205020404" pitchFamily="49" charset="0"/>
              </a:rPr>
              <a:t>84.21.191.32/presentation/index.html</a:t>
            </a:r>
            <a:endParaRPr lang="ru-RU" sz="1050" b="1">
              <a:solidFill>
                <a:srgbClr val="F2ECE0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020A11-461B-4A58-AF12-E1E485DCF7CE}"/>
              </a:ext>
            </a:extLst>
          </p:cNvPr>
          <p:cNvSpPr txBox="1"/>
          <p:nvPr/>
        </p:nvSpPr>
        <p:spPr>
          <a:xfrm>
            <a:off x="6299200" y="4089400"/>
            <a:ext cx="259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 b="1">
                <a:solidFill>
                  <a:srgbClr val="E2B64C"/>
                </a:solidFill>
                <a:latin typeface="Courier New" panose="02070309020205020404" pitchFamily="49" charset="0"/>
              </a:rPr>
              <a:t>ПРЕЗЕНТАЦИЯ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6DC3A9-BC37-4EC5-A9C8-45FC3F846701}"/>
              </a:ext>
            </a:extLst>
          </p:cNvPr>
          <p:cNvSpPr txBox="1"/>
          <p:nvPr/>
        </p:nvSpPr>
        <p:spPr>
          <a:xfrm>
            <a:off x="609600" y="5334000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CFC29C"/>
                </a:solidFill>
                <a:latin typeface="Georgia" panose="02040502050405020303" pitchFamily="18" charset="0"/>
              </a:rPr>
              <a:t>Наведите камеру телефона на нужный код: игра открывается сразу, регистрация не нужна.</a:t>
            </a:r>
          </a:p>
        </p:txBody>
      </p:sp>
      <p:pic>
        <p:nvPicPr>
          <p:cNvPr id="18" name="Рисунок 17" descr="Логотип ИнфоповодоИнатор">
            <a:extLst>
              <a:ext uri="{FF2B5EF4-FFF2-40B4-BE49-F238E27FC236}">
                <a16:creationId xmlns:a16="http://schemas.microsoft.com/office/drawing/2014/main" id="{21BE05BA-712F-4B2C-87FE-F913309A5EE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1270000"/>
            <a:ext cx="2489200" cy="635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7558FA-6E58-4CF8-8B61-B24A2DF5A9EA}"/>
              </a:ext>
            </a:extLst>
          </p:cNvPr>
          <p:cNvSpPr txBox="1"/>
          <p:nvPr/>
        </p:nvSpPr>
        <p:spPr>
          <a:xfrm>
            <a:off x="9093200" y="2159000"/>
            <a:ext cx="2489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Спасибо! Регистрация не нужна, телефон лучше держать горизонтально.</a:t>
            </a:r>
          </a:p>
        </p:txBody>
      </p:sp>
      <p:sp>
        <p:nvSpPr>
          <p:cNvPr id="20" name="slide-no">
            <a:extLst>
              <a:ext uri="{FF2B5EF4-FFF2-40B4-BE49-F238E27FC236}">
                <a16:creationId xmlns:a16="http://schemas.microsoft.com/office/drawing/2014/main" id="{B8A1894A-5277-49AE-A2E4-972912FFBA48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3006126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Огромный тёмный силуэт доктора ФуфелСмерча над ошибкой 404">
            <a:extLst>
              <a:ext uri="{FF2B5EF4-FFF2-40B4-BE49-F238E27FC236}">
                <a16:creationId xmlns:a16="http://schemas.microsoft.com/office/drawing/2014/main" id="{60FFC3EC-8308-4373-8DF6-731E5F0990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CBCB6-5295-42DD-8E76-B2D78A88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685800"/>
          </a:xfrm>
        </p:spPr>
        <p:txBody>
          <a:bodyPr/>
          <a:lstStyle/>
          <a:p>
            <a:r>
              <a:rPr lang="ru-RU"/>
              <a:t>Вопросы?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72329-1FA2-4A34-8C75-5172E84EF184}"/>
              </a:ext>
            </a:extLst>
          </p:cNvPr>
          <p:cNvSpPr txBox="1"/>
          <p:nvPr/>
        </p:nvSpPr>
        <p:spPr>
          <a:xfrm>
            <a:off x="609600" y="304800"/>
            <a:ext cx="3810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="1">
                <a:solidFill>
                  <a:srgbClr val="CFC29C"/>
                </a:solidFill>
                <a:latin typeface="Courier New" panose="02070309020205020404" pitchFamily="49" charset="0"/>
              </a:rPr>
              <a:t>КОНЕЦ</a:t>
            </a:r>
          </a:p>
        </p:txBody>
      </p:sp>
      <p:pic>
        <p:nvPicPr>
          <p:cNvPr id="7" name="Рисунок 6" descr="Надпись 404 NOT FOUND">
            <a:extLst>
              <a:ext uri="{FF2B5EF4-FFF2-40B4-BE49-F238E27FC236}">
                <a16:creationId xmlns:a16="http://schemas.microsoft.com/office/drawing/2014/main" id="{FE9FDE5D-1E41-4B87-B5A9-ABB43EFF6EC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22400"/>
            <a:ext cx="4699000" cy="228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46AF9-8E1F-4D49-8E11-90A611D8D588}"/>
              </a:ext>
            </a:extLst>
          </p:cNvPr>
          <p:cNvSpPr txBox="1"/>
          <p:nvPr/>
        </p:nvSpPr>
        <p:spPr>
          <a:xfrm>
            <a:off x="635000" y="3886200"/>
            <a:ext cx="3810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F2ECE0"/>
                </a:solidFill>
                <a:latin typeface="Georgia" panose="02040502050405020303" pitchFamily="18" charset="0"/>
              </a:rPr>
              <a:t>Страница не найдена. Зато найдутся ответы на ваши вопросы.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DA33B-EB0E-4157-9F6F-C862379F368E}"/>
              </a:ext>
            </a:extLst>
          </p:cNvPr>
          <p:cNvSpPr txBox="1"/>
          <p:nvPr/>
        </p:nvSpPr>
        <p:spPr>
          <a:xfrm>
            <a:off x="635000" y="4724400"/>
            <a:ext cx="381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 i="1">
                <a:solidFill>
                  <a:srgbClr val="FF8A78"/>
                </a:solidFill>
                <a:latin typeface="Georgia" panose="02040502050405020303" pitchFamily="18" charset="0"/>
              </a:rPr>
              <a:t>Доктор ФуфелСмерч уже ищет виноватых.</a:t>
            </a:r>
          </a:p>
        </p:txBody>
      </p:sp>
      <p:sp>
        <p:nvSpPr>
          <p:cNvPr id="10" name="slide-no">
            <a:extLst>
              <a:ext uri="{FF2B5EF4-FFF2-40B4-BE49-F238E27FC236}">
                <a16:creationId xmlns:a16="http://schemas.microsoft.com/office/drawing/2014/main" id="{7FB6CC4C-16EA-4DD0-B552-B42C38A03AFA}"/>
              </a:ext>
            </a:extLst>
          </p:cNvPr>
          <p:cNvSpPr txBox="1"/>
          <p:nvPr/>
        </p:nvSpPr>
        <p:spPr>
          <a:xfrm>
            <a:off x="10744200" y="6527800"/>
            <a:ext cx="10668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950" b="1">
                <a:solidFill>
                  <a:srgbClr val="CFC29C"/>
                </a:solidFill>
                <a:latin typeface="Courier New" panose="02070309020205020404" pitchFamily="49" charset="0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32991377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3309</Words>
  <Application>Microsoft Office PowerPoint</Application>
  <PresentationFormat>Произвольный</PresentationFormat>
  <Paragraphs>419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Тема Office</vt:lpstr>
      <vt:lpstr>Полная версия: в вашем телефоне</vt:lpstr>
      <vt:lpstr>Пиксельная игра о профессии журналиста</vt:lpstr>
      <vt:lpstr>Журналист — это не «просто пишет текст»</vt:lpstr>
      <vt:lpstr>Игра за 30 секунд</vt:lpstr>
      <vt:lpstr>Один день в редакции</vt:lpstr>
      <vt:lpstr>Читаем газеты, снимаем трубку</vt:lpstr>
      <vt:lpstr>Проверка, а не угадывание</vt:lpstr>
      <vt:lpstr>Собираем страницу — получаем оценку</vt:lpstr>
      <vt:lpstr>Интервью: риск и награда</vt:lpstr>
      <vt:lpstr>Что делает игрок — что делает журналист</vt:lpstr>
      <vt:lpstr>Пиксельный стол, нарисованный кодом</vt:lpstr>
      <vt:lpstr>Три сложности и сохранение в файл</vt:lpstr>
      <vt:lpstr>Чистый браузер, без зависимостей</vt:lpstr>
      <vt:lpstr>Новая тема — один объект данных</vt:lpstr>
      <vt:lpstr>Кто делал игру</vt:lpstr>
      <vt:lpstr>Чем мы вдохновлялись</vt:lpstr>
      <vt:lpstr>Попробуйте сами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Полная версия: в вашем телефоне</dc:title>
  <dc:creator>NB</dc:creator>
  <cp:lastModifiedBy>NB</cp:lastModifiedBy>
  <cp:revision>1</cp:revision>
  <dcterms:created xsi:type="dcterms:W3CDTF">2026-10-24T19:37:48Z</dcterms:created>
  <dcterms:modified xsi:type="dcterms:W3CDTF">2026-10-24T19:37:49Z</dcterms:modified>
</cp:coreProperties>
</file>