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7DA565-6A1E-4EF6-B46D-FB812C0F203A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D7D84-5C2F-45E4-89BA-E2DEC2DD2F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8287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Это слайд-подсказка для зала. На экране идёт обычная презентация без анимаций и роликов (так требуют правила), а полную версию с анимациями и роликами игры можно открыть на телефоне по QR-коду и листать вместе с докладчиком. На каждом слайде внизу справа написан его номер: тот же номер и на сайте.</a:t>
            </a:r>
          </a:p>
          <a:p>
            <a:endParaRPr lang="ru-RU"/>
          </a:p>
          <a:p>
            <a:r>
              <a:rPr lang="ru-RU"/>
              <a:t>[Перед защитой отсканируйте код телефоном. Он ведёт на http-адрес сервера: если сервер недоступен, этот слайд можно просто пропустить.]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0412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Здравствуйте! Мы сделали «ИнфоповодоИнатор»: пиксельную браузерную игру о профессии журналиста. В неё можно играть сразу, без регистрации, на компьютере, планшете и телефоне.</a:t>
            </a:r>
          </a:p>
          <a:p>
            <a:endParaRPr lang="ru-RU"/>
          </a:p>
          <a:p>
            <a:r>
              <a:rPr lang="ru-RU"/>
              <a:t>Покажем, что внутри, чему игра учит и как мы убедились, что она работает.</a:t>
            </a:r>
          </a:p>
          <a:p>
            <a:endParaRPr lang="ru-RU"/>
          </a:p>
          <a:p>
            <a:r>
              <a:rPr lang="ru-RU"/>
              <a:t>[Если времени мало, короткий маршрут: слайды 1, 3, 5, 7, 9, 12, 14, 16. Остальные оставьте на вопросы.]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7958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Цель кейса — дать подростку представление о профессии. Подросток обычно думает, что журналист «просто пишет текст». На деле работа из трёх частей.</a:t>
            </a:r>
          </a:p>
          <a:p>
            <a:endParaRPr lang="ru-RU"/>
          </a:p>
          <a:p>
            <a:r>
              <a:rPr lang="ru-RU"/>
              <a:t>Первая — найти инфоповод: что вообще стоит заметки. Вторая — проверить: кому и когда можно верить. Третья — сложить из фактов историю, где главное в заголовке.</a:t>
            </a:r>
          </a:p>
          <a:p>
            <a:endParaRPr lang="ru-RU"/>
          </a:p>
          <a:p>
            <a:r>
              <a:rPr lang="ru-RU"/>
              <a:t>Мы не пересказываем это в тексте. Мы сделали из этих трёх навыков механику игры, и игрок сам открывает правила журналистики. Подсказки по интерфейсу показываются один раз в начале, а что правда и как это проверить, игра не рассказывает.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1094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Вот игра за тридцать секунд, как на странице в магазине. Крупно рабочий стол: газета, в которой подсвечены строки-инфоповоды. Снизу кадры из игры: звонок босса, карточки в руке, страница статьи и заметки.</a:t>
            </a:r>
          </a:p>
          <a:p>
            <a:endParaRPr lang="ru-RU"/>
          </a:p>
          <a:p>
            <a:r>
              <a:rPr lang="ru-RU"/>
              <a:t>Справа жанр, платформа и длина: глава из пяти дней по три-пять минут. Геймплей в движении можно посмотреть по QR-коду справа внизу: он ведёт на сайт презентации с роликами.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06425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Игра делится на дни. День ограничен по времени: таймер вверху, к концу включается тиканье и музыка ускоряется.</a:t>
            </a:r>
          </a:p>
          <a:p>
            <a:endParaRPr lang="ru-RU"/>
          </a:p>
          <a:p>
            <a:r>
              <a:rPr lang="ru-RU"/>
              <a:t>Утром приходит карточка сюжета, босс подсказывает тему, иногда друг рассказывает «горячую новость», которая может оказаться правдой, а может и нет.</a:t>
            </a:r>
          </a:p>
          <a:p>
            <a:endParaRPr lang="ru-RU"/>
          </a:p>
          <a:p>
            <a:r>
              <a:rPr lang="ru-RU"/>
              <a:t>Потом стол: читаем газеты, отвечаем на звонки. В конце собираем страницу из четырёх слотов и заголовка. Планёрка разбирает каждую новость: правда или ложь, по теме или нет и откуда это известно. Если день идеальный, на следующий открывается интервью со знаменитостью.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124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Первая механика. Слева газета: игрок тащит её из стопки в центр стола, наводит на жирные строки и нажимает. Строка не вырывается из газеты, а подсвечивается, как маркером, а инфоповод попадает в «руку» справа внизу. Прочитанную газету тащим в стопку «Прочитанные»: при наведении она выдвигается веером, и любую можно достать и перечитать.</a:t>
            </a:r>
          </a:p>
          <a:p>
            <a:endParaRPr lang="ru-RU"/>
          </a:p>
          <a:p>
            <a:r>
              <a:rPr lang="ru-RU"/>
              <a:t>Справа телефон. Звонит босс, коллега или незнакомый номер. Это диалог, как в Undertale, у каждого звонящего свой звук голоса. Звонящий либо сообщает инфоповод, либо даёт подсказку для проверки. Звонок можно пропустить или сбросить, но тогда информация потеряется.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2628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Вторая механика, сердце игры. Это не викторина «правда или ложь»: знание фактов помогает, но не заменяет проверку.</a:t>
            </a:r>
          </a:p>
          <a:p>
            <a:endParaRPr lang="ru-RU"/>
          </a:p>
          <a:p>
            <a:r>
              <a:rPr lang="ru-RU"/>
              <a:t>Подсказки по каждой новости лежат в разных каналах. Босс всегда говорит правду. Библиотекарь и серьёзные газеты надёжны. Борис иногда путает цифры, Лена любит преувеличивать. Жёлтые газеты громкие, но неточные. А за незнакомым номером может быть конкурент, который всегда лжёт, а может быть неравнодушный гражданин, который говорит правду.</a:t>
            </a:r>
          </a:p>
          <a:p>
            <a:endParaRPr lang="ru-RU"/>
          </a:p>
          <a:p>
            <a:r>
              <a:rPr lang="ru-RU"/>
              <a:t>Генератор гарантирует: для каждой новости есть хотя бы одна надёжная подсказка, а вводящие в заблуждение идут только из ненадёжных каналов. Поэтому правду всегда можно выяснить, но можно и ошибиться. Справа карточки в руке: игрок помечает своё мнение «?», «ДА» или «НЕТ».</a:t>
            </a:r>
          </a:p>
          <a:p>
            <a:endParaRPr lang="ru-RU"/>
          </a:p>
          <a:p>
            <a:r>
              <a:rPr lang="ru-RU"/>
              <a:t>[Шкала на слайде условная: она показывает порядок доверия, а не проценты.]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96174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Третья механика. В конце дня игроку дают пустую страницу: четыре слота под инфоповоды и выбор заголовка. Инфоповоды должны быть взаимосвязаны, как в настоящей заметке.</a:t>
            </a:r>
          </a:p>
          <a:p>
            <a:endParaRPr lang="ru-RU"/>
          </a:p>
          <a:p>
            <a:r>
              <a:rPr lang="ru-RU"/>
              <a:t>Оценка считается честно. Достоверная новость по теме даёт один балл. Достоверная, но не по теме, только 0,35. Ложная даёт ноль и штраф. Сумма даёт до 80 очков, верный заголовок добавляет ещё 20, а кричащий кликбейт-заголовок снимает 5. Идеал — 100 из 100.</a:t>
            </a:r>
          </a:p>
          <a:p>
            <a:endParaRPr lang="ru-RU"/>
          </a:p>
          <a:p>
            <a:r>
              <a:rPr lang="ru-RU"/>
              <a:t>Меньше 50 — провал: босс даёт второй шанс с новой темой. Не обязательно использовать все достоверные новости: их в дне больше, чем слотов. Важно, чтобы они были достоверны и складывались в логичную заметку.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935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Награда за идеальный день — интервью со знаменитостью. Игроку показывают карточку героя: силуэт, чем знаменит, описание, характер и опасные темы. Потом три вопроса на выбор с ограничением по времени: 12, 9 или 6 секунд, в зависимости от сложности.</a:t>
            </a:r>
          </a:p>
          <a:p>
            <a:endParaRPr lang="ru-RU"/>
          </a:p>
          <a:p>
            <a:r>
              <a:rPr lang="ru-RU"/>
              <a:t>Один вопрос удачный, он подбирается по интересам героя. Вопрос про опасную тему — риск: с некоторой вероятностью, зависящей от характера, герой вспылит и прервёт интервью, и весь бонус сгорит. С меньшей вероятностью даст двойной успех.</a:t>
            </a:r>
          </a:p>
          <a:p>
            <a:endParaRPr lang="ru-RU"/>
          </a:p>
          <a:p>
            <a:r>
              <a:rPr lang="ru-RU"/>
              <a:t>Бонус — золотые инфоповоды на следующий день: они достоверны и логичны. Чтобы игра не превращалась в «вечную сотню», интервью закрывает не больше половины страницы, и два дня подряд его не бывает.</a:t>
            </a:r>
          </a:p>
          <a:p>
            <a:endParaRPr lang="ru-RU"/>
          </a:p>
          <a:p>
            <a:r>
              <a:rPr lang="ru-RU"/>
              <a:t>[Знаменитости в игре пародийные, например «Лео Ди Каприз». Реальным людям слов не приписываем.]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3089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Вот как игра отвечает на цель кейса: каждое действие игрока соответствует действию в редакции.</a:t>
            </a:r>
          </a:p>
          <a:p>
            <a:endParaRPr lang="ru-RU"/>
          </a:p>
          <a:p>
            <a:r>
              <a:rPr lang="ru-RU"/>
              <a:t>Строки газет в «руку» — это мониторинг СМИ и отбор инфоповодов. Звонки — работа с источниками: кому можно доверять. Подсказки и блокнот — проверка по второму источнику. Таймер — дедлайн выпуска. Страница из слотов и заголовка — вёрстка полосы, где главное идёт в заголовок. Планёрка — работа над ошибками. Интервью — подготовка к разговору и осознанный риск острых тем.</a:t>
            </a:r>
          </a:p>
          <a:p>
            <a:endParaRPr lang="ru-RU"/>
          </a:p>
          <a:p>
            <a:r>
              <a:rPr lang="ru-RU"/>
              <a:t>Подросток не читает лекцию о профессии, он принимает те же решения, что и журналист.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01680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Визуальный стиль. Мы выбрали пиксель-арт и вид сверху на рабочий стол: газеты, телефон, кружка кофе, блокнот, календарь. Палитра из семи тёплых цветов: чернила, бумага, красный, синий, зелёный, жёлтый и дерево.</a:t>
            </a:r>
          </a:p>
          <a:p>
            <a:endParaRPr lang="ru-RU"/>
          </a:p>
          <a:p>
            <a:r>
              <a:rPr lang="ru-RU"/>
              <a:t>Шрифт Press Start 2P даёт интерфейсу игровой характер, а газеты и карточки набраны Georgia, чтобы длинные тексты читались чисто. Все изображения рисуются кодом на Canvas, поэтому в игре нет файлов с картинками, а масштабирование под экран не теряет резкости.</a:t>
            </a:r>
          </a:p>
          <a:p>
            <a:endParaRPr lang="ru-RU"/>
          </a:p>
          <a:p>
            <a:r>
              <a:rPr lang="ru-RU"/>
              <a:t>Все скриншоты здесь сняты из самой игры.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24414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Два пункта со звёздочкой из кейса.</a:t>
            </a:r>
          </a:p>
          <a:p>
            <a:endParaRPr lang="ru-RU"/>
          </a:p>
          <a:p>
            <a:r>
              <a:rPr lang="ru-RU"/>
              <a:t>Сложность выбирается в главном меню, и она меняет не только время. На лёгкой пять минут на день, босс прямо называет тему, мало подвохов и двенадцать секунд на вопрос в интервью. На сложной три минуты десять секунд, босс молчит о теме, ложных новостей по теме больше, а на вопрос всего шесть секунд. Рекомендуем нормальную.</a:t>
            </a:r>
          </a:p>
          <a:p>
            <a:endParaRPr lang="ru-RU"/>
          </a:p>
          <a:p>
            <a:r>
              <a:rPr lang="ru-RU"/>
              <a:t>Сохранение. Между днями игру можно сохранить в файл, он скачивается на компьютер, а загрузить его можно в главном меню. В файле контрольная сумма: если его править вручную, игра это заметит и не загрузит.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5350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Стек простой: HTML, CSS и JavaScript без фреймворков и без сборки. Пиксель-арт рисуется на Canvas, музыка и звуки синтезируются Web Audio, файлов с картинками и звуками нет. Анимации на собственной пружинной физике, один цикл, движение через transform.</a:t>
            </a:r>
          </a:p>
          <a:p>
            <a:endParaRPr lang="ru-RU"/>
          </a:p>
          <a:p>
            <a:r>
              <a:rPr lang="ru-RU"/>
              <a:t>Как мы проверяли качество. Главный риск такой игры — нерешаемый день. Поэтому есть автотест: он собирает шесть тысяч дней на всех сложностях и убеждается, что каждая новость доставлена, для неё есть надёжная подсказка, на идеальную страницу хватает достоверных новостей, а звонки не накладываются. Ошибок ноль. Кроме того, мы прогоняли всю главу сценариями: обычный день, провальный день, пустая страница, сохранение и загрузка.</a:t>
            </a:r>
          </a:p>
          <a:p>
            <a:endParaRPr lang="ru-RU"/>
          </a:p>
          <a:p>
            <a:r>
              <a:rPr lang="ru-RU"/>
              <a:t>Скорость: в замерах на тестовом компьютере 60 кадров в секунду; на слабом ноутбуке цифры могут отличаться. Для телефонов собрана версия одним файлом около 550 килобайт.</a:t>
            </a:r>
          </a:p>
          <a:p>
            <a:endParaRPr lang="ru-RU"/>
          </a:p>
          <a:p>
            <a:r>
              <a:rPr lang="ru-RU"/>
              <a:t>И честно: при разработке мы использовали ИИ-помощника Claude Code. Требования, концепцию и приёмку задавала команда.</a:t>
            </a:r>
          </a:p>
          <a:p>
            <a:endParaRPr lang="ru-RU"/>
          </a:p>
          <a:p>
            <a:r>
              <a:rPr lang="ru-RU"/>
              <a:t>[Строку про ИИ можно убрать в config.js: showAiNote. Сначала сверьтесь с правилами хакатона.]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87233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Масштабируемость. Весь контент — это данные, движок их не знает. Новость — один объект: правда или ложь, текст, разбор для планёрки, источник и подсказки. Новая тема — набор таких объектов, и после добавления автотест подтверждает, что все дни остаются решаемыми.</a:t>
            </a:r>
          </a:p>
          <a:p>
            <a:endParaRPr lang="ru-RU"/>
          </a:p>
          <a:p>
            <a:r>
              <a:rPr lang="ru-RU"/>
              <a:t>Сейчас в базе 203 новости в 14 темах, 8 знаменитостей и 47 вопросов для интервью. Одна тема в разные дни звучит по-разному за счёт вариантов реплик.</a:t>
            </a:r>
          </a:p>
          <a:p>
            <a:endParaRPr lang="ru-RU"/>
          </a:p>
          <a:p>
            <a:r>
              <a:rPr lang="ru-RU"/>
              <a:t>Что дальше: региональные темы, сюжет с выбором, ежедневные задания босса, таблица рекордов, озвучка. И обязательно проверка на живых подростках: баланс времени мы пока настраивали сами.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85865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Нас шестеро. Lozzix (Жуков Ярослав) автор идеи. Quadrus (Ковалев Кирилл) капитан команды и бэкенд. KOTLETA (Шубин Фёдор) бэкенд. Ви фронтенд. Аня дизайн. Сусанна презентация.</a:t>
            </a:r>
          </a:p>
          <a:p>
            <a:endParaRPr lang="ru-RU"/>
          </a:p>
          <a:p>
            <a:r>
              <a:rPr lang="ru-RU"/>
              <a:t>[Если спросят, кто что конкретно делал, ответьте по факту: роли на слайде общие, подробности знает каждый про свою часть.]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35445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Референсы. Диалоги мы стилизовали под Undertale: побуквенный текст и свой звук голоса у каждого звонящего. Плавное, «осязаемое» управление взяли из мода Inventory Interactions для Minecraft: газету тащат с наклоном, а прочитанные выдвигаются стопкой при наведении.</a:t>
            </a:r>
          </a:p>
          <a:p>
            <a:endParaRPr lang="ru-RU"/>
          </a:p>
          <a:p>
            <a:r>
              <a:rPr lang="ru-RU"/>
              <a:t>По жанру и атмосфере игра соседствует с Papers, Please: работа за столом с документами под давлением времени. Но задача другая: не пропустить или отказать, а проверить факт и сложить из проверенных фактов заметку.</a:t>
            </a:r>
          </a:p>
          <a:p>
            <a:endParaRPr lang="ru-RU"/>
          </a:p>
          <a:p>
            <a:r>
              <a:rPr lang="ru-RU"/>
              <a:t>[Если у команды были другие вдохновители, замените карточки: они в index.html, слайд 15.]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78890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Три QR-кода. Первый ведёт на игру: она открывается сразу, регистрация не нужна, на телефоне её лучше держать горизонтально. Второй на репозиторий с исходным кодом. Третий на сайт презентации с роликами геймплея.</a:t>
            </a:r>
          </a:p>
          <a:p>
            <a:endParaRPr lang="ru-RU"/>
          </a:p>
          <a:p>
            <a:r>
              <a:rPr lang="ru-RU"/>
              <a:t>Спасибо за внимание! Будем рады вопросам.</a:t>
            </a:r>
          </a:p>
          <a:p>
            <a:endParaRPr lang="ru-RU"/>
          </a:p>
          <a:p>
            <a:r>
              <a:rPr lang="ru-RU"/>
              <a:t>[Перед защитой отсканируйте все три кода телефоном. Ссылки меняются в presentation/config.js.]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55975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Финальный слайд-шутка: ошибка 404, а над ней огромный силуэт доктора ФуфелСмерча, злодея-изобретателя, который иногда звонит игроку в игре. Спасибо за внимание, будем рады вопросам.</a:t>
            </a:r>
          </a:p>
          <a:p>
            <a:endParaRPr lang="ru-RU"/>
          </a:p>
          <a:p>
            <a:r>
              <a:rPr lang="ru-RU"/>
              <a:t>[Если спросят про то, чего нет на слайдах, ответы лежат в DEFENSE.md: разделы 10, 11, 14 и 15.]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D7D84-5C2F-45E4-89BA-E2DEC2DD2FA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9609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49FFA0-E3CE-41CB-9DB3-5E483CBD70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69D71CE-3C86-4C55-98AD-B2FF314BFE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4C21238-D484-4E44-A3FD-4C1A3B005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7D0EEE6-034F-42EC-98DB-D3AF8855F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AFFD28-ABD8-4D3F-A40A-B81E8A9DC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272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6B8FF7-71BE-4FE4-BD85-D125ECC93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44438BA-B6CF-43E2-8ED0-E7B47994C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D1F14A-57C8-45EB-8582-CFA896FE1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BF90F4-DB3A-450D-A2E5-E1BF6BAD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743B0D-04F0-4774-B484-9630F9F4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2837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3D5A00-06C5-4E37-BF94-D81390F9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ADD6709-338B-4FF2-8638-351F5E424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D8CCA62-F3C1-470D-BB0C-1FDC6B7EC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C3E965-DBC8-432A-847F-D1106B0AB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DD78BD-7C96-4BE0-B51D-E2B5A545F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3982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5302C4-AE74-40D3-A056-79FAE37D4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4C3E3D9-2BE6-42A1-8E5A-8163025B96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3317961-2CB6-48BF-BFDA-2350C06AC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725DED3-9855-44F7-8DE0-C7974E290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949599A-4BEA-40F2-9E9C-08D423C2E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B446346-668A-4AC3-B723-803AAAA96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467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96720E-4B50-415E-B151-36CB93910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BB9B96-C2C6-4395-90C1-A5312D575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56331D8-4335-4629-B7F1-39DA2180E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D29B1FF-8878-4340-91FD-086B50E2F7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03A5FB9-5B9D-4A09-A282-E75850AD55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581A9F3-8999-478C-935E-20F44BD85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71B01CE-BD15-49EC-85D1-20309113C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4E726BD-B41F-4F21-83B3-2BC673452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8645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FAF339-202E-4B7B-A9D6-9185A30E8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82600"/>
            <a:ext cx="10972800" cy="685800"/>
          </a:xfrm>
        </p:spPr>
        <p:txBody>
          <a:bodyPr wrap="square" lIns="0" tIns="0" anchor="t">
            <a:normAutofit/>
          </a:bodyPr>
          <a:lstStyle>
            <a:lvl1pPr algn="l">
              <a:defRPr sz="2500" b="1">
                <a:solidFill>
                  <a:srgbClr val="E2B64C"/>
                </a:solidFill>
                <a:latin typeface="Courier New" panose="02070309020205020404" pitchFamily="49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338CBBD-BF13-413A-AAE9-B9EADD58B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66D4511-B005-4E5F-B102-925162C49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2B3E84D-76D2-40CF-8E80-A1DA28DEB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23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13E0B35-7725-4DD2-8050-042F5CD8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DDCD013-74B7-44D7-ACF1-7C58E1667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2B4EFB-3DC5-4209-BD7B-51FE2EC53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5223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B0CF9C-39DB-4260-91E2-AC13011CF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4E3B666-A970-494D-8D90-0E45A7B1F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318C511-7493-4801-BD19-C8E25B2638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F5C5847-8A79-4143-8C22-96FA4188F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95D1319-ABBD-4B91-A61B-157588EB5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37B26D-454B-4BB6-AB9C-494038F7C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5066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31AAF3-EE8E-43A8-A861-5B353895B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3ED1975-24E7-4774-9E8C-B24E687D7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C8AC072-6ADE-49CE-9636-74A62CF49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57BF53E-4CCF-417E-A4A9-BC63DACE4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B2E204E-0B17-4F45-822C-E0A016916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66A1395-2034-46ED-BEDC-C9AAC745C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9085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08A984-C711-44BC-ACA4-593AADAB1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97F18A-2448-4D9F-91A2-D657E6F25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F9B952-6C01-4AA5-BA99-94822B8EB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7C87E01-69DC-4331-82E0-926F80BC3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B56E3F9-4B1D-4289-ACED-273A90621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78045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1DFFE1D-E7EE-4BD4-A459-38A07CAD37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947EF7E-0087-46CC-81C5-E036778814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278F21F-2D71-4438-8A49-9C7D24727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1DF52F-C205-4445-AC2A-722D9B167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458BA4-F679-4257-B970-F2A8597AE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815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D631AE-990B-4D43-AEA9-7CBFADECE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82600"/>
            <a:ext cx="10972800" cy="685800"/>
          </a:xfrm>
          <a:prstGeom prst="rect">
            <a:avLst/>
          </a:prstGeom>
        </p:spPr>
        <p:txBody>
          <a:bodyPr vert="horz" wrap="square" lIns="0" tIns="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6A4D71D-6E35-4C61-93A3-913CDBDBA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E1E589-2B64-4183-A6F3-322AC0453D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120999-E8B4-41DF-99BB-50C72315797B}" type="datetimeFigureOut">
              <a:rPr lang="ru-RU" smtClean="0"/>
              <a:t>24.10.2026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7C9AE1-C073-4863-8D1A-15450B63E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509D72-472C-4B28-B2A6-5FA252B49E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9F1B86-D807-4BF5-8EEB-A88D5DC19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902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00" b="1" kern="1200">
          <a:solidFill>
            <a:srgbClr val="E2B64C"/>
          </a:solidFill>
          <a:latin typeface="Courier New" panose="02070309020205020404" pitchFamily="49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9963F1-27C3-4928-8D9C-9863A2189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Полная версия: в вашем телефоне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23438C-FA91-4AD6-BDB5-F538C32C85A9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ДЛЯ ВСЕХ В ЗАЛЕ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4363AE-34C5-412D-9928-36AC8B6D24E0}"/>
              </a:ext>
            </a:extLst>
          </p:cNvPr>
          <p:cNvSpPr txBox="1"/>
          <p:nvPr/>
        </p:nvSpPr>
        <p:spPr>
          <a:xfrm>
            <a:off x="609600" y="1498600"/>
            <a:ext cx="68580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900">
                <a:solidFill>
                  <a:srgbClr val="F2ECE0"/>
                </a:solidFill>
                <a:latin typeface="Georgia" panose="02040502050405020303" pitchFamily="18" charset="0"/>
              </a:rPr>
              <a:t>На большом экране идёт обычная презентация. Версия с анимациями и роликами игры открывается по QR-коду и ничем не отличается по содержанию.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0D57C7A-6078-47AC-ABEF-30C762E97B00}"/>
              </a:ext>
            </a:extLst>
          </p:cNvPr>
          <p:cNvSpPr/>
          <p:nvPr/>
        </p:nvSpPr>
        <p:spPr>
          <a:xfrm>
            <a:off x="609600" y="3022600"/>
            <a:ext cx="355600" cy="355600"/>
          </a:xfrm>
          <a:prstGeom prst="rect">
            <a:avLst/>
          </a:prstGeom>
          <a:solidFill>
            <a:srgbClr val="E2B64C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3299BD-6B50-4BB8-B16F-FF2BD92A22E2}"/>
              </a:ext>
            </a:extLst>
          </p:cNvPr>
          <p:cNvSpPr txBox="1"/>
          <p:nvPr/>
        </p:nvSpPr>
        <p:spPr>
          <a:xfrm>
            <a:off x="609600" y="3111500"/>
            <a:ext cx="3556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100" b="1">
                <a:solidFill>
                  <a:srgbClr val="241C16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6CCF67-B38E-4153-AB7B-D8420F84F83A}"/>
              </a:ext>
            </a:extLst>
          </p:cNvPr>
          <p:cNvSpPr txBox="1"/>
          <p:nvPr/>
        </p:nvSpPr>
        <p:spPr>
          <a:xfrm>
            <a:off x="1168400" y="3009900"/>
            <a:ext cx="5969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F2ECE0"/>
                </a:solidFill>
                <a:latin typeface="Georgia" panose="02040502050405020303" pitchFamily="18" charset="0"/>
              </a:rPr>
              <a:t>Наведите камеру телефона на код справа.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EFAC4FC-8002-4EAB-AF63-530775733587}"/>
              </a:ext>
            </a:extLst>
          </p:cNvPr>
          <p:cNvSpPr/>
          <p:nvPr/>
        </p:nvSpPr>
        <p:spPr>
          <a:xfrm>
            <a:off x="609600" y="3810000"/>
            <a:ext cx="355600" cy="355600"/>
          </a:xfrm>
          <a:prstGeom prst="rect">
            <a:avLst/>
          </a:prstGeom>
          <a:solidFill>
            <a:srgbClr val="E2B64C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32EF1-6549-4395-8CC6-ED6E98A704EE}"/>
              </a:ext>
            </a:extLst>
          </p:cNvPr>
          <p:cNvSpPr txBox="1"/>
          <p:nvPr/>
        </p:nvSpPr>
        <p:spPr>
          <a:xfrm>
            <a:off x="609600" y="3898900"/>
            <a:ext cx="3556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100" b="1">
                <a:solidFill>
                  <a:srgbClr val="241C16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EA32EA-80EF-42AD-B8DE-B96E5339740D}"/>
              </a:ext>
            </a:extLst>
          </p:cNvPr>
          <p:cNvSpPr txBox="1"/>
          <p:nvPr/>
        </p:nvSpPr>
        <p:spPr>
          <a:xfrm>
            <a:off x="1168400" y="3797300"/>
            <a:ext cx="5969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F2ECE0"/>
                </a:solidFill>
                <a:latin typeface="Georgia" panose="02040502050405020303" pitchFamily="18" charset="0"/>
              </a:rPr>
              <a:t>Откроется презентация с анимациями и роликами игры.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27F7233-86B7-49F7-9C9D-2E908C9A18E0}"/>
              </a:ext>
            </a:extLst>
          </p:cNvPr>
          <p:cNvSpPr/>
          <p:nvPr/>
        </p:nvSpPr>
        <p:spPr>
          <a:xfrm>
            <a:off x="609600" y="4597400"/>
            <a:ext cx="355600" cy="355600"/>
          </a:xfrm>
          <a:prstGeom prst="rect">
            <a:avLst/>
          </a:prstGeom>
          <a:solidFill>
            <a:srgbClr val="E2B64C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002208-5472-4414-A960-A1C2BEA8EA38}"/>
              </a:ext>
            </a:extLst>
          </p:cNvPr>
          <p:cNvSpPr txBox="1"/>
          <p:nvPr/>
        </p:nvSpPr>
        <p:spPr>
          <a:xfrm>
            <a:off x="609600" y="4686300"/>
            <a:ext cx="3556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100" b="1">
                <a:solidFill>
                  <a:srgbClr val="241C16"/>
                </a:solidFill>
                <a:latin typeface="Courier New" panose="02070309020205020404" pitchFamily="49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DE5B2-A9ED-46AC-A13E-F37768646BA5}"/>
              </a:ext>
            </a:extLst>
          </p:cNvPr>
          <p:cNvSpPr txBox="1"/>
          <p:nvPr/>
        </p:nvSpPr>
        <p:spPr>
          <a:xfrm>
            <a:off x="1168400" y="4584700"/>
            <a:ext cx="5969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F2ECE0"/>
                </a:solidFill>
                <a:latin typeface="Georgia" panose="02040502050405020303" pitchFamily="18" charset="0"/>
              </a:rPr>
              <a:t>Листайте вместе с докладчиком: номер слайда подписан внизу справа.</a:t>
            </a:r>
          </a:p>
        </p:txBody>
      </p:sp>
      <p:pic>
        <p:nvPicPr>
          <p:cNvPr id="15" name="Рисунок 14" descr="Логотип ИнфоповодоИнатор">
            <a:extLst>
              <a:ext uri="{FF2B5EF4-FFF2-40B4-BE49-F238E27FC236}">
                <a16:creationId xmlns:a16="http://schemas.microsoft.com/office/drawing/2014/main" id="{B264B71B-6B41-405C-8F80-6D27733E31C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5664200"/>
            <a:ext cx="2667000" cy="6858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BA0B724-2E41-4D64-BD8C-9F625BE345E0}"/>
              </a:ext>
            </a:extLst>
          </p:cNvPr>
          <p:cNvSpPr txBox="1"/>
          <p:nvPr/>
        </p:nvSpPr>
        <p:spPr>
          <a:xfrm>
            <a:off x="3556000" y="5867400"/>
            <a:ext cx="3810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CFC29C"/>
                </a:solidFill>
                <a:latin typeface="Georgia" panose="02040502050405020303" pitchFamily="18" charset="0"/>
              </a:rPr>
              <a:t>Телефон лучше держать горизонтально.</a:t>
            </a:r>
          </a:p>
        </p:txBody>
      </p:sp>
      <p:pic>
        <p:nvPicPr>
          <p:cNvPr id="18" name="Рисунок 17" descr="QR-код: http://84.21.191.32/presentation/index.html">
            <a:extLst>
              <a:ext uri="{FF2B5EF4-FFF2-40B4-BE49-F238E27FC236}">
                <a16:creationId xmlns:a16="http://schemas.microsoft.com/office/drawing/2014/main" id="{E303F5E9-7D60-41F8-A5E6-CEE3010D4BF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1371600"/>
            <a:ext cx="3175000" cy="3175000"/>
          </a:xfrm>
          <a:prstGeom prst="rect">
            <a:avLst/>
          </a:prstGeom>
          <a:ln w="5080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2579E71-A1ED-42C7-A3AF-C25B6F37E8D2}"/>
              </a:ext>
            </a:extLst>
          </p:cNvPr>
          <p:cNvSpPr txBox="1"/>
          <p:nvPr/>
        </p:nvSpPr>
        <p:spPr>
          <a:xfrm>
            <a:off x="8255000" y="4775200"/>
            <a:ext cx="3175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E2B64C"/>
                </a:solidFill>
                <a:latin typeface="Courier New" panose="02070309020205020404" pitchFamily="49" charset="0"/>
              </a:rPr>
              <a:t>ПРЕЗЕНТАЦИЯ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84552D-0728-4752-973A-24B3FBE5201E}"/>
              </a:ext>
            </a:extLst>
          </p:cNvPr>
          <p:cNvSpPr txBox="1"/>
          <p:nvPr/>
        </p:nvSpPr>
        <p:spPr>
          <a:xfrm>
            <a:off x="8255000" y="5130800"/>
            <a:ext cx="3429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2ECE0"/>
                </a:solidFill>
                <a:latin typeface="Courier New" panose="02070309020205020404" pitchFamily="49" charset="0"/>
              </a:rPr>
              <a:t>84.21.191.32/presentation/index.html</a:t>
            </a:r>
            <a:endParaRPr lang="ru-RU" sz="1050" b="1">
              <a:solidFill>
                <a:srgbClr val="F2ECE0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6149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Рабочий стол из игры">
            <a:extLst>
              <a:ext uri="{FF2B5EF4-FFF2-40B4-BE49-F238E27FC236}">
                <a16:creationId xmlns:a16="http://schemas.microsoft.com/office/drawing/2014/main" id="{62846173-0EE7-45CE-90CF-466725DE4BC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8D87336-D114-4158-B129-E3AF745B064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604">
              <a:alpha val="8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BD2B17-F7EC-49A7-B78F-E86CAB7B1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3327400"/>
            <a:ext cx="6604000" cy="635000"/>
          </a:xfrm>
        </p:spPr>
        <p:txBody>
          <a:bodyPr>
            <a:normAutofit/>
          </a:bodyPr>
          <a:lstStyle/>
          <a:p>
            <a:r>
              <a:rPr lang="ru-RU" sz="1700">
                <a:solidFill>
                  <a:srgbClr val="F2ECE0"/>
                </a:solidFill>
              </a:rPr>
              <a:t>Пиксельная игра о профессии журналиста</a:t>
            </a:r>
          </a:p>
        </p:txBody>
      </p:sp>
      <p:pic>
        <p:nvPicPr>
          <p:cNvPr id="7" name="Рисунок 6" descr="Логотип ИнфоповодоИнатор">
            <a:extLst>
              <a:ext uri="{FF2B5EF4-FFF2-40B4-BE49-F238E27FC236}">
                <a16:creationId xmlns:a16="http://schemas.microsoft.com/office/drawing/2014/main" id="{456F5EBA-2F61-4908-885C-C25E8247A58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066800"/>
            <a:ext cx="7112000" cy="1816100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020A2E7-4982-48B3-B053-5E20834C8D6D}"/>
              </a:ext>
            </a:extLst>
          </p:cNvPr>
          <p:cNvSpPr/>
          <p:nvPr/>
        </p:nvSpPr>
        <p:spPr>
          <a:xfrm>
            <a:off x="711200" y="4267200"/>
            <a:ext cx="1041400" cy="304800"/>
          </a:xfrm>
          <a:prstGeom prst="rect">
            <a:avLst/>
          </a:prstGeom>
          <a:solidFill>
            <a:srgbClr val="3A2F26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6128A-593E-495C-B6C5-0BDB2A36F9B6}"/>
              </a:ext>
            </a:extLst>
          </p:cNvPr>
          <p:cNvSpPr txBox="1"/>
          <p:nvPr/>
        </p:nvSpPr>
        <p:spPr>
          <a:xfrm>
            <a:off x="812800" y="4356100"/>
            <a:ext cx="8890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CFC29C"/>
                </a:solidFill>
                <a:latin typeface="Courier New" panose="02070309020205020404" pitchFamily="49" charset="0"/>
              </a:rPr>
              <a:t>БРАУЗЕР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D0CD82C-9ED1-4AAA-A45A-FC54FB0A4B9B}"/>
              </a:ext>
            </a:extLst>
          </p:cNvPr>
          <p:cNvSpPr/>
          <p:nvPr/>
        </p:nvSpPr>
        <p:spPr>
          <a:xfrm>
            <a:off x="1854200" y="4267200"/>
            <a:ext cx="1879600" cy="304800"/>
          </a:xfrm>
          <a:prstGeom prst="rect">
            <a:avLst/>
          </a:prstGeom>
          <a:solidFill>
            <a:srgbClr val="3A2F26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F7E14-03B7-41D7-99F2-203876D71BC1}"/>
              </a:ext>
            </a:extLst>
          </p:cNvPr>
          <p:cNvSpPr txBox="1"/>
          <p:nvPr/>
        </p:nvSpPr>
        <p:spPr>
          <a:xfrm>
            <a:off x="1955800" y="4356100"/>
            <a:ext cx="17272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CFC29C"/>
                </a:solidFill>
                <a:latin typeface="Courier New" panose="02070309020205020404" pitchFamily="49" charset="0"/>
              </a:rPr>
              <a:t>БЕЗ РЕГИСТРАЦИИ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C3AFBEF-1EDE-471E-998A-D98AB274752F}"/>
              </a:ext>
            </a:extLst>
          </p:cNvPr>
          <p:cNvSpPr/>
          <p:nvPr/>
        </p:nvSpPr>
        <p:spPr>
          <a:xfrm>
            <a:off x="3835400" y="4267200"/>
            <a:ext cx="2616200" cy="304800"/>
          </a:xfrm>
          <a:prstGeom prst="rect">
            <a:avLst/>
          </a:prstGeom>
          <a:solidFill>
            <a:srgbClr val="3A2F26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9FCB94-9D7B-453B-AE8F-CD7A321238AA}"/>
              </a:ext>
            </a:extLst>
          </p:cNvPr>
          <p:cNvSpPr txBox="1"/>
          <p:nvPr/>
        </p:nvSpPr>
        <p:spPr>
          <a:xfrm>
            <a:off x="3937000" y="4356100"/>
            <a:ext cx="24638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CFC29C"/>
                </a:solidFill>
                <a:latin typeface="Courier New" panose="02070309020205020404" pitchFamily="49" charset="0"/>
              </a:rPr>
              <a:t>ПК · ПЛАНШЕТ · ТЕЛЕФОН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B3B34E-28E6-4704-A330-1AE7F33D3676}"/>
              </a:ext>
            </a:extLst>
          </p:cNvPr>
          <p:cNvSpPr txBox="1"/>
          <p:nvPr/>
        </p:nvSpPr>
        <p:spPr>
          <a:xfrm>
            <a:off x="711200" y="6070600"/>
            <a:ext cx="762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FC29C"/>
                </a:solidFill>
                <a:latin typeface="Georgia" panose="02040502050405020303" pitchFamily="18" charset="0"/>
              </a:rPr>
              <a:t>Хакатон «Центр-инвест» · кейс «Разработка игры»</a:t>
            </a: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E609E872-7AF4-4A7D-8FAC-DF50B3BF8505}"/>
              </a:ext>
            </a:extLst>
          </p:cNvPr>
          <p:cNvGrpSpPr/>
          <p:nvPr/>
        </p:nvGrpSpPr>
        <p:grpSpPr>
          <a:xfrm rot="-132000">
            <a:off x="8128000" y="939800"/>
            <a:ext cx="2997200" cy="1422400"/>
            <a:chOff x="8128000" y="939800"/>
            <a:chExt cx="2997200" cy="1422400"/>
          </a:xfrm>
        </p:grpSpPr>
        <p:sp>
          <p:nvSpPr>
            <p:cNvPr id="15" name="fc1-a">
              <a:extLst>
                <a:ext uri="{FF2B5EF4-FFF2-40B4-BE49-F238E27FC236}">
                  <a16:creationId xmlns:a16="http://schemas.microsoft.com/office/drawing/2014/main" id="{10A01586-A774-4E70-8CF3-05E79BE8B36B}"/>
                </a:ext>
              </a:extLst>
            </p:cNvPr>
            <p:cNvSpPr/>
            <p:nvPr/>
          </p:nvSpPr>
          <p:spPr>
            <a:xfrm>
              <a:off x="8128000" y="939800"/>
              <a:ext cx="2997200" cy="1422400"/>
            </a:xfrm>
            <a:prstGeom prst="rect">
              <a:avLst/>
            </a:prstGeom>
            <a:solidFill>
              <a:srgbClr val="EADFC2"/>
            </a:solidFill>
            <a:ln w="28575">
              <a:solidFill>
                <a:srgbClr val="241C16"/>
              </a:solidFill>
            </a:ln>
            <a:effectLst>
              <a:outerShdw dist="62862" dir="2699988" rotWithShape="0">
                <a:srgbClr val="000000">
                  <a:alpha val="5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fc1-b">
              <a:extLst>
                <a:ext uri="{FF2B5EF4-FFF2-40B4-BE49-F238E27FC236}">
                  <a16:creationId xmlns:a16="http://schemas.microsoft.com/office/drawing/2014/main" id="{BB9E8617-26CE-4CCA-86B8-305C3EB4AECF}"/>
                </a:ext>
              </a:extLst>
            </p:cNvPr>
            <p:cNvSpPr/>
            <p:nvPr/>
          </p:nvSpPr>
          <p:spPr>
            <a:xfrm>
              <a:off x="8128000" y="939800"/>
              <a:ext cx="2997200" cy="279400"/>
            </a:xfrm>
            <a:prstGeom prst="rect">
              <a:avLst/>
            </a:prstGeom>
            <a:solidFill>
              <a:srgbClr val="B8392D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fc1-c">
              <a:extLst>
                <a:ext uri="{FF2B5EF4-FFF2-40B4-BE49-F238E27FC236}">
                  <a16:creationId xmlns:a16="http://schemas.microsoft.com/office/drawing/2014/main" id="{11DE6F30-3C33-40B4-B1D6-1251BEE5365E}"/>
                </a:ext>
              </a:extLst>
            </p:cNvPr>
            <p:cNvSpPr txBox="1"/>
            <p:nvPr/>
          </p:nvSpPr>
          <p:spPr>
            <a:xfrm>
              <a:off x="8242300" y="1016000"/>
              <a:ext cx="2540000" cy="1524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ru-RU" sz="950" b="1">
                  <a:solidFill>
                    <a:srgbClr val="FFFFFF"/>
                  </a:solidFill>
                  <a:latin typeface="Courier New" panose="02070309020205020404" pitchFamily="49" charset="0"/>
                </a:rPr>
                <a:t>ГАЗЕТА</a:t>
              </a:r>
            </a:p>
          </p:txBody>
        </p:sp>
        <p:sp>
          <p:nvSpPr>
            <p:cNvPr id="18" name="fc1-d">
              <a:extLst>
                <a:ext uri="{FF2B5EF4-FFF2-40B4-BE49-F238E27FC236}">
                  <a16:creationId xmlns:a16="http://schemas.microsoft.com/office/drawing/2014/main" id="{B480D28B-D00E-4E61-8871-EFA488E71060}"/>
                </a:ext>
              </a:extLst>
            </p:cNvPr>
            <p:cNvSpPr txBox="1"/>
            <p:nvPr/>
          </p:nvSpPr>
          <p:spPr>
            <a:xfrm>
              <a:off x="8255000" y="1346200"/>
              <a:ext cx="2743200" cy="9398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ru-RU" sz="1400" b="1">
                  <a:solidFill>
                    <a:srgbClr val="241C16"/>
                  </a:solidFill>
                  <a:latin typeface="Georgia" panose="02040502050405020303" pitchFamily="18" charset="0"/>
                </a:rPr>
                <a:t>Белка и Стрелка в 1960 году слетали в космос и вернулись на Землю.</a:t>
              </a:r>
            </a:p>
          </p:txBody>
        </p:sp>
      </p:grp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DA319C51-0AD1-40E1-BCE6-27F0A05C0B70}"/>
              </a:ext>
            </a:extLst>
          </p:cNvPr>
          <p:cNvGrpSpPr/>
          <p:nvPr/>
        </p:nvGrpSpPr>
        <p:grpSpPr>
          <a:xfrm rot="120000">
            <a:off x="8763000" y="2717800"/>
            <a:ext cx="2997200" cy="1422400"/>
            <a:chOff x="8763000" y="2717800"/>
            <a:chExt cx="2997200" cy="1422400"/>
          </a:xfrm>
        </p:grpSpPr>
        <p:sp>
          <p:nvSpPr>
            <p:cNvPr id="20" name="fc2-a">
              <a:extLst>
                <a:ext uri="{FF2B5EF4-FFF2-40B4-BE49-F238E27FC236}">
                  <a16:creationId xmlns:a16="http://schemas.microsoft.com/office/drawing/2014/main" id="{466CFC2E-C7FE-47BA-ACE8-98A44244AC78}"/>
                </a:ext>
              </a:extLst>
            </p:cNvPr>
            <p:cNvSpPr/>
            <p:nvPr/>
          </p:nvSpPr>
          <p:spPr>
            <a:xfrm>
              <a:off x="8763000" y="2717800"/>
              <a:ext cx="2997200" cy="1422400"/>
            </a:xfrm>
            <a:prstGeom prst="rect">
              <a:avLst/>
            </a:prstGeom>
            <a:solidFill>
              <a:srgbClr val="CFE0F5"/>
            </a:solidFill>
            <a:ln w="28575">
              <a:solidFill>
                <a:srgbClr val="241C16"/>
              </a:solidFill>
            </a:ln>
            <a:effectLst>
              <a:outerShdw dist="62862" dir="2699988" rotWithShape="0">
                <a:srgbClr val="000000">
                  <a:alpha val="5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fc2-b">
              <a:extLst>
                <a:ext uri="{FF2B5EF4-FFF2-40B4-BE49-F238E27FC236}">
                  <a16:creationId xmlns:a16="http://schemas.microsoft.com/office/drawing/2014/main" id="{A9D438CD-6AFC-4475-AC7B-523A8BE09258}"/>
                </a:ext>
              </a:extLst>
            </p:cNvPr>
            <p:cNvSpPr/>
            <p:nvPr/>
          </p:nvSpPr>
          <p:spPr>
            <a:xfrm>
              <a:off x="8763000" y="2717800"/>
              <a:ext cx="2997200" cy="279400"/>
            </a:xfrm>
            <a:prstGeom prst="rect">
              <a:avLst/>
            </a:prstGeom>
            <a:solidFill>
              <a:srgbClr val="3B5E8C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fc2-c">
              <a:extLst>
                <a:ext uri="{FF2B5EF4-FFF2-40B4-BE49-F238E27FC236}">
                  <a16:creationId xmlns:a16="http://schemas.microsoft.com/office/drawing/2014/main" id="{2CFD7F9B-6365-4D1A-845E-2DCA8FFCC890}"/>
                </a:ext>
              </a:extLst>
            </p:cNvPr>
            <p:cNvSpPr txBox="1"/>
            <p:nvPr/>
          </p:nvSpPr>
          <p:spPr>
            <a:xfrm>
              <a:off x="8877300" y="2794000"/>
              <a:ext cx="2540000" cy="1524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ru-RU" sz="950" b="1">
                  <a:solidFill>
                    <a:srgbClr val="FFFFFF"/>
                  </a:solidFill>
                  <a:latin typeface="Courier New" panose="02070309020205020404" pitchFamily="49" charset="0"/>
                </a:rPr>
                <a:t>ЗВОНОК</a:t>
              </a:r>
            </a:p>
          </p:txBody>
        </p:sp>
        <p:sp>
          <p:nvSpPr>
            <p:cNvPr id="23" name="fc2-d">
              <a:extLst>
                <a:ext uri="{FF2B5EF4-FFF2-40B4-BE49-F238E27FC236}">
                  <a16:creationId xmlns:a16="http://schemas.microsoft.com/office/drawing/2014/main" id="{EF39DA92-ABE6-4884-9C21-17BC14AAE096}"/>
                </a:ext>
              </a:extLst>
            </p:cNvPr>
            <p:cNvSpPr txBox="1"/>
            <p:nvPr/>
          </p:nvSpPr>
          <p:spPr>
            <a:xfrm>
              <a:off x="8890000" y="3124200"/>
              <a:ext cx="2743200" cy="9398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ru-RU" sz="1400" b="1">
                  <a:solidFill>
                    <a:srgbClr val="1C2F4D"/>
                  </a:solidFill>
                  <a:latin typeface="Georgia" panose="02040502050405020303" pitchFamily="18" charset="0"/>
                </a:rPr>
                <a:t>Валентина Терешкова стала первой в мире женщиной-космонавтом.</a:t>
              </a:r>
            </a:p>
          </p:txBody>
        </p:sp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95FD1CA0-35F9-4CD5-852E-6E618363CD55}"/>
              </a:ext>
            </a:extLst>
          </p:cNvPr>
          <p:cNvGrpSpPr/>
          <p:nvPr/>
        </p:nvGrpSpPr>
        <p:grpSpPr>
          <a:xfrm rot="-132000">
            <a:off x="8255000" y="4495800"/>
            <a:ext cx="2997200" cy="1422400"/>
            <a:chOff x="8255000" y="4495800"/>
            <a:chExt cx="2997200" cy="1422400"/>
          </a:xfrm>
        </p:grpSpPr>
        <p:sp>
          <p:nvSpPr>
            <p:cNvPr id="25" name="fc3-a">
              <a:extLst>
                <a:ext uri="{FF2B5EF4-FFF2-40B4-BE49-F238E27FC236}">
                  <a16:creationId xmlns:a16="http://schemas.microsoft.com/office/drawing/2014/main" id="{6F096458-1040-45BD-8E2D-5DF080163EC0}"/>
                </a:ext>
              </a:extLst>
            </p:cNvPr>
            <p:cNvSpPr/>
            <p:nvPr/>
          </p:nvSpPr>
          <p:spPr>
            <a:xfrm>
              <a:off x="8255000" y="4495800"/>
              <a:ext cx="2997200" cy="1422400"/>
            </a:xfrm>
            <a:prstGeom prst="rect">
              <a:avLst/>
            </a:prstGeom>
            <a:solidFill>
              <a:srgbClr val="EAD3F5"/>
            </a:solidFill>
            <a:ln w="28575">
              <a:solidFill>
                <a:srgbClr val="241C16"/>
              </a:solidFill>
            </a:ln>
            <a:effectLst>
              <a:outerShdw dist="62862" dir="2699988" rotWithShape="0">
                <a:srgbClr val="000000">
                  <a:alpha val="5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fc3-b">
              <a:extLst>
                <a:ext uri="{FF2B5EF4-FFF2-40B4-BE49-F238E27FC236}">
                  <a16:creationId xmlns:a16="http://schemas.microsoft.com/office/drawing/2014/main" id="{72A96BA7-5672-4647-AF04-D6750A655347}"/>
                </a:ext>
              </a:extLst>
            </p:cNvPr>
            <p:cNvSpPr/>
            <p:nvPr/>
          </p:nvSpPr>
          <p:spPr>
            <a:xfrm>
              <a:off x="8255000" y="4495800"/>
              <a:ext cx="2997200" cy="279400"/>
            </a:xfrm>
            <a:prstGeom prst="rect">
              <a:avLst/>
            </a:prstGeom>
            <a:solidFill>
              <a:srgbClr val="7A4AA8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fc3-c">
              <a:extLst>
                <a:ext uri="{FF2B5EF4-FFF2-40B4-BE49-F238E27FC236}">
                  <a16:creationId xmlns:a16="http://schemas.microsoft.com/office/drawing/2014/main" id="{A21F8E97-E427-48EA-B7A8-7CC5943F9705}"/>
                </a:ext>
              </a:extLst>
            </p:cNvPr>
            <p:cNvSpPr txBox="1"/>
            <p:nvPr/>
          </p:nvSpPr>
          <p:spPr>
            <a:xfrm>
              <a:off x="8369300" y="4572000"/>
              <a:ext cx="2540000" cy="1524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ru-RU" sz="950" b="1">
                  <a:solidFill>
                    <a:srgbClr val="FFFFFF"/>
                  </a:solidFill>
                  <a:latin typeface="Courier New" panose="02070309020205020404" pitchFamily="49" charset="0"/>
                </a:rPr>
                <a:t>СОБЫТИЕ</a:t>
              </a:r>
            </a:p>
          </p:txBody>
        </p:sp>
        <p:sp>
          <p:nvSpPr>
            <p:cNvPr id="28" name="fc3-d">
              <a:extLst>
                <a:ext uri="{FF2B5EF4-FFF2-40B4-BE49-F238E27FC236}">
                  <a16:creationId xmlns:a16="http://schemas.microsoft.com/office/drawing/2014/main" id="{80C1EA0C-6A4A-42EC-A19E-62AF8F640584}"/>
                </a:ext>
              </a:extLst>
            </p:cNvPr>
            <p:cNvSpPr txBox="1"/>
            <p:nvPr/>
          </p:nvSpPr>
          <p:spPr>
            <a:xfrm>
              <a:off x="8382000" y="4902200"/>
              <a:ext cx="2743200" cy="939800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ru-RU" sz="1400" b="1">
                  <a:solidFill>
                    <a:srgbClr val="241C16"/>
                  </a:solidFill>
                  <a:latin typeface="Georgia" panose="02040502050405020303" pitchFamily="18" charset="0"/>
                </a:rPr>
                <a:t>Космическая станция летает на высоте около 400 километров.</a:t>
              </a:r>
            </a:p>
          </p:txBody>
        </p:sp>
      </p:grpSp>
      <p:sp>
        <p:nvSpPr>
          <p:cNvPr id="30" name="slide-no">
            <a:extLst>
              <a:ext uri="{FF2B5EF4-FFF2-40B4-BE49-F238E27FC236}">
                <a16:creationId xmlns:a16="http://schemas.microsoft.com/office/drawing/2014/main" id="{93957ED8-EC00-4BD2-97FF-5DABA10BF0B6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 / 17</a:t>
            </a:r>
          </a:p>
        </p:txBody>
      </p:sp>
    </p:spTree>
    <p:extLst>
      <p:ext uri="{BB962C8B-B14F-4D97-AF65-F5344CB8AC3E}">
        <p14:creationId xmlns:p14="http://schemas.microsoft.com/office/powerpoint/2010/main" val="1224708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FE79D9-A5C4-4B60-B68B-1233604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Журналист — это не «просто пишет текст»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65DAA-3ADF-4354-A440-BED72F38FAC0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ЦЕЛЬ КЕЙСА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4A6EEF9-FD14-42D6-B13C-6600D1458C71}"/>
              </a:ext>
            </a:extLst>
          </p:cNvPr>
          <p:cNvSpPr/>
          <p:nvPr/>
        </p:nvSpPr>
        <p:spPr>
          <a:xfrm>
            <a:off x="609600" y="1371600"/>
            <a:ext cx="3505200" cy="2413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A0EDA6F-CFB4-48FE-9C22-EAA56321AF9C}"/>
              </a:ext>
            </a:extLst>
          </p:cNvPr>
          <p:cNvSpPr/>
          <p:nvPr/>
        </p:nvSpPr>
        <p:spPr>
          <a:xfrm>
            <a:off x="609600" y="1371600"/>
            <a:ext cx="3505200" cy="304800"/>
          </a:xfrm>
          <a:prstGeom prst="rect">
            <a:avLst/>
          </a:prstGeom>
          <a:solidFill>
            <a:srgbClr val="B8392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15D35D-2BDA-4435-A1F9-BB4FBEA9BA58}"/>
              </a:ext>
            </a:extLst>
          </p:cNvPr>
          <p:cNvSpPr txBox="1"/>
          <p:nvPr/>
        </p:nvSpPr>
        <p:spPr>
          <a:xfrm>
            <a:off x="723900" y="1444625"/>
            <a:ext cx="3327400" cy="18415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b="1">
                <a:solidFill>
                  <a:srgbClr val="FFFFFF"/>
                </a:solidFill>
                <a:latin typeface="Courier New" panose="02070309020205020404" pitchFamily="49" charset="0"/>
              </a:rPr>
              <a:t>ИНФОПОВОД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8928C4-EBE3-40F1-9E4F-06F13F217BCC}"/>
              </a:ext>
            </a:extLst>
          </p:cNvPr>
          <p:cNvSpPr txBox="1"/>
          <p:nvPr/>
        </p:nvSpPr>
        <p:spPr>
          <a:xfrm>
            <a:off x="787400" y="1854200"/>
            <a:ext cx="31496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241C16"/>
                </a:solidFill>
                <a:latin typeface="Georgia" panose="02040502050405020303" pitchFamily="18" charset="0"/>
              </a:rPr>
              <a:t>Что вообще достойно заметки? В сотне строк нужно найти ту, о которой заговорят.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CCFA1A-0E8D-458B-AB89-6DDA7B060650}"/>
              </a:ext>
            </a:extLst>
          </p:cNvPr>
          <p:cNvSpPr txBox="1"/>
          <p:nvPr/>
        </p:nvSpPr>
        <p:spPr>
          <a:xfrm>
            <a:off x="787400" y="3251200"/>
            <a:ext cx="31496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i="1">
                <a:solidFill>
                  <a:srgbClr val="5B4C38"/>
                </a:solidFill>
                <a:latin typeface="Georgia" panose="02040502050405020303" pitchFamily="18" charset="0"/>
              </a:rPr>
              <a:t>в игре: строки газет, звонки, утренние вести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BF69BC-6E60-43CE-B268-B2911CF25B87}"/>
              </a:ext>
            </a:extLst>
          </p:cNvPr>
          <p:cNvSpPr/>
          <p:nvPr/>
        </p:nvSpPr>
        <p:spPr>
          <a:xfrm>
            <a:off x="4343400" y="1371600"/>
            <a:ext cx="3505200" cy="2413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AEA0839-1D36-4406-BAD0-30FC190A81E1}"/>
              </a:ext>
            </a:extLst>
          </p:cNvPr>
          <p:cNvSpPr/>
          <p:nvPr/>
        </p:nvSpPr>
        <p:spPr>
          <a:xfrm>
            <a:off x="4343400" y="1371600"/>
            <a:ext cx="3505200" cy="304800"/>
          </a:xfrm>
          <a:prstGeom prst="rect">
            <a:avLst/>
          </a:prstGeom>
          <a:solidFill>
            <a:srgbClr val="3B5E8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4F7D1F-3E73-47A7-B34C-ED914339A16C}"/>
              </a:ext>
            </a:extLst>
          </p:cNvPr>
          <p:cNvSpPr txBox="1"/>
          <p:nvPr/>
        </p:nvSpPr>
        <p:spPr>
          <a:xfrm>
            <a:off x="4457700" y="1444625"/>
            <a:ext cx="3327400" cy="18415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b="1">
                <a:solidFill>
                  <a:srgbClr val="FFFFFF"/>
                </a:solidFill>
                <a:latin typeface="Courier New" panose="02070309020205020404" pitchFamily="49" charset="0"/>
              </a:rPr>
              <a:t>ПРОВЕРКА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631FF1-617C-416D-AB95-AF4EC2E022C5}"/>
              </a:ext>
            </a:extLst>
          </p:cNvPr>
          <p:cNvSpPr txBox="1"/>
          <p:nvPr/>
        </p:nvSpPr>
        <p:spPr>
          <a:xfrm>
            <a:off x="4521200" y="1854200"/>
            <a:ext cx="31496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241C16"/>
                </a:solidFill>
                <a:latin typeface="Georgia" panose="02040502050405020303" pitchFamily="18" charset="0"/>
              </a:rPr>
              <a:t>Кому и когда верить? Босс не врёт, конкурент врёт, коллега приукрашивает.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88384E-1F9E-4094-BC19-5D513391900D}"/>
              </a:ext>
            </a:extLst>
          </p:cNvPr>
          <p:cNvSpPr txBox="1"/>
          <p:nvPr/>
        </p:nvSpPr>
        <p:spPr>
          <a:xfrm>
            <a:off x="4521200" y="3251200"/>
            <a:ext cx="31496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i="1">
                <a:solidFill>
                  <a:srgbClr val="5B4C38"/>
                </a:solidFill>
                <a:latin typeface="Georgia" panose="02040502050405020303" pitchFamily="18" charset="0"/>
              </a:rPr>
              <a:t>в игре: источники, подсказки, пометки ДА / НЕТ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F20A3-2E74-41BB-86A2-1FB02F775D12}"/>
              </a:ext>
            </a:extLst>
          </p:cNvPr>
          <p:cNvSpPr/>
          <p:nvPr/>
        </p:nvSpPr>
        <p:spPr>
          <a:xfrm>
            <a:off x="8077200" y="1371600"/>
            <a:ext cx="3505200" cy="2413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DBDDAA3-8ABA-47ED-A7C9-185BBE6C0349}"/>
              </a:ext>
            </a:extLst>
          </p:cNvPr>
          <p:cNvSpPr/>
          <p:nvPr/>
        </p:nvSpPr>
        <p:spPr>
          <a:xfrm>
            <a:off x="8077200" y="1371600"/>
            <a:ext cx="3505200" cy="304800"/>
          </a:xfrm>
          <a:prstGeom prst="rect">
            <a:avLst/>
          </a:prstGeom>
          <a:solidFill>
            <a:srgbClr val="7A4A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7C45F4-B86F-43D3-800C-E27C94B27DED}"/>
              </a:ext>
            </a:extLst>
          </p:cNvPr>
          <p:cNvSpPr txBox="1"/>
          <p:nvPr/>
        </p:nvSpPr>
        <p:spPr>
          <a:xfrm>
            <a:off x="8191500" y="1444625"/>
            <a:ext cx="3327400" cy="18415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b="1">
                <a:solidFill>
                  <a:srgbClr val="FFFFFF"/>
                </a:solidFill>
                <a:latin typeface="Courier New" panose="02070309020205020404" pitchFamily="49" charset="0"/>
              </a:rPr>
              <a:t>СТРУКТУРА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3BBE02-1816-404B-89FB-F43CD0B74580}"/>
              </a:ext>
            </a:extLst>
          </p:cNvPr>
          <p:cNvSpPr txBox="1"/>
          <p:nvPr/>
        </p:nvSpPr>
        <p:spPr>
          <a:xfrm>
            <a:off x="8255000" y="1854200"/>
            <a:ext cx="31496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241C16"/>
                </a:solidFill>
                <a:latin typeface="Georgia" panose="02040502050405020303" pitchFamily="18" charset="0"/>
              </a:rPr>
              <a:t>Из фактов складывается история: всё по теме, главное вынесено в заголовок.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358D35-2F50-40E6-9E54-BD6202ADAEE2}"/>
              </a:ext>
            </a:extLst>
          </p:cNvPr>
          <p:cNvSpPr txBox="1"/>
          <p:nvPr/>
        </p:nvSpPr>
        <p:spPr>
          <a:xfrm>
            <a:off x="8255000" y="3251200"/>
            <a:ext cx="31496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i="1">
                <a:solidFill>
                  <a:srgbClr val="5B4C38"/>
                </a:solidFill>
                <a:latin typeface="Georgia" panose="02040502050405020303" pitchFamily="18" charset="0"/>
              </a:rPr>
              <a:t>в игре: страница из четырёх слотов и заголовок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898C7C6-1890-4097-8FB9-54E68B8A2357}"/>
              </a:ext>
            </a:extLst>
          </p:cNvPr>
          <p:cNvSpPr/>
          <p:nvPr/>
        </p:nvSpPr>
        <p:spPr>
          <a:xfrm>
            <a:off x="609600" y="4267200"/>
            <a:ext cx="10972800" cy="1498600"/>
          </a:xfrm>
          <a:prstGeom prst="rect">
            <a:avLst/>
          </a:prstGeom>
          <a:solidFill>
            <a:srgbClr val="1A1511"/>
          </a:solidFill>
          <a:ln w="28575">
            <a:solidFill>
              <a:srgbClr val="F6EFD9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58BD8B-D84D-499F-8D41-8C86A590FBB0}"/>
              </a:ext>
            </a:extLst>
          </p:cNvPr>
          <p:cNvSpPr txBox="1"/>
          <p:nvPr/>
        </p:nvSpPr>
        <p:spPr>
          <a:xfrm>
            <a:off x="889000" y="44958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00" b="1">
                <a:solidFill>
                  <a:srgbClr val="E2B64C"/>
                </a:solidFill>
                <a:latin typeface="Courier New" panose="02070309020205020404" pitchFamily="49" charset="0"/>
              </a:rPr>
              <a:t>ЧТО МЫ СДЕЛАЛИ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19D022-3A60-4197-B175-ECA4EA812A2B}"/>
              </a:ext>
            </a:extLst>
          </p:cNvPr>
          <p:cNvSpPr txBox="1"/>
          <p:nvPr/>
        </p:nvSpPr>
        <p:spPr>
          <a:xfrm>
            <a:off x="889000" y="4826000"/>
            <a:ext cx="10414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900">
                <a:solidFill>
                  <a:srgbClr val="F2ECE0"/>
                </a:solidFill>
                <a:latin typeface="Georgia" panose="02040502050405020303" pitchFamily="18" charset="0"/>
              </a:rPr>
              <a:t>Не рассказываем о профессии, а даём её прожить: каждое действие игрока — действие журналиста, а подросток сам открывает правила.</a:t>
            </a:r>
          </a:p>
        </p:txBody>
      </p:sp>
      <p:sp>
        <p:nvSpPr>
          <p:cNvPr id="22" name="slide-no">
            <a:extLst>
              <a:ext uri="{FF2B5EF4-FFF2-40B4-BE49-F238E27FC236}">
                <a16:creationId xmlns:a16="http://schemas.microsoft.com/office/drawing/2014/main" id="{CC7478D3-9C8E-4649-9401-69F0489A1289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2 / 17</a:t>
            </a:r>
          </a:p>
        </p:txBody>
      </p:sp>
    </p:spTree>
    <p:extLst>
      <p:ext uri="{BB962C8B-B14F-4D97-AF65-F5344CB8AC3E}">
        <p14:creationId xmlns:p14="http://schemas.microsoft.com/office/powerpoint/2010/main" val="2463781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CAE606-B3B3-4E82-A2E1-C1FE4D0F8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Игра за 30 секунд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89BB0-C734-49FD-863B-C4CCE9395058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ВСЕ ИГРЫ &gt; ГОЛОВОЛОМКИ &gt; ИНФОПОВОДОИНАТОР</a:t>
            </a:r>
          </a:p>
        </p:txBody>
      </p:sp>
      <p:pic>
        <p:nvPicPr>
          <p:cNvPr id="5" name="Рисунок 4" descr="Рабочий стол игры: газета с подсвеченными инфоповодами">
            <a:extLst>
              <a:ext uri="{FF2B5EF4-FFF2-40B4-BE49-F238E27FC236}">
                <a16:creationId xmlns:a16="http://schemas.microsoft.com/office/drawing/2014/main" id="{CA0B0992-3A75-46C0-8E55-7D84A59C7F5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604000" cy="37084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pic>
        <p:nvPicPr>
          <p:cNvPr id="7" name="Рисунок 6" descr="Кадр из игры">
            <a:extLst>
              <a:ext uri="{FF2B5EF4-FFF2-40B4-BE49-F238E27FC236}">
                <a16:creationId xmlns:a16="http://schemas.microsoft.com/office/drawing/2014/main" id="{954EF5C4-389B-4EAC-B85A-9FA04C253C9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5130800"/>
            <a:ext cx="1574800" cy="889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pic>
        <p:nvPicPr>
          <p:cNvPr id="9" name="Рисунок 8" descr="Кадр из игры">
            <a:extLst>
              <a:ext uri="{FF2B5EF4-FFF2-40B4-BE49-F238E27FC236}">
                <a16:creationId xmlns:a16="http://schemas.microsoft.com/office/drawing/2014/main" id="{71EF8023-5D51-40E5-9747-F1CAD5D17B4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5130800"/>
            <a:ext cx="1574800" cy="889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pic>
        <p:nvPicPr>
          <p:cNvPr id="11" name="Рисунок 10" descr="Кадр из игры">
            <a:extLst>
              <a:ext uri="{FF2B5EF4-FFF2-40B4-BE49-F238E27FC236}">
                <a16:creationId xmlns:a16="http://schemas.microsoft.com/office/drawing/2014/main" id="{235212BC-4374-4008-9CC8-E6261EE0EB0C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" y="5130800"/>
            <a:ext cx="1574800" cy="889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pic>
        <p:nvPicPr>
          <p:cNvPr id="13" name="Рисунок 12" descr="Кадр из игры">
            <a:extLst>
              <a:ext uri="{FF2B5EF4-FFF2-40B4-BE49-F238E27FC236}">
                <a16:creationId xmlns:a16="http://schemas.microsoft.com/office/drawing/2014/main" id="{7549CD3D-F7FC-4B74-A11B-40EA0EC480D6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0" y="5130800"/>
            <a:ext cx="1574800" cy="889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7735748-9D64-4D02-AC1F-9070DD8FE6C3}"/>
              </a:ext>
            </a:extLst>
          </p:cNvPr>
          <p:cNvSpPr txBox="1"/>
          <p:nvPr/>
        </p:nvSpPr>
        <p:spPr>
          <a:xfrm>
            <a:off x="609600" y="6172200"/>
            <a:ext cx="6604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CFC29C"/>
                </a:solidFill>
                <a:latin typeface="Georgia" panose="02040502050405020303" pitchFamily="18" charset="0"/>
              </a:rPr>
              <a:t>Кадры из самой игры: звонок босса, карточки в руке, страница, заметки.</a:t>
            </a:r>
          </a:p>
        </p:txBody>
      </p:sp>
      <p:pic>
        <p:nvPicPr>
          <p:cNvPr id="16" name="Рисунок 15" descr="Главное меню игры">
            <a:extLst>
              <a:ext uri="{FF2B5EF4-FFF2-40B4-BE49-F238E27FC236}">
                <a16:creationId xmlns:a16="http://schemas.microsoft.com/office/drawing/2014/main" id="{E2A2793B-F3CE-473F-9D38-448AA42BDFD1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400" y="1270000"/>
            <a:ext cx="3810000" cy="21463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84BA745-5C2F-4542-A671-FFA71AF55D87}"/>
              </a:ext>
            </a:extLst>
          </p:cNvPr>
          <p:cNvSpPr txBox="1"/>
          <p:nvPr/>
        </p:nvSpPr>
        <p:spPr>
          <a:xfrm>
            <a:off x="7518400" y="3556000"/>
            <a:ext cx="4064000" cy="914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50">
                <a:solidFill>
                  <a:srgbClr val="F2ECE0"/>
                </a:solidFill>
                <a:latin typeface="Georgia" panose="02040502050405020303" pitchFamily="18" charset="0"/>
              </a:rPr>
              <a:t>Вас по счастливой случайности взяли в газету. Читайте вырезки, отвечайте на звонки, собирайте инфоповоды и проверяйте их раньше, чем выложите заметку.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1371E2-18DE-4CF7-90E3-3DE33AD6FCE9}"/>
              </a:ext>
            </a:extLst>
          </p:cNvPr>
          <p:cNvSpPr txBox="1"/>
          <p:nvPr/>
        </p:nvSpPr>
        <p:spPr>
          <a:xfrm>
            <a:off x="7518400" y="4546600"/>
            <a:ext cx="1016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850" b="1">
                <a:solidFill>
                  <a:srgbClr val="8AA0B8"/>
                </a:solidFill>
                <a:latin typeface="Courier New" panose="02070309020205020404" pitchFamily="49" charset="0"/>
              </a:rPr>
              <a:t>ЖАНР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DB2CC1-2B55-4B36-BCE7-F2E3931F1082}"/>
              </a:ext>
            </a:extLst>
          </p:cNvPr>
          <p:cNvSpPr txBox="1"/>
          <p:nvPr/>
        </p:nvSpPr>
        <p:spPr>
          <a:xfrm>
            <a:off x="8585200" y="4521200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50">
                <a:solidFill>
                  <a:srgbClr val="CFC29C"/>
                </a:solidFill>
                <a:latin typeface="Georgia" panose="02040502050405020303" pitchFamily="18" charset="0"/>
              </a:rPr>
              <a:t>головоломка, симулятор редакции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507286-0F6E-4EE8-94C0-759B35F97A55}"/>
              </a:ext>
            </a:extLst>
          </p:cNvPr>
          <p:cNvSpPr txBox="1"/>
          <p:nvPr/>
        </p:nvSpPr>
        <p:spPr>
          <a:xfrm>
            <a:off x="7518400" y="4775200"/>
            <a:ext cx="1016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850" b="1">
                <a:solidFill>
                  <a:srgbClr val="8AA0B8"/>
                </a:solidFill>
                <a:latin typeface="Courier New" panose="02070309020205020404" pitchFamily="49" charset="0"/>
              </a:rPr>
              <a:t>ПЛАТФОРМА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297DC24-8520-4408-8EAF-582CC9E1F4FA}"/>
              </a:ext>
            </a:extLst>
          </p:cNvPr>
          <p:cNvSpPr txBox="1"/>
          <p:nvPr/>
        </p:nvSpPr>
        <p:spPr>
          <a:xfrm>
            <a:off x="8585200" y="4749800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50">
                <a:solidFill>
                  <a:srgbClr val="CFC29C"/>
                </a:solidFill>
                <a:latin typeface="Georgia" panose="02040502050405020303" pitchFamily="18" charset="0"/>
              </a:rPr>
              <a:t>браузер: ПК, планшет, телефон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CF243D-09BE-4F70-9C36-5FE95BF2AD95}"/>
              </a:ext>
            </a:extLst>
          </p:cNvPr>
          <p:cNvSpPr txBox="1"/>
          <p:nvPr/>
        </p:nvSpPr>
        <p:spPr>
          <a:xfrm>
            <a:off x="7518400" y="5003800"/>
            <a:ext cx="1016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850" b="1">
                <a:solidFill>
                  <a:srgbClr val="8AA0B8"/>
                </a:solidFill>
                <a:latin typeface="Courier New" panose="02070309020205020404" pitchFamily="49" charset="0"/>
              </a:rPr>
              <a:t>ГЛАВА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4D8948-F178-4540-ACA6-FB6F4C5BA227}"/>
              </a:ext>
            </a:extLst>
          </p:cNvPr>
          <p:cNvSpPr txBox="1"/>
          <p:nvPr/>
        </p:nvSpPr>
        <p:spPr>
          <a:xfrm>
            <a:off x="8585200" y="4978400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50">
                <a:solidFill>
                  <a:srgbClr val="CFC29C"/>
                </a:solidFill>
                <a:latin typeface="Georgia" panose="02040502050405020303" pitchFamily="18" charset="0"/>
              </a:rPr>
              <a:t>5 дней, 3–5 минут каждый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D048B0-BB70-4173-8152-A82C82F733AF}"/>
              </a:ext>
            </a:extLst>
          </p:cNvPr>
          <p:cNvSpPr txBox="1"/>
          <p:nvPr/>
        </p:nvSpPr>
        <p:spPr>
          <a:xfrm>
            <a:off x="7518400" y="5232400"/>
            <a:ext cx="1016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850" b="1">
                <a:solidFill>
                  <a:srgbClr val="8AA0B8"/>
                </a:solidFill>
                <a:latin typeface="Courier New" panose="02070309020205020404" pitchFamily="49" charset="0"/>
              </a:rPr>
              <a:t>ЯЗЫК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DAB17C-974C-46F0-AC93-E6BF5FE470EB}"/>
              </a:ext>
            </a:extLst>
          </p:cNvPr>
          <p:cNvSpPr txBox="1"/>
          <p:nvPr/>
        </p:nvSpPr>
        <p:spPr>
          <a:xfrm>
            <a:off x="8585200" y="5207000"/>
            <a:ext cx="29972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50">
                <a:solidFill>
                  <a:srgbClr val="CFC29C"/>
                </a:solidFill>
                <a:latin typeface="Georgia" panose="02040502050405020303" pitchFamily="18" charset="0"/>
              </a:rPr>
              <a:t>русский</a:t>
            </a:r>
          </a:p>
        </p:txBody>
      </p:sp>
      <p:pic>
        <p:nvPicPr>
          <p:cNvPr id="27" name="Рисунок 26" descr="QR-код: http://84.21.191.32/presentation/index.html#3">
            <a:extLst>
              <a:ext uri="{FF2B5EF4-FFF2-40B4-BE49-F238E27FC236}">
                <a16:creationId xmlns:a16="http://schemas.microsoft.com/office/drawing/2014/main" id="{81981C22-7865-4815-B288-A904DB7F2215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400" y="5537200"/>
            <a:ext cx="1066800" cy="10668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069A24A-E763-4DAD-A5B0-488CB02874C0}"/>
              </a:ext>
            </a:extLst>
          </p:cNvPr>
          <p:cNvSpPr txBox="1"/>
          <p:nvPr/>
        </p:nvSpPr>
        <p:spPr>
          <a:xfrm>
            <a:off x="8737600" y="5664200"/>
            <a:ext cx="28448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F2ECE0"/>
                </a:solidFill>
                <a:latin typeface="Georgia" panose="02040502050405020303" pitchFamily="18" charset="0"/>
              </a:rPr>
              <a:t>Геймплей в движении: наведите камеру на QR-код, откроется сайт с роликами.</a:t>
            </a:r>
          </a:p>
        </p:txBody>
      </p:sp>
      <p:sp>
        <p:nvSpPr>
          <p:cNvPr id="29" name="slide-no">
            <a:extLst>
              <a:ext uri="{FF2B5EF4-FFF2-40B4-BE49-F238E27FC236}">
                <a16:creationId xmlns:a16="http://schemas.microsoft.com/office/drawing/2014/main" id="{5A71D1E7-6DE0-4975-95B1-8076890048C0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3 / 17</a:t>
            </a:r>
          </a:p>
        </p:txBody>
      </p:sp>
    </p:spTree>
    <p:extLst>
      <p:ext uri="{BB962C8B-B14F-4D97-AF65-F5344CB8AC3E}">
        <p14:creationId xmlns:p14="http://schemas.microsoft.com/office/powerpoint/2010/main" val="1417563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9A82E7-3066-46ED-A933-194E0EE8B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Один день в редакции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5A3268-3035-4D1B-BB56-E8F2C83925BD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ГЕЙМПЛЕЙ</a:t>
            </a:r>
          </a:p>
        </p:txBody>
      </p:sp>
      <p:pic>
        <p:nvPicPr>
          <p:cNvPr id="5" name="Рисунок 4" descr="СТОЛ">
            <a:extLst>
              <a:ext uri="{FF2B5EF4-FFF2-40B4-BE49-F238E27FC236}">
                <a16:creationId xmlns:a16="http://schemas.microsoft.com/office/drawing/2014/main" id="{6265B0D8-B2EF-4A39-A89F-19DAB2C916D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46200"/>
            <a:ext cx="2032000" cy="1143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F48222-B30E-4845-AB00-0E8E3EC85B67}"/>
              </a:ext>
            </a:extLst>
          </p:cNvPr>
          <p:cNvSpPr txBox="1"/>
          <p:nvPr/>
        </p:nvSpPr>
        <p:spPr>
          <a:xfrm>
            <a:off x="609600" y="2692400"/>
            <a:ext cx="76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400" b="1">
                <a:solidFill>
                  <a:srgbClr val="E2B64C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820C6E-9D21-4307-98B4-7A11E3A85C00}"/>
              </a:ext>
            </a:extLst>
          </p:cNvPr>
          <p:cNvSpPr txBox="1"/>
          <p:nvPr/>
        </p:nvSpPr>
        <p:spPr>
          <a:xfrm>
            <a:off x="609600" y="3149600"/>
            <a:ext cx="2032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F2ECE0"/>
                </a:solidFill>
                <a:latin typeface="Courier New" panose="02070309020205020404" pitchFamily="49" charset="0"/>
              </a:rPr>
              <a:t>СТОЛ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E7F0A6-80F5-4576-AB5E-1681FBF6FE18}"/>
              </a:ext>
            </a:extLst>
          </p:cNvPr>
          <p:cNvSpPr txBox="1"/>
          <p:nvPr/>
        </p:nvSpPr>
        <p:spPr>
          <a:xfrm>
            <a:off x="609600" y="3454400"/>
            <a:ext cx="19812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F6EFD9"/>
                </a:solidFill>
                <a:latin typeface="Georgia" panose="02040502050405020303" pitchFamily="18" charset="0"/>
              </a:rPr>
              <a:t>Газеты и таймер. Дедлайн идёт, музыка к концу ускоряется.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6AD759-351A-47AD-BE3A-D492CF9923B1}"/>
              </a:ext>
            </a:extLst>
          </p:cNvPr>
          <p:cNvSpPr txBox="1"/>
          <p:nvPr/>
        </p:nvSpPr>
        <p:spPr>
          <a:xfrm>
            <a:off x="2667000" y="18034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1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pic>
        <p:nvPicPr>
          <p:cNvPr id="11" name="Рисунок 10" descr="ЗВОНКИ">
            <a:extLst>
              <a:ext uri="{FF2B5EF4-FFF2-40B4-BE49-F238E27FC236}">
                <a16:creationId xmlns:a16="http://schemas.microsoft.com/office/drawing/2014/main" id="{EF6CFD81-847D-4600-8395-2268D9B08F7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4800" y="1346200"/>
            <a:ext cx="2032000" cy="1143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5C1BBCB-6B91-4C9F-9897-68CA19FD74C8}"/>
              </a:ext>
            </a:extLst>
          </p:cNvPr>
          <p:cNvSpPr txBox="1"/>
          <p:nvPr/>
        </p:nvSpPr>
        <p:spPr>
          <a:xfrm>
            <a:off x="2844800" y="2692400"/>
            <a:ext cx="76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400" b="1">
                <a:solidFill>
                  <a:srgbClr val="E2B64C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91817B-4335-4BD5-A4B6-ACB2604A8348}"/>
              </a:ext>
            </a:extLst>
          </p:cNvPr>
          <p:cNvSpPr txBox="1"/>
          <p:nvPr/>
        </p:nvSpPr>
        <p:spPr>
          <a:xfrm>
            <a:off x="2844800" y="3149600"/>
            <a:ext cx="2032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F2ECE0"/>
                </a:solidFill>
                <a:latin typeface="Courier New" panose="02070309020205020404" pitchFamily="49" charset="0"/>
              </a:rPr>
              <a:t>ЗВОНКИ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CABA11-19E8-4C37-809E-6C3E6E059FA8}"/>
              </a:ext>
            </a:extLst>
          </p:cNvPr>
          <p:cNvSpPr txBox="1"/>
          <p:nvPr/>
        </p:nvSpPr>
        <p:spPr>
          <a:xfrm>
            <a:off x="2844800" y="3454400"/>
            <a:ext cx="19812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F6EFD9"/>
                </a:solidFill>
                <a:latin typeface="Georgia" panose="02040502050405020303" pitchFamily="18" charset="0"/>
              </a:rPr>
              <a:t>Босс, коллеги, незнакомцы. Можно сбросить вызов.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104E14-E91B-48C9-8E92-E05CEF64977F}"/>
              </a:ext>
            </a:extLst>
          </p:cNvPr>
          <p:cNvSpPr txBox="1"/>
          <p:nvPr/>
        </p:nvSpPr>
        <p:spPr>
          <a:xfrm>
            <a:off x="4902200" y="18034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1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pic>
        <p:nvPicPr>
          <p:cNvPr id="17" name="Рисунок 16" descr="СТРАНИЦА">
            <a:extLst>
              <a:ext uri="{FF2B5EF4-FFF2-40B4-BE49-F238E27FC236}">
                <a16:creationId xmlns:a16="http://schemas.microsoft.com/office/drawing/2014/main" id="{C58C3081-C1D6-4977-B0C9-9C65DCD8992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0" y="1346200"/>
            <a:ext cx="2032000" cy="1143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3D02A5E-4F47-47F4-9CA5-E3287C2540B3}"/>
              </a:ext>
            </a:extLst>
          </p:cNvPr>
          <p:cNvSpPr txBox="1"/>
          <p:nvPr/>
        </p:nvSpPr>
        <p:spPr>
          <a:xfrm>
            <a:off x="5080000" y="2692400"/>
            <a:ext cx="76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400" b="1">
                <a:solidFill>
                  <a:srgbClr val="E2B64C"/>
                </a:solidFill>
                <a:latin typeface="Courier New" panose="02070309020205020404" pitchFamily="49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DF7E77-2338-4BA4-9735-3249B20D2309}"/>
              </a:ext>
            </a:extLst>
          </p:cNvPr>
          <p:cNvSpPr txBox="1"/>
          <p:nvPr/>
        </p:nvSpPr>
        <p:spPr>
          <a:xfrm>
            <a:off x="5080000" y="3149600"/>
            <a:ext cx="2032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F2ECE0"/>
                </a:solidFill>
                <a:latin typeface="Courier New" panose="02070309020205020404" pitchFamily="49" charset="0"/>
              </a:rPr>
              <a:t>СТРАНИЦА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9FA4E1-EC2B-422B-9990-CE7333D4131A}"/>
              </a:ext>
            </a:extLst>
          </p:cNvPr>
          <p:cNvSpPr txBox="1"/>
          <p:nvPr/>
        </p:nvSpPr>
        <p:spPr>
          <a:xfrm>
            <a:off x="5080000" y="3454400"/>
            <a:ext cx="19812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F6EFD9"/>
                </a:solidFill>
                <a:latin typeface="Georgia" panose="02040502050405020303" pitchFamily="18" charset="0"/>
              </a:rPr>
              <a:t>Четыре слота и заголовок: что опубликуем.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0846B9-2014-4520-A9CC-E07992A82404}"/>
              </a:ext>
            </a:extLst>
          </p:cNvPr>
          <p:cNvSpPr txBox="1"/>
          <p:nvPr/>
        </p:nvSpPr>
        <p:spPr>
          <a:xfrm>
            <a:off x="7137400" y="18034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1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pic>
        <p:nvPicPr>
          <p:cNvPr id="23" name="Рисунок 22" descr="ПЛАНЁРКА">
            <a:extLst>
              <a:ext uri="{FF2B5EF4-FFF2-40B4-BE49-F238E27FC236}">
                <a16:creationId xmlns:a16="http://schemas.microsoft.com/office/drawing/2014/main" id="{04B790E7-9EC5-44E0-BADA-A46A4C58E746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346200"/>
            <a:ext cx="2032000" cy="1143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3FFC715-973C-45C7-A3C8-8694EE4CDDF6}"/>
              </a:ext>
            </a:extLst>
          </p:cNvPr>
          <p:cNvSpPr txBox="1"/>
          <p:nvPr/>
        </p:nvSpPr>
        <p:spPr>
          <a:xfrm>
            <a:off x="7315200" y="2692400"/>
            <a:ext cx="76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400" b="1">
                <a:solidFill>
                  <a:srgbClr val="E2B64C"/>
                </a:solidFill>
                <a:latin typeface="Courier New" panose="02070309020205020404" pitchFamily="49" charset="0"/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C24A5E-5437-4FB6-904A-4627B5B05A52}"/>
              </a:ext>
            </a:extLst>
          </p:cNvPr>
          <p:cNvSpPr txBox="1"/>
          <p:nvPr/>
        </p:nvSpPr>
        <p:spPr>
          <a:xfrm>
            <a:off x="7315200" y="3149600"/>
            <a:ext cx="2032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F2ECE0"/>
                </a:solidFill>
                <a:latin typeface="Courier New" panose="02070309020205020404" pitchFamily="49" charset="0"/>
              </a:rPr>
              <a:t>ПЛАНЁРКА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909810-2365-477B-B5F6-EFDC4645B68A}"/>
              </a:ext>
            </a:extLst>
          </p:cNvPr>
          <p:cNvSpPr txBox="1"/>
          <p:nvPr/>
        </p:nvSpPr>
        <p:spPr>
          <a:xfrm>
            <a:off x="7315200" y="3454400"/>
            <a:ext cx="19812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F6EFD9"/>
                </a:solidFill>
                <a:latin typeface="Georgia" panose="02040502050405020303" pitchFamily="18" charset="0"/>
              </a:rPr>
              <a:t>Оценка и разбор каждой новости: правда ли и откуда известно.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3A1711-11A7-482E-AEFD-1956EDBB89C2}"/>
              </a:ext>
            </a:extLst>
          </p:cNvPr>
          <p:cNvSpPr txBox="1"/>
          <p:nvPr/>
        </p:nvSpPr>
        <p:spPr>
          <a:xfrm>
            <a:off x="9372600" y="18034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1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pic>
        <p:nvPicPr>
          <p:cNvPr id="29" name="Рисунок 28" descr="ИНТЕРВЬЮ">
            <a:extLst>
              <a:ext uri="{FF2B5EF4-FFF2-40B4-BE49-F238E27FC236}">
                <a16:creationId xmlns:a16="http://schemas.microsoft.com/office/drawing/2014/main" id="{68EE2EC2-B54E-48A5-8065-3AD81FF16374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0400" y="1346200"/>
            <a:ext cx="2032000" cy="11430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B04A3F6-46FF-44BC-AA23-A53FFD4D2D1A}"/>
              </a:ext>
            </a:extLst>
          </p:cNvPr>
          <p:cNvSpPr txBox="1"/>
          <p:nvPr/>
        </p:nvSpPr>
        <p:spPr>
          <a:xfrm>
            <a:off x="9550400" y="2692400"/>
            <a:ext cx="76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400" b="1">
                <a:solidFill>
                  <a:srgbClr val="E2B64C"/>
                </a:solidFill>
                <a:latin typeface="Courier New" panose="02070309020205020404" pitchFamily="49" charset="0"/>
              </a:rPr>
              <a:t>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01C716-1C56-450E-B199-1DAE882F491A}"/>
              </a:ext>
            </a:extLst>
          </p:cNvPr>
          <p:cNvSpPr txBox="1"/>
          <p:nvPr/>
        </p:nvSpPr>
        <p:spPr>
          <a:xfrm>
            <a:off x="9550400" y="3149600"/>
            <a:ext cx="2032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F2ECE0"/>
                </a:solidFill>
                <a:latin typeface="Courier New" panose="02070309020205020404" pitchFamily="49" charset="0"/>
              </a:rPr>
              <a:t>ИНТЕРВЬЮ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DAB2A0-F198-4474-81D9-987822A25427}"/>
              </a:ext>
            </a:extLst>
          </p:cNvPr>
          <p:cNvSpPr txBox="1"/>
          <p:nvPr/>
        </p:nvSpPr>
        <p:spPr>
          <a:xfrm>
            <a:off x="9550400" y="3454400"/>
            <a:ext cx="1981200" cy="1143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F6EFD9"/>
                </a:solidFill>
                <a:latin typeface="Georgia" panose="02040502050405020303" pitchFamily="18" charset="0"/>
              </a:rPr>
              <a:t>Награда за идеальный день: бонус на следующий.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EE2D70-BA62-4CE7-9A04-9AAEE777351F}"/>
              </a:ext>
            </a:extLst>
          </p:cNvPr>
          <p:cNvSpPr txBox="1"/>
          <p:nvPr/>
        </p:nvSpPr>
        <p:spPr>
          <a:xfrm>
            <a:off x="609600" y="49784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>
                <a:solidFill>
                  <a:srgbClr val="CFC29C"/>
                </a:solidFill>
                <a:latin typeface="Georgia" panose="02040502050405020303" pitchFamily="18" charset="0"/>
              </a:rPr>
              <a:t>Перед днём: карточка с сюжетом, подсказка босса про тему и, с некоторым шансом, «утренняя весть» от друга или библиотекаря.</a:t>
            </a:r>
          </a:p>
        </p:txBody>
      </p:sp>
      <p:sp>
        <p:nvSpPr>
          <p:cNvPr id="34" name="slide-no">
            <a:extLst>
              <a:ext uri="{FF2B5EF4-FFF2-40B4-BE49-F238E27FC236}">
                <a16:creationId xmlns:a16="http://schemas.microsoft.com/office/drawing/2014/main" id="{B5DDFB61-9291-4810-8CA3-90B40EDD0E24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4 / 17</a:t>
            </a:r>
          </a:p>
        </p:txBody>
      </p:sp>
    </p:spTree>
    <p:extLst>
      <p:ext uri="{BB962C8B-B14F-4D97-AF65-F5344CB8AC3E}">
        <p14:creationId xmlns:p14="http://schemas.microsoft.com/office/powerpoint/2010/main" val="3033190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D5E8E8-40D8-4E2D-AF7D-2CB27604B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Читаем газеты, снимаем трубку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6242A7-2944-4E4E-8EB3-83B95AC448A0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МЕХАНИКА 1</a:t>
            </a:r>
          </a:p>
        </p:txBody>
      </p:sp>
      <p:pic>
        <p:nvPicPr>
          <p:cNvPr id="5" name="Рисунок 4" descr="Газета на столе: инфоповоды подсвечены">
            <a:extLst>
              <a:ext uri="{FF2B5EF4-FFF2-40B4-BE49-F238E27FC236}">
                <a16:creationId xmlns:a16="http://schemas.microsoft.com/office/drawing/2014/main" id="{67C49097-53EF-4369-B2A6-1EBAED6F57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20800"/>
            <a:ext cx="5207000" cy="29337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pic>
        <p:nvPicPr>
          <p:cNvPr id="7" name="Рисунок 6" descr="Звонит телефон: табло звонящего и кнопка сброса">
            <a:extLst>
              <a:ext uri="{FF2B5EF4-FFF2-40B4-BE49-F238E27FC236}">
                <a16:creationId xmlns:a16="http://schemas.microsoft.com/office/drawing/2014/main" id="{71D31DC4-5EE4-427E-8497-F852EF7818D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400" y="1320800"/>
            <a:ext cx="5207000" cy="29337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F86FB5-A6EA-40FD-9084-F0782B83C7A9}"/>
              </a:ext>
            </a:extLst>
          </p:cNvPr>
          <p:cNvSpPr txBox="1"/>
          <p:nvPr/>
        </p:nvSpPr>
        <p:spPr>
          <a:xfrm>
            <a:off x="609600" y="4546600"/>
            <a:ext cx="3810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ГАЗЕТА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FE1A7-EA06-471E-B7C3-27E961F5BC3C}"/>
              </a:ext>
            </a:extLst>
          </p:cNvPr>
          <p:cNvSpPr txBox="1"/>
          <p:nvPr/>
        </p:nvSpPr>
        <p:spPr>
          <a:xfrm>
            <a:off x="609600" y="4876800"/>
            <a:ext cx="5207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Наводим на жирную строку и нажимаем: инфоповод уходит в «руку», а в газете строка лишь подсвечивается. Прочитанное тащим в стопку, она выдвигается веером.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C66652-E314-4D56-926B-A844A0455CC1}"/>
              </a:ext>
            </a:extLst>
          </p:cNvPr>
          <p:cNvSpPr txBox="1"/>
          <p:nvPr/>
        </p:nvSpPr>
        <p:spPr>
          <a:xfrm>
            <a:off x="6375400" y="4546600"/>
            <a:ext cx="3810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ТЕЛЕФОН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F112E2-AEBB-41C6-8DBB-E5671670EA2B}"/>
              </a:ext>
            </a:extLst>
          </p:cNvPr>
          <p:cNvSpPr txBox="1"/>
          <p:nvPr/>
        </p:nvSpPr>
        <p:spPr>
          <a:xfrm>
            <a:off x="6375400" y="4876800"/>
            <a:ext cx="5207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Звонит босс, коллега или незнакомый номер. Диалог в духе Undertale: у каждого свой «голос». Звонок можно пропустить или сбросить.</a:t>
            </a:r>
          </a:p>
        </p:txBody>
      </p:sp>
      <p:sp>
        <p:nvSpPr>
          <p:cNvPr id="12" name="slide-no">
            <a:extLst>
              <a:ext uri="{FF2B5EF4-FFF2-40B4-BE49-F238E27FC236}">
                <a16:creationId xmlns:a16="http://schemas.microsoft.com/office/drawing/2014/main" id="{2FBCBB37-19E5-44DE-B163-5EC91032780D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5 / 17</a:t>
            </a:r>
          </a:p>
        </p:txBody>
      </p:sp>
    </p:spTree>
    <p:extLst>
      <p:ext uri="{BB962C8B-B14F-4D97-AF65-F5344CB8AC3E}">
        <p14:creationId xmlns:p14="http://schemas.microsoft.com/office/powerpoint/2010/main" val="2431677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4D5FBF-6326-4566-B655-50E9808C2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Проверка, а не угадывание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0F147D-A0E1-4505-B545-0994107CCCA1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МЕХАНИКА 2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298107-B006-4796-B7AF-B7536C100602}"/>
              </a:ext>
            </a:extLst>
          </p:cNvPr>
          <p:cNvSpPr/>
          <p:nvPr/>
        </p:nvSpPr>
        <p:spPr>
          <a:xfrm>
            <a:off x="609600" y="1270000"/>
            <a:ext cx="5562600" cy="43434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9BD84-1D43-4215-B55F-DA0ABA8FCB5C}"/>
              </a:ext>
            </a:extLst>
          </p:cNvPr>
          <p:cNvSpPr txBox="1"/>
          <p:nvPr/>
        </p:nvSpPr>
        <p:spPr>
          <a:xfrm>
            <a:off x="838200" y="1422400"/>
            <a:ext cx="279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Босс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D01176-842E-4C77-AB36-BA08B8A3EA83}"/>
              </a:ext>
            </a:extLst>
          </p:cNvPr>
          <p:cNvSpPr txBox="1"/>
          <p:nvPr/>
        </p:nvSpPr>
        <p:spPr>
          <a:xfrm>
            <a:off x="838200" y="1663700"/>
            <a:ext cx="2921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i="1">
                <a:solidFill>
                  <a:srgbClr val="7A6A52"/>
                </a:solidFill>
                <a:latin typeface="Georgia" panose="02040502050405020303" pitchFamily="18" charset="0"/>
              </a:rPr>
              <a:t>всегда говорит правду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1302EA-41E4-4BAC-BC98-4F5C20C25EAA}"/>
              </a:ext>
            </a:extLst>
          </p:cNvPr>
          <p:cNvSpPr/>
          <p:nvPr/>
        </p:nvSpPr>
        <p:spPr>
          <a:xfrm>
            <a:off x="4191000" y="15240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39888BA-ACC9-4D0A-88D3-1167ACE50C16}"/>
              </a:ext>
            </a:extLst>
          </p:cNvPr>
          <p:cNvSpPr/>
          <p:nvPr/>
        </p:nvSpPr>
        <p:spPr>
          <a:xfrm>
            <a:off x="4546600" y="15240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105574C-91D6-438B-B528-BF27A937BDBD}"/>
              </a:ext>
            </a:extLst>
          </p:cNvPr>
          <p:cNvSpPr/>
          <p:nvPr/>
        </p:nvSpPr>
        <p:spPr>
          <a:xfrm>
            <a:off x="4902200" y="15240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45DF696-84AA-40CF-A224-C3B61B86DBCA}"/>
              </a:ext>
            </a:extLst>
          </p:cNvPr>
          <p:cNvSpPr/>
          <p:nvPr/>
        </p:nvSpPr>
        <p:spPr>
          <a:xfrm>
            <a:off x="5257800" y="15240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AF468D-F60A-443D-8D59-53C5DBE97EBE}"/>
              </a:ext>
            </a:extLst>
          </p:cNvPr>
          <p:cNvSpPr txBox="1"/>
          <p:nvPr/>
        </p:nvSpPr>
        <p:spPr>
          <a:xfrm>
            <a:off x="838200" y="2006600"/>
            <a:ext cx="279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Библиотекарь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A7A8D8-2EE3-4CF7-BBF3-B8E6002784B0}"/>
              </a:ext>
            </a:extLst>
          </p:cNvPr>
          <p:cNvSpPr txBox="1"/>
          <p:nvPr/>
        </p:nvSpPr>
        <p:spPr>
          <a:xfrm>
            <a:off x="838200" y="2247900"/>
            <a:ext cx="2921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i="1">
                <a:solidFill>
                  <a:srgbClr val="7A6A52"/>
                </a:solidFill>
                <a:latin typeface="Georgia" panose="02040502050405020303" pitchFamily="18" charset="0"/>
              </a:rPr>
              <a:t>справки проверены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7186859-73F2-430E-B852-665254518578}"/>
              </a:ext>
            </a:extLst>
          </p:cNvPr>
          <p:cNvSpPr/>
          <p:nvPr/>
        </p:nvSpPr>
        <p:spPr>
          <a:xfrm>
            <a:off x="4191000" y="21082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64AE2C7-1389-4AE1-86BA-BDA4C4D709DB}"/>
              </a:ext>
            </a:extLst>
          </p:cNvPr>
          <p:cNvSpPr/>
          <p:nvPr/>
        </p:nvSpPr>
        <p:spPr>
          <a:xfrm>
            <a:off x="4546600" y="21082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CC08A92-FE90-4DCE-8E46-FABD2E9A6A6D}"/>
              </a:ext>
            </a:extLst>
          </p:cNvPr>
          <p:cNvSpPr/>
          <p:nvPr/>
        </p:nvSpPr>
        <p:spPr>
          <a:xfrm>
            <a:off x="4902200" y="21082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5020F4E-2312-42CB-8FFC-C483582F2FEF}"/>
              </a:ext>
            </a:extLst>
          </p:cNvPr>
          <p:cNvSpPr/>
          <p:nvPr/>
        </p:nvSpPr>
        <p:spPr>
          <a:xfrm>
            <a:off x="5257800" y="21082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DD7284-A659-4E7B-8EC4-014CF0952C0C}"/>
              </a:ext>
            </a:extLst>
          </p:cNvPr>
          <p:cNvSpPr txBox="1"/>
          <p:nvPr/>
        </p:nvSpPr>
        <p:spPr>
          <a:xfrm>
            <a:off x="838200" y="2590800"/>
            <a:ext cx="279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Серьёзная газета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1E66FD-5EBE-495C-AC42-0B15F66C0969}"/>
              </a:ext>
            </a:extLst>
          </p:cNvPr>
          <p:cNvSpPr txBox="1"/>
          <p:nvPr/>
        </p:nvSpPr>
        <p:spPr>
          <a:xfrm>
            <a:off x="838200" y="2832100"/>
            <a:ext cx="2921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i="1">
                <a:solidFill>
                  <a:srgbClr val="7A6A52"/>
                </a:solidFill>
                <a:latin typeface="Georgia" panose="02040502050405020303" pitchFamily="18" charset="0"/>
              </a:rPr>
              <a:t>«Справка редакции»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33C63BD-5223-4465-95C1-8E4498729C2B}"/>
              </a:ext>
            </a:extLst>
          </p:cNvPr>
          <p:cNvSpPr/>
          <p:nvPr/>
        </p:nvSpPr>
        <p:spPr>
          <a:xfrm>
            <a:off x="4191000" y="26924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542A78C-6517-4BA8-8017-94F0708B1E86}"/>
              </a:ext>
            </a:extLst>
          </p:cNvPr>
          <p:cNvSpPr/>
          <p:nvPr/>
        </p:nvSpPr>
        <p:spPr>
          <a:xfrm>
            <a:off x="4546600" y="26924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F39669E-5837-4A49-9241-81233913D80E}"/>
              </a:ext>
            </a:extLst>
          </p:cNvPr>
          <p:cNvSpPr/>
          <p:nvPr/>
        </p:nvSpPr>
        <p:spPr>
          <a:xfrm>
            <a:off x="4902200" y="2692400"/>
            <a:ext cx="279400" cy="165100"/>
          </a:xfrm>
          <a:prstGeom prst="rect">
            <a:avLst/>
          </a:prstGeom>
          <a:solidFill>
            <a:srgbClr val="4D7A47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2C91584-9A8E-4ABC-89FE-91D389BD6016}"/>
              </a:ext>
            </a:extLst>
          </p:cNvPr>
          <p:cNvSpPr/>
          <p:nvPr/>
        </p:nvSpPr>
        <p:spPr>
          <a:xfrm>
            <a:off x="5257800" y="26924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7313C2-C12F-485F-990C-32096D6F0F9A}"/>
              </a:ext>
            </a:extLst>
          </p:cNvPr>
          <p:cNvSpPr txBox="1"/>
          <p:nvPr/>
        </p:nvSpPr>
        <p:spPr>
          <a:xfrm>
            <a:off x="838200" y="3175000"/>
            <a:ext cx="279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Борис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20BFF6-D84A-4A1E-86A4-FE6C59F8CED3}"/>
              </a:ext>
            </a:extLst>
          </p:cNvPr>
          <p:cNvSpPr txBox="1"/>
          <p:nvPr/>
        </p:nvSpPr>
        <p:spPr>
          <a:xfrm>
            <a:off x="838200" y="3416300"/>
            <a:ext cx="2921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i="1">
                <a:solidFill>
                  <a:srgbClr val="7A6A52"/>
                </a:solidFill>
                <a:latin typeface="Georgia" panose="02040502050405020303" pitchFamily="18" charset="0"/>
              </a:rPr>
              <a:t>иногда путает цифры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3335F1D-BA73-45DE-A713-CE5A11BC96E2}"/>
              </a:ext>
            </a:extLst>
          </p:cNvPr>
          <p:cNvSpPr/>
          <p:nvPr/>
        </p:nvSpPr>
        <p:spPr>
          <a:xfrm>
            <a:off x="4191000" y="3276600"/>
            <a:ext cx="279400" cy="165100"/>
          </a:xfrm>
          <a:prstGeom prst="rect">
            <a:avLst/>
          </a:prstGeom>
          <a:solidFill>
            <a:srgbClr val="E2B64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2D6FA2C-8A37-4970-9E23-BB5DBBA64846}"/>
              </a:ext>
            </a:extLst>
          </p:cNvPr>
          <p:cNvSpPr/>
          <p:nvPr/>
        </p:nvSpPr>
        <p:spPr>
          <a:xfrm>
            <a:off x="4546600" y="3276600"/>
            <a:ext cx="279400" cy="165100"/>
          </a:xfrm>
          <a:prstGeom prst="rect">
            <a:avLst/>
          </a:prstGeom>
          <a:solidFill>
            <a:srgbClr val="E2B64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9231882-EF0E-4D08-A04B-5751860EF9AE}"/>
              </a:ext>
            </a:extLst>
          </p:cNvPr>
          <p:cNvSpPr/>
          <p:nvPr/>
        </p:nvSpPr>
        <p:spPr>
          <a:xfrm>
            <a:off x="4902200" y="32766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E933BE8C-917A-42AE-A128-9B106AA83E14}"/>
              </a:ext>
            </a:extLst>
          </p:cNvPr>
          <p:cNvSpPr/>
          <p:nvPr/>
        </p:nvSpPr>
        <p:spPr>
          <a:xfrm>
            <a:off x="5257800" y="32766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B17CAA-BD5E-4D47-B8F8-1C6648A004C6}"/>
              </a:ext>
            </a:extLst>
          </p:cNvPr>
          <p:cNvSpPr txBox="1"/>
          <p:nvPr/>
        </p:nvSpPr>
        <p:spPr>
          <a:xfrm>
            <a:off x="838200" y="3759200"/>
            <a:ext cx="279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Лена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06BBBE-92D5-414A-95EE-559D938E4FBB}"/>
              </a:ext>
            </a:extLst>
          </p:cNvPr>
          <p:cNvSpPr txBox="1"/>
          <p:nvPr/>
        </p:nvSpPr>
        <p:spPr>
          <a:xfrm>
            <a:off x="838200" y="4000500"/>
            <a:ext cx="2921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i="1">
                <a:solidFill>
                  <a:srgbClr val="7A6A52"/>
                </a:solidFill>
                <a:latin typeface="Georgia" panose="02040502050405020303" pitchFamily="18" charset="0"/>
              </a:rPr>
              <a:t>любит преувеличивать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49F684C-98EE-478E-8943-E62BAAD7ABAB}"/>
              </a:ext>
            </a:extLst>
          </p:cNvPr>
          <p:cNvSpPr/>
          <p:nvPr/>
        </p:nvSpPr>
        <p:spPr>
          <a:xfrm>
            <a:off x="4191000" y="3860800"/>
            <a:ext cx="279400" cy="165100"/>
          </a:xfrm>
          <a:prstGeom prst="rect">
            <a:avLst/>
          </a:prstGeom>
          <a:solidFill>
            <a:srgbClr val="E2B64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741E5B2B-1587-4DEE-92A6-91BD34D7D9AF}"/>
              </a:ext>
            </a:extLst>
          </p:cNvPr>
          <p:cNvSpPr/>
          <p:nvPr/>
        </p:nvSpPr>
        <p:spPr>
          <a:xfrm>
            <a:off x="4546600" y="3860800"/>
            <a:ext cx="279400" cy="165100"/>
          </a:xfrm>
          <a:prstGeom prst="rect">
            <a:avLst/>
          </a:prstGeom>
          <a:solidFill>
            <a:srgbClr val="E2B64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A054CE1-36E7-47D6-B37B-32B7ECD9B65E}"/>
              </a:ext>
            </a:extLst>
          </p:cNvPr>
          <p:cNvSpPr/>
          <p:nvPr/>
        </p:nvSpPr>
        <p:spPr>
          <a:xfrm>
            <a:off x="4902200" y="38608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8D9CA7A6-7C69-4DEC-98A5-BAE4A30A1F51}"/>
              </a:ext>
            </a:extLst>
          </p:cNvPr>
          <p:cNvSpPr/>
          <p:nvPr/>
        </p:nvSpPr>
        <p:spPr>
          <a:xfrm>
            <a:off x="5257800" y="38608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68A252-EF77-4806-86BD-F532304F7B8E}"/>
              </a:ext>
            </a:extLst>
          </p:cNvPr>
          <p:cNvSpPr txBox="1"/>
          <p:nvPr/>
        </p:nvSpPr>
        <p:spPr>
          <a:xfrm>
            <a:off x="838200" y="4343400"/>
            <a:ext cx="279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Жёлтая газета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31AB28-3F93-46E9-9A85-DC71C9A14E40}"/>
              </a:ext>
            </a:extLst>
          </p:cNvPr>
          <p:cNvSpPr txBox="1"/>
          <p:nvPr/>
        </p:nvSpPr>
        <p:spPr>
          <a:xfrm>
            <a:off x="838200" y="4584700"/>
            <a:ext cx="2921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i="1">
                <a:solidFill>
                  <a:srgbClr val="7A6A52"/>
                </a:solidFill>
                <a:latin typeface="Georgia" panose="02040502050405020303" pitchFamily="18" charset="0"/>
              </a:rPr>
              <a:t>громко, но не всегда верно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C062DAB2-4CB4-40B1-9F2F-75897EC71EAC}"/>
              </a:ext>
            </a:extLst>
          </p:cNvPr>
          <p:cNvSpPr/>
          <p:nvPr/>
        </p:nvSpPr>
        <p:spPr>
          <a:xfrm>
            <a:off x="4191000" y="4445000"/>
            <a:ext cx="279400" cy="165100"/>
          </a:xfrm>
          <a:prstGeom prst="rect">
            <a:avLst/>
          </a:prstGeom>
          <a:solidFill>
            <a:srgbClr val="B8392D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3FC6A3A-2433-49E3-81B2-759A3BE92094}"/>
              </a:ext>
            </a:extLst>
          </p:cNvPr>
          <p:cNvSpPr/>
          <p:nvPr/>
        </p:nvSpPr>
        <p:spPr>
          <a:xfrm>
            <a:off x="4546600" y="44450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1CD60071-8053-4835-A74F-9B29902D9875}"/>
              </a:ext>
            </a:extLst>
          </p:cNvPr>
          <p:cNvSpPr/>
          <p:nvPr/>
        </p:nvSpPr>
        <p:spPr>
          <a:xfrm>
            <a:off x="4902200" y="44450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F9FFBB24-DDB6-4A9B-87CD-4079ABE638B5}"/>
              </a:ext>
            </a:extLst>
          </p:cNvPr>
          <p:cNvSpPr/>
          <p:nvPr/>
        </p:nvSpPr>
        <p:spPr>
          <a:xfrm>
            <a:off x="5257800" y="44450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8CBA69-8CBB-45E9-8A67-F50C750EF7A5}"/>
              </a:ext>
            </a:extLst>
          </p:cNvPr>
          <p:cNvSpPr txBox="1"/>
          <p:nvPr/>
        </p:nvSpPr>
        <p:spPr>
          <a:xfrm>
            <a:off x="838200" y="4927600"/>
            <a:ext cx="2794000" cy="228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Незнакомый номер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C79F5B-9C7B-4B7B-B16F-52C5CEAD80BC}"/>
              </a:ext>
            </a:extLst>
          </p:cNvPr>
          <p:cNvSpPr txBox="1"/>
          <p:nvPr/>
        </p:nvSpPr>
        <p:spPr>
          <a:xfrm>
            <a:off x="838200" y="5168900"/>
            <a:ext cx="2921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50" i="1">
                <a:solidFill>
                  <a:srgbClr val="7A6A52"/>
                </a:solidFill>
                <a:latin typeface="Georgia" panose="02040502050405020303" pitchFamily="18" charset="0"/>
              </a:rPr>
              <a:t>конкурент или честный гражданин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C646272-3528-446A-B282-529F5E57A817}"/>
              </a:ext>
            </a:extLst>
          </p:cNvPr>
          <p:cNvSpPr/>
          <p:nvPr/>
        </p:nvSpPr>
        <p:spPr>
          <a:xfrm>
            <a:off x="4191000" y="50292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4CA608E3-5EC2-4C5F-97E1-8D44F863CE0D}"/>
              </a:ext>
            </a:extLst>
          </p:cNvPr>
          <p:cNvSpPr/>
          <p:nvPr/>
        </p:nvSpPr>
        <p:spPr>
          <a:xfrm>
            <a:off x="4546600" y="50292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6BA5A7A6-2577-4A4A-BAA1-B327E6C8C34E}"/>
              </a:ext>
            </a:extLst>
          </p:cNvPr>
          <p:cNvSpPr/>
          <p:nvPr/>
        </p:nvSpPr>
        <p:spPr>
          <a:xfrm>
            <a:off x="4902200" y="50292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BEFC403F-4A1A-4FA8-9194-617299A6DDB1}"/>
              </a:ext>
            </a:extLst>
          </p:cNvPr>
          <p:cNvSpPr/>
          <p:nvPr/>
        </p:nvSpPr>
        <p:spPr>
          <a:xfrm>
            <a:off x="5257800" y="5029200"/>
            <a:ext cx="279400" cy="165100"/>
          </a:xfrm>
          <a:prstGeom prst="rect">
            <a:avLst/>
          </a:prstGeom>
          <a:solidFill>
            <a:srgbClr val="BDB08C"/>
          </a:solidFill>
          <a:ln w="15875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8C41AA-009E-4DE3-87FA-44138BD95ABE}"/>
              </a:ext>
            </a:extLst>
          </p:cNvPr>
          <p:cNvSpPr txBox="1"/>
          <p:nvPr/>
        </p:nvSpPr>
        <p:spPr>
          <a:xfrm>
            <a:off x="5664200" y="5003800"/>
            <a:ext cx="254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7A6A52"/>
                </a:solidFill>
                <a:latin typeface="Courier New" panose="02070309020205020404" pitchFamily="49" charset="0"/>
              </a:rPr>
              <a:t>?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37BAA26-EA94-4DDE-8260-7D3A1C7802E9}"/>
              </a:ext>
            </a:extLst>
          </p:cNvPr>
          <p:cNvSpPr txBox="1"/>
          <p:nvPr/>
        </p:nvSpPr>
        <p:spPr>
          <a:xfrm>
            <a:off x="6553200" y="1270000"/>
            <a:ext cx="50292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>
                <a:solidFill>
                  <a:srgbClr val="F2ECE0"/>
                </a:solidFill>
                <a:latin typeface="Georgia" panose="02040502050405020303" pitchFamily="18" charset="0"/>
              </a:rPr>
              <a:t>Игра не говорит, что правда. Подсказки спрятаны в газетах, звонках и утренних вестях, а </a:t>
            </a:r>
            <a:r>
              <a:rPr lang="ru-RU" sz="1700">
                <a:solidFill>
                  <a:srgbClr val="E2B64C"/>
                </a:solidFill>
                <a:latin typeface="Georgia" panose="02040502050405020303" pitchFamily="18" charset="0"/>
              </a:rPr>
              <a:t>надёжность канала решает всё</a:t>
            </a:r>
            <a:r>
              <a:rPr lang="ru-RU" sz="1700">
                <a:solidFill>
                  <a:srgbClr val="F2ECE0"/>
                </a:solidFill>
                <a:latin typeface="Georgia" panose="02040502050405020303" pitchFamily="18" charset="0"/>
              </a:rPr>
              <a:t>.</a:t>
            </a:r>
          </a:p>
        </p:txBody>
      </p:sp>
      <p:pic>
        <p:nvPicPr>
          <p:cNvPr id="50" name="Рисунок 49" descr="Карточки в руке, одна раскрыта">
            <a:extLst>
              <a:ext uri="{FF2B5EF4-FFF2-40B4-BE49-F238E27FC236}">
                <a16:creationId xmlns:a16="http://schemas.microsoft.com/office/drawing/2014/main" id="{A677F723-4960-44C7-B98C-5A9EE069890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3200" y="2336800"/>
            <a:ext cx="5029200" cy="28321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FFB3246-7DFF-46F1-A152-6BB2AFB83721}"/>
              </a:ext>
            </a:extLst>
          </p:cNvPr>
          <p:cNvSpPr txBox="1"/>
          <p:nvPr/>
        </p:nvSpPr>
        <p:spPr>
          <a:xfrm>
            <a:off x="6553200" y="5308600"/>
            <a:ext cx="5029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CFC29C"/>
                </a:solidFill>
                <a:latin typeface="Courier New" panose="02070309020205020404" pitchFamily="49" charset="0"/>
              </a:rPr>
              <a:t>СВОЙ ВЕРДИКТ: «?» → «ДА» → «НЕТ». ПОМЕТКА ДЛЯ СЕБЯ, НА СЧЁТ НЕ ВЛИЯЕТ</a:t>
            </a:r>
          </a:p>
        </p:txBody>
      </p:sp>
      <p:sp>
        <p:nvSpPr>
          <p:cNvPr id="52" name="slide-no">
            <a:extLst>
              <a:ext uri="{FF2B5EF4-FFF2-40B4-BE49-F238E27FC236}">
                <a16:creationId xmlns:a16="http://schemas.microsoft.com/office/drawing/2014/main" id="{27FB461E-B00C-4038-83BC-B8D63E7DDD6A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6 / 17</a:t>
            </a:r>
          </a:p>
        </p:txBody>
      </p:sp>
    </p:spTree>
    <p:extLst>
      <p:ext uri="{BB962C8B-B14F-4D97-AF65-F5344CB8AC3E}">
        <p14:creationId xmlns:p14="http://schemas.microsoft.com/office/powerpoint/2010/main" val="22955805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7A16F8-0467-480A-BD88-6139D6F8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Собираем страницу — получаем оценку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7E84A-DB01-4013-B0CA-8079793AAFE7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МЕХАНИКА 3</a:t>
            </a:r>
          </a:p>
        </p:txBody>
      </p:sp>
      <p:pic>
        <p:nvPicPr>
          <p:cNvPr id="5" name="Рисунок 4" descr="Страница статьи: слоты, заголовок и инфоповоды в руке">
            <a:extLst>
              <a:ext uri="{FF2B5EF4-FFF2-40B4-BE49-F238E27FC236}">
                <a16:creationId xmlns:a16="http://schemas.microsoft.com/office/drawing/2014/main" id="{D6C20D88-FCB5-4D33-AE53-742AECA46D5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5334000" cy="29972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721A29-29F4-48D5-96E9-43A966AEA3F7}"/>
              </a:ext>
            </a:extLst>
          </p:cNvPr>
          <p:cNvSpPr txBox="1"/>
          <p:nvPr/>
        </p:nvSpPr>
        <p:spPr>
          <a:xfrm>
            <a:off x="609600" y="4419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CFC29C"/>
                </a:solidFill>
                <a:latin typeface="Courier New" panose="02070309020205020404" pitchFamily="49" charset="0"/>
              </a:rPr>
              <a:t>СЛОТЫ → ЗАГОЛОВОК → «ОПУБЛИКОВАТЬ» → ОЦЕНКА И ШТАМП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113C6E2-E3D4-4239-9E99-B7110F89EE40}"/>
              </a:ext>
            </a:extLst>
          </p:cNvPr>
          <p:cNvSpPr/>
          <p:nvPr/>
        </p:nvSpPr>
        <p:spPr>
          <a:xfrm>
            <a:off x="6324600" y="1270000"/>
            <a:ext cx="2590800" cy="9398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797A6C-2523-4EEC-95DD-1C3E2D349A0F}"/>
              </a:ext>
            </a:extLst>
          </p:cNvPr>
          <p:cNvSpPr txBox="1"/>
          <p:nvPr/>
        </p:nvSpPr>
        <p:spPr>
          <a:xfrm>
            <a:off x="6477000" y="13970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3F7A35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6705A7-BC4E-4F66-A141-C936BD9C1ECD}"/>
              </a:ext>
            </a:extLst>
          </p:cNvPr>
          <p:cNvSpPr txBox="1"/>
          <p:nvPr/>
        </p:nvSpPr>
        <p:spPr>
          <a:xfrm>
            <a:off x="6477000" y="1828800"/>
            <a:ext cx="2336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41C16"/>
                </a:solidFill>
                <a:latin typeface="Georgia" panose="02040502050405020303" pitchFamily="18" charset="0"/>
              </a:rPr>
              <a:t>достоверно и по теме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3AAAA15-ECF5-4591-8E3F-21ACE060A59C}"/>
              </a:ext>
            </a:extLst>
          </p:cNvPr>
          <p:cNvSpPr/>
          <p:nvPr/>
        </p:nvSpPr>
        <p:spPr>
          <a:xfrm>
            <a:off x="9067800" y="1270000"/>
            <a:ext cx="2590800" cy="9398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9B613D-8122-4C76-8A9A-E5801B3BE527}"/>
              </a:ext>
            </a:extLst>
          </p:cNvPr>
          <p:cNvSpPr txBox="1"/>
          <p:nvPr/>
        </p:nvSpPr>
        <p:spPr>
          <a:xfrm>
            <a:off x="9220200" y="13970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B88A1F"/>
                </a:solidFill>
                <a:latin typeface="Courier New" panose="02070309020205020404" pitchFamily="49" charset="0"/>
              </a:rPr>
              <a:t>0,35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ED6A8A-5017-4D40-8842-CC52CCA6D0B8}"/>
              </a:ext>
            </a:extLst>
          </p:cNvPr>
          <p:cNvSpPr txBox="1"/>
          <p:nvPr/>
        </p:nvSpPr>
        <p:spPr>
          <a:xfrm>
            <a:off x="9220200" y="1828800"/>
            <a:ext cx="2336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41C16"/>
                </a:solidFill>
                <a:latin typeface="Georgia" panose="02040502050405020303" pitchFamily="18" charset="0"/>
              </a:rPr>
              <a:t>достоверно, но не по теме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761B57E-626B-46F2-A090-890CA650099C}"/>
              </a:ext>
            </a:extLst>
          </p:cNvPr>
          <p:cNvSpPr/>
          <p:nvPr/>
        </p:nvSpPr>
        <p:spPr>
          <a:xfrm>
            <a:off x="6324600" y="2336800"/>
            <a:ext cx="2590800" cy="9398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01533B-8740-4E77-A3C2-80F619C05CC7}"/>
              </a:ext>
            </a:extLst>
          </p:cNvPr>
          <p:cNvSpPr txBox="1"/>
          <p:nvPr/>
        </p:nvSpPr>
        <p:spPr>
          <a:xfrm>
            <a:off x="6477000" y="24638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B8392D"/>
                </a:solidFill>
                <a:latin typeface="Courier New" panose="02070309020205020404" pitchFamily="49" charset="0"/>
              </a:rPr>
              <a:t>0 и -12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68CDE3-BA76-435D-A2FC-8C8CD341A488}"/>
              </a:ext>
            </a:extLst>
          </p:cNvPr>
          <p:cNvSpPr txBox="1"/>
          <p:nvPr/>
        </p:nvSpPr>
        <p:spPr>
          <a:xfrm>
            <a:off x="6477000" y="2895600"/>
            <a:ext cx="2336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41C16"/>
                </a:solidFill>
                <a:latin typeface="Georgia" panose="02040502050405020303" pitchFamily="18" charset="0"/>
              </a:rPr>
              <a:t>ложь: ноль баллов и штраф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29A11E3-7861-4CA0-AE5E-DED9BF6E99B8}"/>
              </a:ext>
            </a:extLst>
          </p:cNvPr>
          <p:cNvSpPr/>
          <p:nvPr/>
        </p:nvSpPr>
        <p:spPr>
          <a:xfrm>
            <a:off x="9067800" y="2336800"/>
            <a:ext cx="2590800" cy="9398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5CD86-79DE-47C9-B899-BEF6B0578013}"/>
              </a:ext>
            </a:extLst>
          </p:cNvPr>
          <p:cNvSpPr txBox="1"/>
          <p:nvPr/>
        </p:nvSpPr>
        <p:spPr>
          <a:xfrm>
            <a:off x="9220200" y="24638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B8392D"/>
                </a:solidFill>
                <a:latin typeface="Courier New" panose="02070309020205020404" pitchFamily="49" charset="0"/>
              </a:rPr>
              <a:t>-5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7D5DE5-C6A3-4590-B877-894C1DA042C1}"/>
              </a:ext>
            </a:extLst>
          </p:cNvPr>
          <p:cNvSpPr txBox="1"/>
          <p:nvPr/>
        </p:nvSpPr>
        <p:spPr>
          <a:xfrm>
            <a:off x="9220200" y="2895600"/>
            <a:ext cx="2336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41C16"/>
                </a:solidFill>
                <a:latin typeface="Georgia" panose="02040502050405020303" pitchFamily="18" charset="0"/>
              </a:rPr>
              <a:t>заголовок-кликбейт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DC25E82-738E-4AB7-9A92-DD33CE972F47}"/>
              </a:ext>
            </a:extLst>
          </p:cNvPr>
          <p:cNvSpPr/>
          <p:nvPr/>
        </p:nvSpPr>
        <p:spPr>
          <a:xfrm>
            <a:off x="6324600" y="3530600"/>
            <a:ext cx="5334000" cy="1371600"/>
          </a:xfrm>
          <a:prstGeom prst="rect">
            <a:avLst/>
          </a:prstGeom>
          <a:solidFill>
            <a:srgbClr val="1A1511"/>
          </a:solidFill>
          <a:ln w="28575">
            <a:solidFill>
              <a:srgbClr val="F6EFD9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404DB8-CB54-4732-AFB1-035988647EEB}"/>
              </a:ext>
            </a:extLst>
          </p:cNvPr>
          <p:cNvSpPr txBox="1"/>
          <p:nvPr/>
        </p:nvSpPr>
        <p:spPr>
          <a:xfrm>
            <a:off x="6527800" y="3733800"/>
            <a:ext cx="4978400" cy="1016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600"/>
              </a:spcAft>
            </a:pPr>
            <a:r>
              <a:rPr lang="ru-RU" sz="1200" b="1">
                <a:solidFill>
                  <a:srgbClr val="F2ECE0"/>
                </a:solidFill>
                <a:latin typeface="Courier New" panose="02070309020205020404" pitchFamily="49" charset="0"/>
              </a:rPr>
              <a:t>ОЦЕНКА = БАЛЛЫ СЛОТОВ × 80 / ЧИСЛО СЛОТОВ</a:t>
            </a:r>
          </a:p>
          <a:p>
            <a:pPr>
              <a:spcAft>
                <a:spcPts val="600"/>
              </a:spcAft>
            </a:pPr>
            <a:r>
              <a:rPr lang="ru-RU" sz="1200" b="1">
                <a:solidFill>
                  <a:srgbClr val="F2ECE0"/>
                </a:solidFill>
                <a:latin typeface="Courier New" panose="02070309020205020404" pitchFamily="49" charset="0"/>
              </a:rPr>
              <a:t>+ 20 ЗА ВЕРНЫЙ ЗАГОЛОВОК</a:t>
            </a:r>
          </a:p>
          <a:p>
            <a:pPr>
              <a:spcAft>
                <a:spcPts val="600"/>
              </a:spcAft>
            </a:pPr>
            <a:r>
              <a:rPr lang="ru-RU" sz="1200" b="1">
                <a:solidFill>
                  <a:srgbClr val="E2B64C"/>
                </a:solidFill>
                <a:latin typeface="Courier New" panose="02070309020205020404" pitchFamily="49" charset="0"/>
              </a:rPr>
              <a:t>100 — ИДЕАЛЬНО · МЕНЬШЕ 50 — ПРОВАЛ</a:t>
            </a:r>
          </a:p>
        </p:txBody>
      </p:sp>
      <p:sp>
        <p:nvSpPr>
          <p:cNvPr id="21" name="slide-no">
            <a:extLst>
              <a:ext uri="{FF2B5EF4-FFF2-40B4-BE49-F238E27FC236}">
                <a16:creationId xmlns:a16="http://schemas.microsoft.com/office/drawing/2014/main" id="{319B9042-A954-44AD-B0B9-9303E1161596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7 / 17</a:t>
            </a:r>
          </a:p>
        </p:txBody>
      </p:sp>
    </p:spTree>
    <p:extLst>
      <p:ext uri="{BB962C8B-B14F-4D97-AF65-F5344CB8AC3E}">
        <p14:creationId xmlns:p14="http://schemas.microsoft.com/office/powerpoint/2010/main" val="2051503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241AFA-B9A2-43DB-BB17-7A82C5FD2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Интервью: риск и награда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303DCB-7A65-424A-A712-9E391AF9B561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МЕХАНИКА 4</a:t>
            </a:r>
          </a:p>
        </p:txBody>
      </p:sp>
      <p:pic>
        <p:nvPicPr>
          <p:cNvPr id="5" name="Рисунок 4" descr="Интервью: три вопроса на выбор">
            <a:extLst>
              <a:ext uri="{FF2B5EF4-FFF2-40B4-BE49-F238E27FC236}">
                <a16:creationId xmlns:a16="http://schemas.microsoft.com/office/drawing/2014/main" id="{7BE65479-C11D-466B-A451-9EFDFBA56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5334000" cy="29972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2ECA80-F521-4761-BFF8-CA3A1FE5F95F}"/>
              </a:ext>
            </a:extLst>
          </p:cNvPr>
          <p:cNvSpPr txBox="1"/>
          <p:nvPr/>
        </p:nvSpPr>
        <p:spPr>
          <a:xfrm>
            <a:off x="609600" y="4419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CFC29C"/>
                </a:solidFill>
                <a:latin typeface="Courier New" panose="02070309020205020404" pitchFamily="49" charset="0"/>
              </a:rPr>
              <a:t>КАРТОЧКА ГЕРОЯ → ТРИ ВОПРОСА НА ВЫБОР → ОТВЕТ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368DE93-DFC7-4286-8B66-8F92F6138C16}"/>
              </a:ext>
            </a:extLst>
          </p:cNvPr>
          <p:cNvSpPr/>
          <p:nvPr/>
        </p:nvSpPr>
        <p:spPr>
          <a:xfrm>
            <a:off x="6324600" y="1270000"/>
            <a:ext cx="279400" cy="279400"/>
          </a:xfrm>
          <a:prstGeom prst="rect">
            <a:avLst/>
          </a:prstGeom>
          <a:solidFill>
            <a:srgbClr val="E2B64C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1963F4-EEA6-4697-8B21-B2FA7E46E440}"/>
              </a:ext>
            </a:extLst>
          </p:cNvPr>
          <p:cNvSpPr txBox="1"/>
          <p:nvPr/>
        </p:nvSpPr>
        <p:spPr>
          <a:xfrm>
            <a:off x="6324600" y="1333500"/>
            <a:ext cx="2794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000" b="1">
                <a:solidFill>
                  <a:srgbClr val="241C16"/>
                </a:solidFill>
                <a:latin typeface="Courier New" panose="02070309020205020404" pitchFamily="49" charset="0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06EE2-4B7F-4BA4-9C6F-20E3C8148EC5}"/>
              </a:ext>
            </a:extLst>
          </p:cNvPr>
          <p:cNvSpPr txBox="1"/>
          <p:nvPr/>
        </p:nvSpPr>
        <p:spPr>
          <a:xfrm>
            <a:off x="6781800" y="1257300"/>
            <a:ext cx="48006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F2ECE0"/>
                </a:solidFill>
                <a:latin typeface="Georgia" panose="02040502050405020303" pitchFamily="18" charset="0"/>
              </a:rPr>
              <a:t>Открывается только при оценке 100 из 100.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FF47EB1-D4E3-46A1-B27C-A06B5F1F9DB3}"/>
              </a:ext>
            </a:extLst>
          </p:cNvPr>
          <p:cNvSpPr/>
          <p:nvPr/>
        </p:nvSpPr>
        <p:spPr>
          <a:xfrm>
            <a:off x="6324600" y="2184400"/>
            <a:ext cx="279400" cy="279400"/>
          </a:xfrm>
          <a:prstGeom prst="rect">
            <a:avLst/>
          </a:prstGeom>
          <a:solidFill>
            <a:srgbClr val="E2B64C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B547F4-F996-46B3-9C4A-593180543D6E}"/>
              </a:ext>
            </a:extLst>
          </p:cNvPr>
          <p:cNvSpPr txBox="1"/>
          <p:nvPr/>
        </p:nvSpPr>
        <p:spPr>
          <a:xfrm>
            <a:off x="6324600" y="2247900"/>
            <a:ext cx="2794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000" b="1">
                <a:solidFill>
                  <a:srgbClr val="241C16"/>
                </a:solidFill>
                <a:latin typeface="Courier New" panose="02070309020205020404" pitchFamily="49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91D0A-0194-49BE-9245-97CA49BD785D}"/>
              </a:ext>
            </a:extLst>
          </p:cNvPr>
          <p:cNvSpPr txBox="1"/>
          <p:nvPr/>
        </p:nvSpPr>
        <p:spPr>
          <a:xfrm>
            <a:off x="6781800" y="2171700"/>
            <a:ext cx="48006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F2ECE0"/>
                </a:solidFill>
                <a:latin typeface="Georgia" panose="02040502050405020303" pitchFamily="18" charset="0"/>
              </a:rPr>
              <a:t>Три вопроса и 12, 9 или 6 секунд на выбор: один удачный, остальные мимо.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33C1E2F-F4D0-405D-9F37-3B98C687FFA9}"/>
              </a:ext>
            </a:extLst>
          </p:cNvPr>
          <p:cNvSpPr/>
          <p:nvPr/>
        </p:nvSpPr>
        <p:spPr>
          <a:xfrm>
            <a:off x="6324600" y="3098800"/>
            <a:ext cx="279400" cy="279400"/>
          </a:xfrm>
          <a:prstGeom prst="rect">
            <a:avLst/>
          </a:prstGeom>
          <a:solidFill>
            <a:srgbClr val="E2B64C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0A5DC-0ACC-4C70-817C-0EE9B496F165}"/>
              </a:ext>
            </a:extLst>
          </p:cNvPr>
          <p:cNvSpPr txBox="1"/>
          <p:nvPr/>
        </p:nvSpPr>
        <p:spPr>
          <a:xfrm>
            <a:off x="6324600" y="3162300"/>
            <a:ext cx="2794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000" b="1">
                <a:solidFill>
                  <a:srgbClr val="241C16"/>
                </a:solidFill>
                <a:latin typeface="Courier New" panose="02070309020205020404" pitchFamily="49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A20445-6AD1-47FA-950F-B627471C8E8B}"/>
              </a:ext>
            </a:extLst>
          </p:cNvPr>
          <p:cNvSpPr txBox="1"/>
          <p:nvPr/>
        </p:nvSpPr>
        <p:spPr>
          <a:xfrm>
            <a:off x="6781800" y="3086100"/>
            <a:ext cx="48006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F2ECE0"/>
                </a:solidFill>
                <a:latin typeface="Georgia" panose="02040502050405020303" pitchFamily="18" charset="0"/>
              </a:rPr>
              <a:t>Опасная тема — риск: герой вспылит, и весь бонус сгорит, а может дать двойной успех.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D3D2B1E-7D5F-4DBE-B086-F861B4E1872D}"/>
              </a:ext>
            </a:extLst>
          </p:cNvPr>
          <p:cNvSpPr/>
          <p:nvPr/>
        </p:nvSpPr>
        <p:spPr>
          <a:xfrm>
            <a:off x="6324600" y="4013200"/>
            <a:ext cx="279400" cy="279400"/>
          </a:xfrm>
          <a:prstGeom prst="rect">
            <a:avLst/>
          </a:prstGeom>
          <a:solidFill>
            <a:srgbClr val="E2B64C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47F35C-C0CF-4880-B50A-8D84DD11B7BB}"/>
              </a:ext>
            </a:extLst>
          </p:cNvPr>
          <p:cNvSpPr txBox="1"/>
          <p:nvPr/>
        </p:nvSpPr>
        <p:spPr>
          <a:xfrm>
            <a:off x="6324600" y="4076700"/>
            <a:ext cx="2794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000" b="1">
                <a:solidFill>
                  <a:srgbClr val="241C16"/>
                </a:solidFill>
                <a:latin typeface="Courier New" panose="02070309020205020404" pitchFamily="49" charset="0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C0E31-DB25-4FF8-B794-5373FD1C5D16}"/>
              </a:ext>
            </a:extLst>
          </p:cNvPr>
          <p:cNvSpPr txBox="1"/>
          <p:nvPr/>
        </p:nvSpPr>
        <p:spPr>
          <a:xfrm>
            <a:off x="6781800" y="4000500"/>
            <a:ext cx="48006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F2ECE0"/>
                </a:solidFill>
                <a:latin typeface="Georgia" panose="02040502050405020303" pitchFamily="18" charset="0"/>
              </a:rPr>
              <a:t>Награда: золотые инфоповоды на следующий день, достоверные и логичные.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5C74B05-25F6-40A1-A9DE-BEBA25F59906}"/>
              </a:ext>
            </a:extLst>
          </p:cNvPr>
          <p:cNvSpPr/>
          <p:nvPr/>
        </p:nvSpPr>
        <p:spPr>
          <a:xfrm>
            <a:off x="6324600" y="4927600"/>
            <a:ext cx="279400" cy="279400"/>
          </a:xfrm>
          <a:prstGeom prst="rect">
            <a:avLst/>
          </a:prstGeom>
          <a:solidFill>
            <a:srgbClr val="E2B64C"/>
          </a:solidFill>
          <a:ln w="19050">
            <a:solidFill>
              <a:srgbClr val="241C1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1EA3F3-7223-435F-8305-C355AEB2594B}"/>
              </a:ext>
            </a:extLst>
          </p:cNvPr>
          <p:cNvSpPr txBox="1"/>
          <p:nvPr/>
        </p:nvSpPr>
        <p:spPr>
          <a:xfrm>
            <a:off x="6324600" y="4991100"/>
            <a:ext cx="2794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000" b="1">
                <a:solidFill>
                  <a:srgbClr val="241C16"/>
                </a:solidFill>
                <a:latin typeface="Courier New" panose="02070309020205020404" pitchFamily="49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A12B3-37D5-49EB-8360-33DD68D9ADE9}"/>
              </a:ext>
            </a:extLst>
          </p:cNvPr>
          <p:cNvSpPr txBox="1"/>
          <p:nvPr/>
        </p:nvSpPr>
        <p:spPr>
          <a:xfrm>
            <a:off x="6781800" y="4914900"/>
            <a:ext cx="4800600" cy="787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F2ECE0"/>
                </a:solidFill>
                <a:latin typeface="Georgia" panose="02040502050405020303" pitchFamily="18" charset="0"/>
              </a:rPr>
              <a:t>Не «вечная сотня»: интервью закрывает не больше половины страницы и два дня подряд не бывает.</a:t>
            </a:r>
          </a:p>
        </p:txBody>
      </p:sp>
      <p:sp>
        <p:nvSpPr>
          <p:cNvPr id="22" name="slide-no">
            <a:extLst>
              <a:ext uri="{FF2B5EF4-FFF2-40B4-BE49-F238E27FC236}">
                <a16:creationId xmlns:a16="http://schemas.microsoft.com/office/drawing/2014/main" id="{1165E3C9-8450-4FBA-BE74-FA8C23A8461F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8 / 17</a:t>
            </a:r>
          </a:p>
        </p:txBody>
      </p:sp>
    </p:spTree>
    <p:extLst>
      <p:ext uri="{BB962C8B-B14F-4D97-AF65-F5344CB8AC3E}">
        <p14:creationId xmlns:p14="http://schemas.microsoft.com/office/powerpoint/2010/main" val="161759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FB2C93-6B7F-4F08-AAF9-8305D79FF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Что делает игрок — что делает журналист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F8803A-F919-4213-97E8-FB5C212EAAC2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ЦЕЛЬ КЕЙСА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48EDAD8-113B-4277-BE9F-7F33F1A02D61}"/>
              </a:ext>
            </a:extLst>
          </p:cNvPr>
          <p:cNvSpPr/>
          <p:nvPr/>
        </p:nvSpPr>
        <p:spPr>
          <a:xfrm>
            <a:off x="609600" y="1295400"/>
            <a:ext cx="5207000" cy="5334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A262BE-73AF-4A89-B87C-832F57A7F34B}"/>
              </a:ext>
            </a:extLst>
          </p:cNvPr>
          <p:cNvSpPr txBox="1"/>
          <p:nvPr/>
        </p:nvSpPr>
        <p:spPr>
          <a:xfrm>
            <a:off x="787400" y="1447800"/>
            <a:ext cx="4953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Строка газеты уходит «в руку»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E6C416-2784-4F2D-82C6-EB7A94B29C90}"/>
              </a:ext>
            </a:extLst>
          </p:cNvPr>
          <p:cNvSpPr txBox="1"/>
          <p:nvPr/>
        </p:nvSpPr>
        <p:spPr>
          <a:xfrm>
            <a:off x="5867400" y="1460500"/>
            <a:ext cx="431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73AE77-17C8-4DE5-B933-999B422200BE}"/>
              </a:ext>
            </a:extLst>
          </p:cNvPr>
          <p:cNvSpPr/>
          <p:nvPr/>
        </p:nvSpPr>
        <p:spPr>
          <a:xfrm>
            <a:off x="6324600" y="1295400"/>
            <a:ext cx="5257800" cy="533400"/>
          </a:xfrm>
          <a:prstGeom prst="rect">
            <a:avLst/>
          </a:prstGeom>
          <a:solidFill>
            <a:srgbClr val="1A1511"/>
          </a:solidFill>
          <a:ln w="19050">
            <a:solidFill>
              <a:srgbClr val="CFC29C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E4056F-842F-4BDB-A30D-D018757AC6C9}"/>
              </a:ext>
            </a:extLst>
          </p:cNvPr>
          <p:cNvSpPr txBox="1"/>
          <p:nvPr/>
        </p:nvSpPr>
        <p:spPr>
          <a:xfrm>
            <a:off x="6502400" y="1447800"/>
            <a:ext cx="497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Мониторинг СМИ, отбор инфоповодов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4871F93-3F90-48E7-B765-C0F2EF728E36}"/>
              </a:ext>
            </a:extLst>
          </p:cNvPr>
          <p:cNvSpPr/>
          <p:nvPr/>
        </p:nvSpPr>
        <p:spPr>
          <a:xfrm>
            <a:off x="609600" y="1955800"/>
            <a:ext cx="5207000" cy="5334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4E5E8A-B997-4717-9E4E-3E17B9113053}"/>
              </a:ext>
            </a:extLst>
          </p:cNvPr>
          <p:cNvSpPr txBox="1"/>
          <p:nvPr/>
        </p:nvSpPr>
        <p:spPr>
          <a:xfrm>
            <a:off x="787400" y="2108200"/>
            <a:ext cx="4953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Звонки: босс, коллега, незнакомец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7A38CE-67AB-43AC-8C13-0000575F3A9B}"/>
              </a:ext>
            </a:extLst>
          </p:cNvPr>
          <p:cNvSpPr txBox="1"/>
          <p:nvPr/>
        </p:nvSpPr>
        <p:spPr>
          <a:xfrm>
            <a:off x="5867400" y="2120900"/>
            <a:ext cx="431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8AA4FF47-A47C-4054-87C3-8A71BC16318B}"/>
              </a:ext>
            </a:extLst>
          </p:cNvPr>
          <p:cNvSpPr/>
          <p:nvPr/>
        </p:nvSpPr>
        <p:spPr>
          <a:xfrm>
            <a:off x="6324600" y="1955800"/>
            <a:ext cx="5257800" cy="533400"/>
          </a:xfrm>
          <a:prstGeom prst="rect">
            <a:avLst/>
          </a:prstGeom>
          <a:solidFill>
            <a:srgbClr val="1A1511"/>
          </a:solidFill>
          <a:ln w="19050">
            <a:solidFill>
              <a:srgbClr val="CFC29C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F5337-9F6C-4B45-9EC4-6A398B5274F1}"/>
              </a:ext>
            </a:extLst>
          </p:cNvPr>
          <p:cNvSpPr txBox="1"/>
          <p:nvPr/>
        </p:nvSpPr>
        <p:spPr>
          <a:xfrm>
            <a:off x="6502400" y="2108200"/>
            <a:ext cx="497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Работа с источниками: кому доверять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78E56-B400-4670-98BE-D6953DF51F03}"/>
              </a:ext>
            </a:extLst>
          </p:cNvPr>
          <p:cNvSpPr/>
          <p:nvPr/>
        </p:nvSpPr>
        <p:spPr>
          <a:xfrm>
            <a:off x="609600" y="2616200"/>
            <a:ext cx="5207000" cy="5334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27C77F-9A07-48CD-A498-B4B7768903DE}"/>
              </a:ext>
            </a:extLst>
          </p:cNvPr>
          <p:cNvSpPr txBox="1"/>
          <p:nvPr/>
        </p:nvSpPr>
        <p:spPr>
          <a:xfrm>
            <a:off x="787400" y="2768600"/>
            <a:ext cx="4953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Подсказки в газетах и блокнот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5110CA-99F0-4EF6-94C6-87EFBB4B7517}"/>
              </a:ext>
            </a:extLst>
          </p:cNvPr>
          <p:cNvSpPr txBox="1"/>
          <p:nvPr/>
        </p:nvSpPr>
        <p:spPr>
          <a:xfrm>
            <a:off x="5867400" y="2781300"/>
            <a:ext cx="431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724C2D-253F-4A63-A543-C8A6B74EE949}"/>
              </a:ext>
            </a:extLst>
          </p:cNvPr>
          <p:cNvSpPr/>
          <p:nvPr/>
        </p:nvSpPr>
        <p:spPr>
          <a:xfrm>
            <a:off x="6324600" y="2616200"/>
            <a:ext cx="5257800" cy="533400"/>
          </a:xfrm>
          <a:prstGeom prst="rect">
            <a:avLst/>
          </a:prstGeom>
          <a:solidFill>
            <a:srgbClr val="1A1511"/>
          </a:solidFill>
          <a:ln w="19050">
            <a:solidFill>
              <a:srgbClr val="CFC29C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A339E0-6D82-4EEE-94C2-FE69FDDD41F3}"/>
              </a:ext>
            </a:extLst>
          </p:cNvPr>
          <p:cNvSpPr txBox="1"/>
          <p:nvPr/>
        </p:nvSpPr>
        <p:spPr>
          <a:xfrm>
            <a:off x="6502400" y="2768600"/>
            <a:ext cx="497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Проверка факта по второму источнику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F3B8C82-7959-4F7E-A9DB-4FF2F7A7736D}"/>
              </a:ext>
            </a:extLst>
          </p:cNvPr>
          <p:cNvSpPr/>
          <p:nvPr/>
        </p:nvSpPr>
        <p:spPr>
          <a:xfrm>
            <a:off x="609600" y="3276600"/>
            <a:ext cx="5207000" cy="5334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27865B-989B-459B-95A1-DF97567E56EA}"/>
              </a:ext>
            </a:extLst>
          </p:cNvPr>
          <p:cNvSpPr txBox="1"/>
          <p:nvPr/>
        </p:nvSpPr>
        <p:spPr>
          <a:xfrm>
            <a:off x="787400" y="3429000"/>
            <a:ext cx="4953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Таймер и «Завершить день»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DC113C-A846-4437-9554-015F4340F804}"/>
              </a:ext>
            </a:extLst>
          </p:cNvPr>
          <p:cNvSpPr txBox="1"/>
          <p:nvPr/>
        </p:nvSpPr>
        <p:spPr>
          <a:xfrm>
            <a:off x="5867400" y="3441700"/>
            <a:ext cx="431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45A30E7-0609-48E2-961C-B1F53B728458}"/>
              </a:ext>
            </a:extLst>
          </p:cNvPr>
          <p:cNvSpPr/>
          <p:nvPr/>
        </p:nvSpPr>
        <p:spPr>
          <a:xfrm>
            <a:off x="6324600" y="3276600"/>
            <a:ext cx="5257800" cy="533400"/>
          </a:xfrm>
          <a:prstGeom prst="rect">
            <a:avLst/>
          </a:prstGeom>
          <a:solidFill>
            <a:srgbClr val="1A1511"/>
          </a:solidFill>
          <a:ln w="19050">
            <a:solidFill>
              <a:srgbClr val="CFC29C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841AEE-8151-451B-9AC9-84057ACC641C}"/>
              </a:ext>
            </a:extLst>
          </p:cNvPr>
          <p:cNvSpPr txBox="1"/>
          <p:nvPr/>
        </p:nvSpPr>
        <p:spPr>
          <a:xfrm>
            <a:off x="6502400" y="3429000"/>
            <a:ext cx="497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Дедлайн выпуска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B35BB0C2-7B5A-4ECF-95A0-1F6A4E2ABC47}"/>
              </a:ext>
            </a:extLst>
          </p:cNvPr>
          <p:cNvSpPr/>
          <p:nvPr/>
        </p:nvSpPr>
        <p:spPr>
          <a:xfrm>
            <a:off x="609600" y="3937000"/>
            <a:ext cx="5207000" cy="5334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EE1369-4679-45BD-A377-D14CD03AAECB}"/>
              </a:ext>
            </a:extLst>
          </p:cNvPr>
          <p:cNvSpPr txBox="1"/>
          <p:nvPr/>
        </p:nvSpPr>
        <p:spPr>
          <a:xfrm>
            <a:off x="787400" y="4089400"/>
            <a:ext cx="4953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Страница: четыре слота и заголовок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1B9B0E-C76D-4F8F-BCE2-99F4FACBC6B1}"/>
              </a:ext>
            </a:extLst>
          </p:cNvPr>
          <p:cNvSpPr txBox="1"/>
          <p:nvPr/>
        </p:nvSpPr>
        <p:spPr>
          <a:xfrm>
            <a:off x="5867400" y="4102100"/>
            <a:ext cx="431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224C035-06D4-49F1-BC94-D2A9B90E07D9}"/>
              </a:ext>
            </a:extLst>
          </p:cNvPr>
          <p:cNvSpPr/>
          <p:nvPr/>
        </p:nvSpPr>
        <p:spPr>
          <a:xfrm>
            <a:off x="6324600" y="3937000"/>
            <a:ext cx="5257800" cy="533400"/>
          </a:xfrm>
          <a:prstGeom prst="rect">
            <a:avLst/>
          </a:prstGeom>
          <a:solidFill>
            <a:srgbClr val="1A1511"/>
          </a:solidFill>
          <a:ln w="19050">
            <a:solidFill>
              <a:srgbClr val="CFC29C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7622AF-3660-403C-8BA5-73710A17C499}"/>
              </a:ext>
            </a:extLst>
          </p:cNvPr>
          <p:cNvSpPr txBox="1"/>
          <p:nvPr/>
        </p:nvSpPr>
        <p:spPr>
          <a:xfrm>
            <a:off x="6502400" y="4089400"/>
            <a:ext cx="497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Вёрстка полосы, главное в заголовок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04800BC5-53CA-4ED4-927B-071F26D06E68}"/>
              </a:ext>
            </a:extLst>
          </p:cNvPr>
          <p:cNvSpPr/>
          <p:nvPr/>
        </p:nvSpPr>
        <p:spPr>
          <a:xfrm>
            <a:off x="609600" y="4597400"/>
            <a:ext cx="5207000" cy="5334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7C067C-7192-48F8-8777-D8F17C3DC2DA}"/>
              </a:ext>
            </a:extLst>
          </p:cNvPr>
          <p:cNvSpPr txBox="1"/>
          <p:nvPr/>
        </p:nvSpPr>
        <p:spPr>
          <a:xfrm>
            <a:off x="787400" y="4749800"/>
            <a:ext cx="4953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Планёрка с разбором и источниками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3707FF-C230-436C-99A4-7595C80FAE03}"/>
              </a:ext>
            </a:extLst>
          </p:cNvPr>
          <p:cNvSpPr txBox="1"/>
          <p:nvPr/>
        </p:nvSpPr>
        <p:spPr>
          <a:xfrm>
            <a:off x="5867400" y="4762500"/>
            <a:ext cx="431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3E4F88F-746F-4A74-8448-4AF69C4E8F9C}"/>
              </a:ext>
            </a:extLst>
          </p:cNvPr>
          <p:cNvSpPr/>
          <p:nvPr/>
        </p:nvSpPr>
        <p:spPr>
          <a:xfrm>
            <a:off x="6324600" y="4597400"/>
            <a:ext cx="5257800" cy="533400"/>
          </a:xfrm>
          <a:prstGeom prst="rect">
            <a:avLst/>
          </a:prstGeom>
          <a:solidFill>
            <a:srgbClr val="1A1511"/>
          </a:solidFill>
          <a:ln w="19050">
            <a:solidFill>
              <a:srgbClr val="CFC29C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9221F5-2406-4548-BEA6-04A92650CDE4}"/>
              </a:ext>
            </a:extLst>
          </p:cNvPr>
          <p:cNvSpPr txBox="1"/>
          <p:nvPr/>
        </p:nvSpPr>
        <p:spPr>
          <a:xfrm>
            <a:off x="6502400" y="4749800"/>
            <a:ext cx="497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Работа над ошибками, опровержение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38942BD4-2D2B-4442-A6BA-FB33338F83BA}"/>
              </a:ext>
            </a:extLst>
          </p:cNvPr>
          <p:cNvSpPr/>
          <p:nvPr/>
        </p:nvSpPr>
        <p:spPr>
          <a:xfrm>
            <a:off x="609600" y="5257800"/>
            <a:ext cx="5207000" cy="5334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62D50E-DE3C-4245-90A4-FBFA8F924263}"/>
              </a:ext>
            </a:extLst>
          </p:cNvPr>
          <p:cNvSpPr txBox="1"/>
          <p:nvPr/>
        </p:nvSpPr>
        <p:spPr>
          <a:xfrm>
            <a:off x="787400" y="5410200"/>
            <a:ext cx="49530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Georgia" panose="02040502050405020303" pitchFamily="18" charset="0"/>
              </a:rPr>
              <a:t>Интервью: вопросы по характеру героя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F88B95-4AEB-407D-A6EF-4D4FD07BBDD5}"/>
              </a:ext>
            </a:extLst>
          </p:cNvPr>
          <p:cNvSpPr txBox="1"/>
          <p:nvPr/>
        </p:nvSpPr>
        <p:spPr>
          <a:xfrm>
            <a:off x="5867400" y="5422900"/>
            <a:ext cx="431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ru-RU" sz="13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1619C9D8-5712-415C-9719-4ED70F0995CD}"/>
              </a:ext>
            </a:extLst>
          </p:cNvPr>
          <p:cNvSpPr/>
          <p:nvPr/>
        </p:nvSpPr>
        <p:spPr>
          <a:xfrm>
            <a:off x="6324600" y="5257800"/>
            <a:ext cx="5257800" cy="533400"/>
          </a:xfrm>
          <a:prstGeom prst="rect">
            <a:avLst/>
          </a:prstGeom>
          <a:solidFill>
            <a:srgbClr val="1A1511"/>
          </a:solidFill>
          <a:ln w="19050">
            <a:solidFill>
              <a:srgbClr val="CFC29C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7CF730D-2492-46A6-B9DF-510B94E15D92}"/>
              </a:ext>
            </a:extLst>
          </p:cNvPr>
          <p:cNvSpPr txBox="1"/>
          <p:nvPr/>
        </p:nvSpPr>
        <p:spPr>
          <a:xfrm>
            <a:off x="6502400" y="5410200"/>
            <a:ext cx="497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Подготовка к разговору, риск острых тем</a:t>
            </a:r>
          </a:p>
        </p:txBody>
      </p:sp>
      <p:sp>
        <p:nvSpPr>
          <p:cNvPr id="39" name="slide-no">
            <a:extLst>
              <a:ext uri="{FF2B5EF4-FFF2-40B4-BE49-F238E27FC236}">
                <a16:creationId xmlns:a16="http://schemas.microsoft.com/office/drawing/2014/main" id="{9ABDD294-F55A-4453-8CD3-45638E61B0D2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9 / 17</a:t>
            </a:r>
          </a:p>
        </p:txBody>
      </p:sp>
    </p:spTree>
    <p:extLst>
      <p:ext uri="{BB962C8B-B14F-4D97-AF65-F5344CB8AC3E}">
        <p14:creationId xmlns:p14="http://schemas.microsoft.com/office/powerpoint/2010/main" val="334698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4BDC0E-9DE1-4183-A168-3F2A6C6CD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Пиксельный стол, нарисованный кодом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884765-5BB0-457C-A1C7-8F526A5B0415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ВИЗУАЛЬНЫЙ СТИЛЬ</a:t>
            </a:r>
          </a:p>
        </p:txBody>
      </p:sp>
      <p:pic>
        <p:nvPicPr>
          <p:cNvPr id="5" name="Рисунок 4" descr="МЕНЮ">
            <a:extLst>
              <a:ext uri="{FF2B5EF4-FFF2-40B4-BE49-F238E27FC236}">
                <a16:creationId xmlns:a16="http://schemas.microsoft.com/office/drawing/2014/main" id="{CC6397A9-5BCA-454E-A908-D7CE890CB03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3429000" cy="19304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025C1CF-E972-4A11-9278-5074694EA48A}"/>
              </a:ext>
            </a:extLst>
          </p:cNvPr>
          <p:cNvSpPr/>
          <p:nvPr/>
        </p:nvSpPr>
        <p:spPr>
          <a:xfrm>
            <a:off x="660400" y="2971800"/>
            <a:ext cx="736600" cy="1778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C733B5-A295-472B-ACA9-CA9BEA7560C8}"/>
              </a:ext>
            </a:extLst>
          </p:cNvPr>
          <p:cNvSpPr txBox="1"/>
          <p:nvPr/>
        </p:nvSpPr>
        <p:spPr>
          <a:xfrm>
            <a:off x="711200" y="3009900"/>
            <a:ext cx="812800" cy="12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50" b="1">
                <a:solidFill>
                  <a:srgbClr val="FFFFFF"/>
                </a:solidFill>
                <a:latin typeface="Courier New" panose="02070309020205020404" pitchFamily="49" charset="0"/>
              </a:rPr>
              <a:t>МЕНЮ</a:t>
            </a:r>
          </a:p>
        </p:txBody>
      </p:sp>
      <p:pic>
        <p:nvPicPr>
          <p:cNvPr id="9" name="Рисунок 8" descr="СТОЛ">
            <a:extLst>
              <a:ext uri="{FF2B5EF4-FFF2-40B4-BE49-F238E27FC236}">
                <a16:creationId xmlns:a16="http://schemas.microsoft.com/office/drawing/2014/main" id="{CF8E1AC2-F8E4-4BDD-AF25-7399A5C86F5F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0" y="1270000"/>
            <a:ext cx="3429000" cy="19304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E4F0A85-7D27-4EB7-9B3A-1340B2B39C8D}"/>
              </a:ext>
            </a:extLst>
          </p:cNvPr>
          <p:cNvSpPr/>
          <p:nvPr/>
        </p:nvSpPr>
        <p:spPr>
          <a:xfrm>
            <a:off x="4432300" y="2971800"/>
            <a:ext cx="736600" cy="1778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6BAA38-B7E7-40A6-865D-36B4151E9796}"/>
              </a:ext>
            </a:extLst>
          </p:cNvPr>
          <p:cNvSpPr txBox="1"/>
          <p:nvPr/>
        </p:nvSpPr>
        <p:spPr>
          <a:xfrm>
            <a:off x="4483100" y="3009900"/>
            <a:ext cx="812800" cy="12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50" b="1">
                <a:solidFill>
                  <a:srgbClr val="FFFFFF"/>
                </a:solidFill>
                <a:latin typeface="Courier New" panose="02070309020205020404" pitchFamily="49" charset="0"/>
              </a:rPr>
              <a:t>СТОЛ</a:t>
            </a:r>
          </a:p>
        </p:txBody>
      </p:sp>
      <p:pic>
        <p:nvPicPr>
          <p:cNvPr id="13" name="Рисунок 12" descr="ЗВОНОК">
            <a:extLst>
              <a:ext uri="{FF2B5EF4-FFF2-40B4-BE49-F238E27FC236}">
                <a16:creationId xmlns:a16="http://schemas.microsoft.com/office/drawing/2014/main" id="{A396A68B-F9D1-42B2-804F-837BF15B751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1270000"/>
            <a:ext cx="3429000" cy="19304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8801FC3-9CA3-433E-B727-32837F35AB7B}"/>
              </a:ext>
            </a:extLst>
          </p:cNvPr>
          <p:cNvSpPr/>
          <p:nvPr/>
        </p:nvSpPr>
        <p:spPr>
          <a:xfrm>
            <a:off x="8204200" y="2971800"/>
            <a:ext cx="736600" cy="1778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1E53EF-8C9F-40C0-A382-B07EDCBD3D3C}"/>
              </a:ext>
            </a:extLst>
          </p:cNvPr>
          <p:cNvSpPr txBox="1"/>
          <p:nvPr/>
        </p:nvSpPr>
        <p:spPr>
          <a:xfrm>
            <a:off x="8255000" y="3009900"/>
            <a:ext cx="812800" cy="12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50" b="1">
                <a:solidFill>
                  <a:srgbClr val="FFFFFF"/>
                </a:solidFill>
                <a:latin typeface="Courier New" panose="02070309020205020404" pitchFamily="49" charset="0"/>
              </a:rPr>
              <a:t>ЗВОНОК</a:t>
            </a:r>
          </a:p>
        </p:txBody>
      </p:sp>
      <p:pic>
        <p:nvPicPr>
          <p:cNvPr id="17" name="Рисунок 16" descr="СТРАНИЦА">
            <a:extLst>
              <a:ext uri="{FF2B5EF4-FFF2-40B4-BE49-F238E27FC236}">
                <a16:creationId xmlns:a16="http://schemas.microsoft.com/office/drawing/2014/main" id="{F2FF59C6-3DCF-4137-AA5A-F2BAB29499F9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3403600"/>
            <a:ext cx="3429000" cy="19304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3EF7F1D-830F-45C0-8604-638170D151FC}"/>
              </a:ext>
            </a:extLst>
          </p:cNvPr>
          <p:cNvSpPr/>
          <p:nvPr/>
        </p:nvSpPr>
        <p:spPr>
          <a:xfrm>
            <a:off x="660400" y="5105400"/>
            <a:ext cx="736600" cy="1778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A919D2-A35F-49F7-9DCA-A3C59B0C1DA2}"/>
              </a:ext>
            </a:extLst>
          </p:cNvPr>
          <p:cNvSpPr txBox="1"/>
          <p:nvPr/>
        </p:nvSpPr>
        <p:spPr>
          <a:xfrm>
            <a:off x="711200" y="5143500"/>
            <a:ext cx="812800" cy="12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50" b="1">
                <a:solidFill>
                  <a:srgbClr val="FFFFFF"/>
                </a:solidFill>
                <a:latin typeface="Courier New" panose="02070309020205020404" pitchFamily="49" charset="0"/>
              </a:rPr>
              <a:t>СТРАНИЦА</a:t>
            </a:r>
          </a:p>
        </p:txBody>
      </p:sp>
      <p:pic>
        <p:nvPicPr>
          <p:cNvPr id="21" name="Рисунок 20" descr="ПЛАНЁРКА">
            <a:extLst>
              <a:ext uri="{FF2B5EF4-FFF2-40B4-BE49-F238E27FC236}">
                <a16:creationId xmlns:a16="http://schemas.microsoft.com/office/drawing/2014/main" id="{1A647A74-4EEF-4050-B0E2-91A431D65BF2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0" y="3403600"/>
            <a:ext cx="3429000" cy="19304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6E6C86CC-783C-43FE-84FA-AA0685AF5868}"/>
              </a:ext>
            </a:extLst>
          </p:cNvPr>
          <p:cNvSpPr/>
          <p:nvPr/>
        </p:nvSpPr>
        <p:spPr>
          <a:xfrm>
            <a:off x="4432300" y="5105400"/>
            <a:ext cx="736600" cy="1778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A5E619-9993-4584-810D-0ADE0DA87F1D}"/>
              </a:ext>
            </a:extLst>
          </p:cNvPr>
          <p:cNvSpPr txBox="1"/>
          <p:nvPr/>
        </p:nvSpPr>
        <p:spPr>
          <a:xfrm>
            <a:off x="4483100" y="5143500"/>
            <a:ext cx="812800" cy="12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50" b="1">
                <a:solidFill>
                  <a:srgbClr val="FFFFFF"/>
                </a:solidFill>
                <a:latin typeface="Courier New" panose="02070309020205020404" pitchFamily="49" charset="0"/>
              </a:rPr>
              <a:t>ПЛАНЁРКА</a:t>
            </a:r>
          </a:p>
        </p:txBody>
      </p:sp>
      <p:pic>
        <p:nvPicPr>
          <p:cNvPr id="25" name="Рисунок 24" descr="ИНТЕРВЬЮ">
            <a:extLst>
              <a:ext uri="{FF2B5EF4-FFF2-40B4-BE49-F238E27FC236}">
                <a16:creationId xmlns:a16="http://schemas.microsoft.com/office/drawing/2014/main" id="{6F1E5585-E0C3-47E3-96E0-CB23784EAD30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3403600"/>
            <a:ext cx="3429000" cy="1930400"/>
          </a:xfrm>
          <a:prstGeom prst="rect">
            <a:avLst/>
          </a:prstGeom>
          <a:ln w="3175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4E421E2E-9D9E-4F2F-9B60-A9DB9CD2D001}"/>
              </a:ext>
            </a:extLst>
          </p:cNvPr>
          <p:cNvSpPr/>
          <p:nvPr/>
        </p:nvSpPr>
        <p:spPr>
          <a:xfrm>
            <a:off x="8204200" y="5105400"/>
            <a:ext cx="736600" cy="177800"/>
          </a:xfrm>
          <a:prstGeom prst="rect">
            <a:avLst/>
          </a:prstGeom>
          <a:solidFill>
            <a:srgbClr val="00000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7B2B33-E6C6-4ECF-842E-F7ADBC9BEF30}"/>
              </a:ext>
            </a:extLst>
          </p:cNvPr>
          <p:cNvSpPr txBox="1"/>
          <p:nvPr/>
        </p:nvSpPr>
        <p:spPr>
          <a:xfrm>
            <a:off x="8255000" y="5143500"/>
            <a:ext cx="812800" cy="127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50" b="1">
                <a:solidFill>
                  <a:srgbClr val="FFFFFF"/>
                </a:solidFill>
                <a:latin typeface="Courier New" panose="02070309020205020404" pitchFamily="49" charset="0"/>
              </a:rPr>
              <a:t>ИНТЕРВЬЮ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864D170-8175-42F7-96E6-0EE6CADA78F0}"/>
              </a:ext>
            </a:extLst>
          </p:cNvPr>
          <p:cNvSpPr/>
          <p:nvPr/>
        </p:nvSpPr>
        <p:spPr>
          <a:xfrm>
            <a:off x="609600" y="5664200"/>
            <a:ext cx="584200" cy="355600"/>
          </a:xfrm>
          <a:prstGeom prst="rect">
            <a:avLst/>
          </a:prstGeom>
          <a:solidFill>
            <a:srgbClr val="241C16"/>
          </a:solidFill>
          <a:ln w="19050">
            <a:solidFill>
              <a:srgbClr val="F6EF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0FAEC82-A552-403A-9DC7-BA9EAAC40594}"/>
              </a:ext>
            </a:extLst>
          </p:cNvPr>
          <p:cNvSpPr/>
          <p:nvPr/>
        </p:nvSpPr>
        <p:spPr>
          <a:xfrm>
            <a:off x="1270000" y="5664200"/>
            <a:ext cx="584200" cy="355600"/>
          </a:xfrm>
          <a:prstGeom prst="rect">
            <a:avLst/>
          </a:prstGeom>
          <a:solidFill>
            <a:srgbClr val="EADFC2"/>
          </a:solidFill>
          <a:ln w="19050">
            <a:solidFill>
              <a:srgbClr val="F6EF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96263286-808A-4A3D-920D-B82D794697B9}"/>
              </a:ext>
            </a:extLst>
          </p:cNvPr>
          <p:cNvSpPr/>
          <p:nvPr/>
        </p:nvSpPr>
        <p:spPr>
          <a:xfrm>
            <a:off x="1930400" y="5664200"/>
            <a:ext cx="584200" cy="355600"/>
          </a:xfrm>
          <a:prstGeom prst="rect">
            <a:avLst/>
          </a:prstGeom>
          <a:solidFill>
            <a:srgbClr val="B8392D"/>
          </a:solidFill>
          <a:ln w="19050">
            <a:solidFill>
              <a:srgbClr val="F6EF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1E85E6C3-C8C5-4BEC-9FF0-570F1C55F5A5}"/>
              </a:ext>
            </a:extLst>
          </p:cNvPr>
          <p:cNvSpPr/>
          <p:nvPr/>
        </p:nvSpPr>
        <p:spPr>
          <a:xfrm>
            <a:off x="2590800" y="5664200"/>
            <a:ext cx="584200" cy="355600"/>
          </a:xfrm>
          <a:prstGeom prst="rect">
            <a:avLst/>
          </a:prstGeom>
          <a:solidFill>
            <a:srgbClr val="3B5E8C"/>
          </a:solidFill>
          <a:ln w="19050">
            <a:solidFill>
              <a:srgbClr val="F6EF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74D62A52-1D73-4578-A1F5-B18B24F50C02}"/>
              </a:ext>
            </a:extLst>
          </p:cNvPr>
          <p:cNvSpPr/>
          <p:nvPr/>
        </p:nvSpPr>
        <p:spPr>
          <a:xfrm>
            <a:off x="3251200" y="5664200"/>
            <a:ext cx="584200" cy="355600"/>
          </a:xfrm>
          <a:prstGeom prst="rect">
            <a:avLst/>
          </a:prstGeom>
          <a:solidFill>
            <a:srgbClr val="4D7A47"/>
          </a:solidFill>
          <a:ln w="19050">
            <a:solidFill>
              <a:srgbClr val="F6EF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585799B7-7AA3-4D34-BFA4-B34FD107BF72}"/>
              </a:ext>
            </a:extLst>
          </p:cNvPr>
          <p:cNvSpPr/>
          <p:nvPr/>
        </p:nvSpPr>
        <p:spPr>
          <a:xfrm>
            <a:off x="3911600" y="5664200"/>
            <a:ext cx="584200" cy="355600"/>
          </a:xfrm>
          <a:prstGeom prst="rect">
            <a:avLst/>
          </a:prstGeom>
          <a:solidFill>
            <a:srgbClr val="E2B64C"/>
          </a:solidFill>
          <a:ln w="19050">
            <a:solidFill>
              <a:srgbClr val="F6EF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84B88F44-906A-469A-8396-2343474BA77C}"/>
              </a:ext>
            </a:extLst>
          </p:cNvPr>
          <p:cNvSpPr/>
          <p:nvPr/>
        </p:nvSpPr>
        <p:spPr>
          <a:xfrm>
            <a:off x="4572000" y="5664200"/>
            <a:ext cx="584200" cy="355600"/>
          </a:xfrm>
          <a:prstGeom prst="rect">
            <a:avLst/>
          </a:prstGeom>
          <a:solidFill>
            <a:srgbClr val="6C4630"/>
          </a:solidFill>
          <a:ln w="19050">
            <a:solidFill>
              <a:srgbClr val="F6EF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8061BA-9864-4F47-A8A4-89B4BD9E4AB3}"/>
              </a:ext>
            </a:extLst>
          </p:cNvPr>
          <p:cNvSpPr txBox="1"/>
          <p:nvPr/>
        </p:nvSpPr>
        <p:spPr>
          <a:xfrm>
            <a:off x="5461000" y="5613400"/>
            <a:ext cx="612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F2ECE0"/>
                </a:solidFill>
                <a:latin typeface="Georgia" panose="02040502050405020303" pitchFamily="18" charset="0"/>
              </a:rPr>
              <a:t>Палитра из семи цветов, шрифт Press Start 2P для интерфейса, Georgia для газет. Всё нарисовано кодом: картинок в игре нет.</a:t>
            </a:r>
          </a:p>
        </p:txBody>
      </p:sp>
      <p:sp>
        <p:nvSpPr>
          <p:cNvPr id="36" name="slide-no">
            <a:extLst>
              <a:ext uri="{FF2B5EF4-FFF2-40B4-BE49-F238E27FC236}">
                <a16:creationId xmlns:a16="http://schemas.microsoft.com/office/drawing/2014/main" id="{D0107E5E-8E1B-4C47-A6A8-CD8CEB45CB24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10 / 17</a:t>
            </a:r>
          </a:p>
        </p:txBody>
      </p:sp>
    </p:spTree>
    <p:extLst>
      <p:ext uri="{BB962C8B-B14F-4D97-AF65-F5344CB8AC3E}">
        <p14:creationId xmlns:p14="http://schemas.microsoft.com/office/powerpoint/2010/main" val="60907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C8AB38-422F-4164-A188-1034DF20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Три сложности и сохранение в файл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FA5AD3-67F4-4F4F-83B9-8B6962F8C3C8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ЗАДАНИЯ СО ЗВЁЗДОЧКОЙ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053F6B-EF3C-490C-BBCE-474B793D1A79}"/>
              </a:ext>
            </a:extLst>
          </p:cNvPr>
          <p:cNvSpPr/>
          <p:nvPr/>
        </p:nvSpPr>
        <p:spPr>
          <a:xfrm>
            <a:off x="609600" y="1270000"/>
            <a:ext cx="2489200" cy="3810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2B2EE55-E739-4390-BFC2-D0D4F359E1B1}"/>
              </a:ext>
            </a:extLst>
          </p:cNvPr>
          <p:cNvSpPr/>
          <p:nvPr/>
        </p:nvSpPr>
        <p:spPr>
          <a:xfrm>
            <a:off x="609600" y="1270000"/>
            <a:ext cx="2489200" cy="431800"/>
          </a:xfrm>
          <a:prstGeom prst="rect">
            <a:avLst/>
          </a:prstGeom>
          <a:solidFill>
            <a:srgbClr val="3F6B4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A32E3-1C4D-4E06-BD3B-317A83FEAE60}"/>
              </a:ext>
            </a:extLst>
          </p:cNvPr>
          <p:cNvSpPr txBox="1"/>
          <p:nvPr/>
        </p:nvSpPr>
        <p:spPr>
          <a:xfrm>
            <a:off x="723900" y="1390650"/>
            <a:ext cx="2311400" cy="215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 b="1">
                <a:solidFill>
                  <a:srgbClr val="FFFFFF"/>
                </a:solidFill>
                <a:latin typeface="Courier New" panose="02070309020205020404" pitchFamily="49" charset="0"/>
              </a:rPr>
              <a:t>ЛЁГКАЯ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935D6C-EAAF-45DD-A99C-F067BD16D3CC}"/>
              </a:ext>
            </a:extLst>
          </p:cNvPr>
          <p:cNvSpPr txBox="1"/>
          <p:nvPr/>
        </p:nvSpPr>
        <p:spPr>
          <a:xfrm>
            <a:off x="762000" y="19050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Время дня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B796C-0D6C-4427-A51C-84D4C174B590}"/>
              </a:ext>
            </a:extLst>
          </p:cNvPr>
          <p:cNvSpPr txBox="1"/>
          <p:nvPr/>
        </p:nvSpPr>
        <p:spPr>
          <a:xfrm>
            <a:off x="1879600" y="19177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5:00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4DD0E9DA-4549-47AD-999F-2F4308FAC0D4}"/>
              </a:ext>
            </a:extLst>
          </p:cNvPr>
          <p:cNvCxnSpPr/>
          <p:nvPr/>
        </p:nvCxnSpPr>
        <p:spPr>
          <a:xfrm>
            <a:off x="762000" y="22098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465969C-CACC-4186-8AB1-BB5DF2CEF2A8}"/>
              </a:ext>
            </a:extLst>
          </p:cNvPr>
          <p:cNvSpPr txBox="1"/>
          <p:nvPr/>
        </p:nvSpPr>
        <p:spPr>
          <a:xfrm>
            <a:off x="762000" y="23368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Газет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1E1EB4-4CCD-40E1-8B76-5AD081072AF0}"/>
              </a:ext>
            </a:extLst>
          </p:cNvPr>
          <p:cNvSpPr txBox="1"/>
          <p:nvPr/>
        </p:nvSpPr>
        <p:spPr>
          <a:xfrm>
            <a:off x="1879600" y="23495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4</a:t>
            </a:r>
          </a:p>
        </p:txBody>
      </p: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497170E4-8C6E-4584-AC83-C2236BD788A2}"/>
              </a:ext>
            </a:extLst>
          </p:cNvPr>
          <p:cNvCxnSpPr/>
          <p:nvPr/>
        </p:nvCxnSpPr>
        <p:spPr>
          <a:xfrm>
            <a:off x="762000" y="26416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C25BC-15BD-4C96-9EE5-809E8536A15B}"/>
              </a:ext>
            </a:extLst>
          </p:cNvPr>
          <p:cNvSpPr txBox="1"/>
          <p:nvPr/>
        </p:nvSpPr>
        <p:spPr>
          <a:xfrm>
            <a:off x="762000" y="27686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Звонков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FBFEA6-28D4-40CA-A7B8-539040B0384F}"/>
              </a:ext>
            </a:extLst>
          </p:cNvPr>
          <p:cNvSpPr txBox="1"/>
          <p:nvPr/>
        </p:nvSpPr>
        <p:spPr>
          <a:xfrm>
            <a:off x="1879600" y="27813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3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625DD316-F611-48DC-AD75-77EFA4EE7C7D}"/>
              </a:ext>
            </a:extLst>
          </p:cNvPr>
          <p:cNvCxnSpPr/>
          <p:nvPr/>
        </p:nvCxnSpPr>
        <p:spPr>
          <a:xfrm>
            <a:off x="762000" y="30734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B1CD0FA-92B8-46E2-B3A8-539E07E39B13}"/>
              </a:ext>
            </a:extLst>
          </p:cNvPr>
          <p:cNvSpPr txBox="1"/>
          <p:nvPr/>
        </p:nvSpPr>
        <p:spPr>
          <a:xfrm>
            <a:off x="762000" y="32004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Верных по теме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15D234-CF55-416E-93F4-D6788F99C73D}"/>
              </a:ext>
            </a:extLst>
          </p:cNvPr>
          <p:cNvSpPr txBox="1"/>
          <p:nvPr/>
        </p:nvSpPr>
        <p:spPr>
          <a:xfrm>
            <a:off x="1879600" y="32131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7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DF403CE3-A5E8-41AD-9625-91B7E33CB93B}"/>
              </a:ext>
            </a:extLst>
          </p:cNvPr>
          <p:cNvCxnSpPr/>
          <p:nvPr/>
        </p:nvCxnSpPr>
        <p:spPr>
          <a:xfrm>
            <a:off x="762000" y="35052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F9611BF-51EF-44EB-9A6B-04DB79606A50}"/>
              </a:ext>
            </a:extLst>
          </p:cNvPr>
          <p:cNvSpPr txBox="1"/>
          <p:nvPr/>
        </p:nvSpPr>
        <p:spPr>
          <a:xfrm>
            <a:off x="762000" y="36322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Подвохов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AFB1F1-E957-47A2-B9F5-3835E59CC36B}"/>
              </a:ext>
            </a:extLst>
          </p:cNvPr>
          <p:cNvSpPr txBox="1"/>
          <p:nvPr/>
        </p:nvSpPr>
        <p:spPr>
          <a:xfrm>
            <a:off x="1879600" y="36449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2</a:t>
            </a: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1CEDCA89-70C0-4E65-9C82-DF9F8AB3F838}"/>
              </a:ext>
            </a:extLst>
          </p:cNvPr>
          <p:cNvCxnSpPr/>
          <p:nvPr/>
        </p:nvCxnSpPr>
        <p:spPr>
          <a:xfrm>
            <a:off x="762000" y="39370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DBB460F-CD6C-43A8-9757-F5B73BD0DED5}"/>
              </a:ext>
            </a:extLst>
          </p:cNvPr>
          <p:cNvSpPr txBox="1"/>
          <p:nvPr/>
        </p:nvSpPr>
        <p:spPr>
          <a:xfrm>
            <a:off x="762000" y="40640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Вопрос в интервью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B8AF5E9-8539-46A8-978F-6CDABDD572EF}"/>
              </a:ext>
            </a:extLst>
          </p:cNvPr>
          <p:cNvSpPr txBox="1"/>
          <p:nvPr/>
        </p:nvSpPr>
        <p:spPr>
          <a:xfrm>
            <a:off x="1879600" y="40767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12 с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2B69B23F-BAA4-46AD-9F73-A2B712C4099C}"/>
              </a:ext>
            </a:extLst>
          </p:cNvPr>
          <p:cNvCxnSpPr/>
          <p:nvPr/>
        </p:nvCxnSpPr>
        <p:spPr>
          <a:xfrm>
            <a:off x="762000" y="43688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52ED36C-246F-42FD-97CA-03A66BD0D40D}"/>
              </a:ext>
            </a:extLst>
          </p:cNvPr>
          <p:cNvSpPr txBox="1"/>
          <p:nvPr/>
        </p:nvSpPr>
        <p:spPr>
          <a:xfrm>
            <a:off x="762000" y="44958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Тема от босса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847C63-B10E-4438-9943-9DB183024845}"/>
              </a:ext>
            </a:extLst>
          </p:cNvPr>
          <p:cNvSpPr txBox="1"/>
          <p:nvPr/>
        </p:nvSpPr>
        <p:spPr>
          <a:xfrm>
            <a:off x="1879600" y="45085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названа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634DCC5E-58DE-4C4C-8E9A-F15A58B59822}"/>
              </a:ext>
            </a:extLst>
          </p:cNvPr>
          <p:cNvSpPr/>
          <p:nvPr/>
        </p:nvSpPr>
        <p:spPr>
          <a:xfrm>
            <a:off x="3251200" y="1270000"/>
            <a:ext cx="2489200" cy="3810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E2622A77-9607-4E0C-92B3-130E97678DB1}"/>
              </a:ext>
            </a:extLst>
          </p:cNvPr>
          <p:cNvSpPr/>
          <p:nvPr/>
        </p:nvSpPr>
        <p:spPr>
          <a:xfrm>
            <a:off x="3251200" y="1270000"/>
            <a:ext cx="2489200" cy="431800"/>
          </a:xfrm>
          <a:prstGeom prst="rect">
            <a:avLst/>
          </a:prstGeom>
          <a:solidFill>
            <a:srgbClr val="D996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F43039-7CEE-42D4-897C-5B4325A4710A}"/>
              </a:ext>
            </a:extLst>
          </p:cNvPr>
          <p:cNvSpPr txBox="1"/>
          <p:nvPr/>
        </p:nvSpPr>
        <p:spPr>
          <a:xfrm>
            <a:off x="3365500" y="1390650"/>
            <a:ext cx="2311400" cy="215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 b="1">
                <a:solidFill>
                  <a:srgbClr val="241C16"/>
                </a:solidFill>
                <a:latin typeface="Courier New" panose="02070309020205020404" pitchFamily="49" charset="0"/>
              </a:rPr>
              <a:t>НОРМАЛЬНАЯ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32ACC3-EDEF-4568-9E70-FE2DBFD2D004}"/>
              </a:ext>
            </a:extLst>
          </p:cNvPr>
          <p:cNvSpPr txBox="1"/>
          <p:nvPr/>
        </p:nvSpPr>
        <p:spPr>
          <a:xfrm>
            <a:off x="3403600" y="19050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Время дня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BAD883-3B23-4538-9162-D48E7BB37635}"/>
              </a:ext>
            </a:extLst>
          </p:cNvPr>
          <p:cNvSpPr txBox="1"/>
          <p:nvPr/>
        </p:nvSpPr>
        <p:spPr>
          <a:xfrm>
            <a:off x="4521200" y="19177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4:00</a:t>
            </a: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9CC4053E-4780-4FD6-9D2F-FFFA09E1F15D}"/>
              </a:ext>
            </a:extLst>
          </p:cNvPr>
          <p:cNvCxnSpPr/>
          <p:nvPr/>
        </p:nvCxnSpPr>
        <p:spPr>
          <a:xfrm>
            <a:off x="3403600" y="22098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C64487-BFCD-483E-AC6C-C27F127AADA6}"/>
              </a:ext>
            </a:extLst>
          </p:cNvPr>
          <p:cNvSpPr txBox="1"/>
          <p:nvPr/>
        </p:nvSpPr>
        <p:spPr>
          <a:xfrm>
            <a:off x="3403600" y="23368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Газет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7BB3C0-0702-4186-89A6-1E9F7F1C5FF0}"/>
              </a:ext>
            </a:extLst>
          </p:cNvPr>
          <p:cNvSpPr txBox="1"/>
          <p:nvPr/>
        </p:nvSpPr>
        <p:spPr>
          <a:xfrm>
            <a:off x="4521200" y="23495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5</a:t>
            </a:r>
          </a:p>
        </p:txBody>
      </p: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E191BD5F-2C5F-42D7-A952-ACD646FE272B}"/>
              </a:ext>
            </a:extLst>
          </p:cNvPr>
          <p:cNvCxnSpPr/>
          <p:nvPr/>
        </p:nvCxnSpPr>
        <p:spPr>
          <a:xfrm>
            <a:off x="3403600" y="26416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AC12F5A-4DA5-4D21-927F-0445533A1299}"/>
              </a:ext>
            </a:extLst>
          </p:cNvPr>
          <p:cNvSpPr txBox="1"/>
          <p:nvPr/>
        </p:nvSpPr>
        <p:spPr>
          <a:xfrm>
            <a:off x="3403600" y="27686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Звонков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EC402A-022E-43CB-BFB6-68DE6C6FA782}"/>
              </a:ext>
            </a:extLst>
          </p:cNvPr>
          <p:cNvSpPr txBox="1"/>
          <p:nvPr/>
        </p:nvSpPr>
        <p:spPr>
          <a:xfrm>
            <a:off x="4521200" y="27813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4</a:t>
            </a:r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F2DCA7AE-7ECB-49CF-B291-20CDD9397829}"/>
              </a:ext>
            </a:extLst>
          </p:cNvPr>
          <p:cNvCxnSpPr/>
          <p:nvPr/>
        </p:nvCxnSpPr>
        <p:spPr>
          <a:xfrm>
            <a:off x="3403600" y="30734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59CB281-9514-4B8A-88EF-F8DBDF83A9FA}"/>
              </a:ext>
            </a:extLst>
          </p:cNvPr>
          <p:cNvSpPr txBox="1"/>
          <p:nvPr/>
        </p:nvSpPr>
        <p:spPr>
          <a:xfrm>
            <a:off x="3403600" y="32004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Верных по теме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780C84-62FC-4174-8F67-2C8C22FBD90A}"/>
              </a:ext>
            </a:extLst>
          </p:cNvPr>
          <p:cNvSpPr txBox="1"/>
          <p:nvPr/>
        </p:nvSpPr>
        <p:spPr>
          <a:xfrm>
            <a:off x="4521200" y="32131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6</a:t>
            </a:r>
          </a:p>
        </p:txBody>
      </p: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D9209CE-3498-4F86-821C-61B3C6848979}"/>
              </a:ext>
            </a:extLst>
          </p:cNvPr>
          <p:cNvCxnSpPr/>
          <p:nvPr/>
        </p:nvCxnSpPr>
        <p:spPr>
          <a:xfrm>
            <a:off x="3403600" y="35052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3D27A3D5-0088-4486-8F8F-CB217957AD78}"/>
              </a:ext>
            </a:extLst>
          </p:cNvPr>
          <p:cNvSpPr txBox="1"/>
          <p:nvPr/>
        </p:nvSpPr>
        <p:spPr>
          <a:xfrm>
            <a:off x="3403600" y="36322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Подвохов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A7AD855-D6FB-4384-B6E2-B2E14E012A1B}"/>
              </a:ext>
            </a:extLst>
          </p:cNvPr>
          <p:cNvSpPr txBox="1"/>
          <p:nvPr/>
        </p:nvSpPr>
        <p:spPr>
          <a:xfrm>
            <a:off x="4521200" y="36449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3</a:t>
            </a:r>
          </a:p>
        </p:txBody>
      </p:sp>
      <p:cxnSp>
        <p:nvCxnSpPr>
          <p:cNvPr id="44" name="Прямая соединительная линия 43">
            <a:extLst>
              <a:ext uri="{FF2B5EF4-FFF2-40B4-BE49-F238E27FC236}">
                <a16:creationId xmlns:a16="http://schemas.microsoft.com/office/drawing/2014/main" id="{CA879CBC-8AD1-4FCF-96E4-AC32D629694E}"/>
              </a:ext>
            </a:extLst>
          </p:cNvPr>
          <p:cNvCxnSpPr/>
          <p:nvPr/>
        </p:nvCxnSpPr>
        <p:spPr>
          <a:xfrm>
            <a:off x="3403600" y="39370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C3A134D-E9D5-42EC-ADEF-646A49DD0E4D}"/>
              </a:ext>
            </a:extLst>
          </p:cNvPr>
          <p:cNvSpPr txBox="1"/>
          <p:nvPr/>
        </p:nvSpPr>
        <p:spPr>
          <a:xfrm>
            <a:off x="3403600" y="40640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Вопрос в интервью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2E3554-1F7B-4C0F-A9CB-9133A0B4810F}"/>
              </a:ext>
            </a:extLst>
          </p:cNvPr>
          <p:cNvSpPr txBox="1"/>
          <p:nvPr/>
        </p:nvSpPr>
        <p:spPr>
          <a:xfrm>
            <a:off x="4521200" y="40767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9 с</a:t>
            </a:r>
          </a:p>
        </p:txBody>
      </p:sp>
      <p:cxnSp>
        <p:nvCxnSpPr>
          <p:cNvPr id="47" name="Прямая соединительная линия 46">
            <a:extLst>
              <a:ext uri="{FF2B5EF4-FFF2-40B4-BE49-F238E27FC236}">
                <a16:creationId xmlns:a16="http://schemas.microsoft.com/office/drawing/2014/main" id="{DB9FC3F8-BF03-4ED3-B966-124263C1B9B7}"/>
              </a:ext>
            </a:extLst>
          </p:cNvPr>
          <p:cNvCxnSpPr/>
          <p:nvPr/>
        </p:nvCxnSpPr>
        <p:spPr>
          <a:xfrm>
            <a:off x="3403600" y="43688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338CFEC-80F4-4E2E-AB46-966CAC8DA10A}"/>
              </a:ext>
            </a:extLst>
          </p:cNvPr>
          <p:cNvSpPr txBox="1"/>
          <p:nvPr/>
        </p:nvSpPr>
        <p:spPr>
          <a:xfrm>
            <a:off x="3403600" y="44958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Тема от босса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F6E820-1CB7-4BAA-89BD-AB86F14C35FD}"/>
              </a:ext>
            </a:extLst>
          </p:cNvPr>
          <p:cNvSpPr txBox="1"/>
          <p:nvPr/>
        </p:nvSpPr>
        <p:spPr>
          <a:xfrm>
            <a:off x="4521200" y="45085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намёк</a:t>
            </a:r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24572371-BB6B-46D0-A5CD-558305A76D27}"/>
              </a:ext>
            </a:extLst>
          </p:cNvPr>
          <p:cNvSpPr/>
          <p:nvPr/>
        </p:nvSpPr>
        <p:spPr>
          <a:xfrm>
            <a:off x="5892800" y="1270000"/>
            <a:ext cx="2489200" cy="3810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8C036745-CFCE-42EC-843C-BC743F87AED0}"/>
              </a:ext>
            </a:extLst>
          </p:cNvPr>
          <p:cNvSpPr/>
          <p:nvPr/>
        </p:nvSpPr>
        <p:spPr>
          <a:xfrm>
            <a:off x="5892800" y="1270000"/>
            <a:ext cx="2489200" cy="431800"/>
          </a:xfrm>
          <a:prstGeom prst="rect">
            <a:avLst/>
          </a:prstGeom>
          <a:solidFill>
            <a:srgbClr val="7A312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55B144-143E-41CA-99B3-1FD39AA93860}"/>
              </a:ext>
            </a:extLst>
          </p:cNvPr>
          <p:cNvSpPr txBox="1"/>
          <p:nvPr/>
        </p:nvSpPr>
        <p:spPr>
          <a:xfrm>
            <a:off x="6007100" y="1390650"/>
            <a:ext cx="2311400" cy="215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 b="1">
                <a:solidFill>
                  <a:srgbClr val="FFFFFF"/>
                </a:solidFill>
                <a:latin typeface="Courier New" panose="02070309020205020404" pitchFamily="49" charset="0"/>
              </a:rPr>
              <a:t>СЛОЖНАЯ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5799AA-511D-49D4-B6BB-443BA25FF994}"/>
              </a:ext>
            </a:extLst>
          </p:cNvPr>
          <p:cNvSpPr txBox="1"/>
          <p:nvPr/>
        </p:nvSpPr>
        <p:spPr>
          <a:xfrm>
            <a:off x="6045200" y="19050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Время дня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8AF0B1E-AC26-486E-8D7C-9D98B89F6362}"/>
              </a:ext>
            </a:extLst>
          </p:cNvPr>
          <p:cNvSpPr txBox="1"/>
          <p:nvPr/>
        </p:nvSpPr>
        <p:spPr>
          <a:xfrm>
            <a:off x="7162800" y="19177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3:10</a:t>
            </a:r>
          </a:p>
        </p:txBody>
      </p:sp>
      <p:cxnSp>
        <p:nvCxnSpPr>
          <p:cNvPr id="55" name="Прямая соединительная линия 54">
            <a:extLst>
              <a:ext uri="{FF2B5EF4-FFF2-40B4-BE49-F238E27FC236}">
                <a16:creationId xmlns:a16="http://schemas.microsoft.com/office/drawing/2014/main" id="{173CC1DC-D144-4F31-9121-F1C176BAC26B}"/>
              </a:ext>
            </a:extLst>
          </p:cNvPr>
          <p:cNvCxnSpPr/>
          <p:nvPr/>
        </p:nvCxnSpPr>
        <p:spPr>
          <a:xfrm>
            <a:off x="6045200" y="22098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7FCA037-0316-49EA-8959-9B69F9225351}"/>
              </a:ext>
            </a:extLst>
          </p:cNvPr>
          <p:cNvSpPr txBox="1"/>
          <p:nvPr/>
        </p:nvSpPr>
        <p:spPr>
          <a:xfrm>
            <a:off x="6045200" y="23368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Газет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ACCD92-0E34-4AE0-ACFF-1FDCB588C265}"/>
              </a:ext>
            </a:extLst>
          </p:cNvPr>
          <p:cNvSpPr txBox="1"/>
          <p:nvPr/>
        </p:nvSpPr>
        <p:spPr>
          <a:xfrm>
            <a:off x="7162800" y="23495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5</a:t>
            </a:r>
          </a:p>
        </p:txBody>
      </p:sp>
      <p:cxnSp>
        <p:nvCxnSpPr>
          <p:cNvPr id="58" name="Прямая соединительная линия 57">
            <a:extLst>
              <a:ext uri="{FF2B5EF4-FFF2-40B4-BE49-F238E27FC236}">
                <a16:creationId xmlns:a16="http://schemas.microsoft.com/office/drawing/2014/main" id="{8271F5B6-1E06-47DA-B58B-2E71257FCC1F}"/>
              </a:ext>
            </a:extLst>
          </p:cNvPr>
          <p:cNvCxnSpPr/>
          <p:nvPr/>
        </p:nvCxnSpPr>
        <p:spPr>
          <a:xfrm>
            <a:off x="6045200" y="26416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2385EEB-62CF-4022-9411-0F41E3031435}"/>
              </a:ext>
            </a:extLst>
          </p:cNvPr>
          <p:cNvSpPr txBox="1"/>
          <p:nvPr/>
        </p:nvSpPr>
        <p:spPr>
          <a:xfrm>
            <a:off x="6045200" y="27686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Звонков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B2C616-2AAA-48D4-ADF7-7BBDF8ECCD29}"/>
              </a:ext>
            </a:extLst>
          </p:cNvPr>
          <p:cNvSpPr txBox="1"/>
          <p:nvPr/>
        </p:nvSpPr>
        <p:spPr>
          <a:xfrm>
            <a:off x="7162800" y="27813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4</a:t>
            </a:r>
          </a:p>
        </p:txBody>
      </p:sp>
      <p:cxnSp>
        <p:nvCxnSpPr>
          <p:cNvPr id="61" name="Прямая соединительная линия 60">
            <a:extLst>
              <a:ext uri="{FF2B5EF4-FFF2-40B4-BE49-F238E27FC236}">
                <a16:creationId xmlns:a16="http://schemas.microsoft.com/office/drawing/2014/main" id="{F9083BAA-B120-477A-9D1E-2A5E5A4B21A2}"/>
              </a:ext>
            </a:extLst>
          </p:cNvPr>
          <p:cNvCxnSpPr/>
          <p:nvPr/>
        </p:nvCxnSpPr>
        <p:spPr>
          <a:xfrm>
            <a:off x="6045200" y="30734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CA13367-7ABC-4B2E-BED2-18DD3B4D64BE}"/>
              </a:ext>
            </a:extLst>
          </p:cNvPr>
          <p:cNvSpPr txBox="1"/>
          <p:nvPr/>
        </p:nvSpPr>
        <p:spPr>
          <a:xfrm>
            <a:off x="6045200" y="32004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Верных по теме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D445F7-A854-4212-966C-C0065073025B}"/>
              </a:ext>
            </a:extLst>
          </p:cNvPr>
          <p:cNvSpPr txBox="1"/>
          <p:nvPr/>
        </p:nvSpPr>
        <p:spPr>
          <a:xfrm>
            <a:off x="7162800" y="32131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5</a:t>
            </a:r>
          </a:p>
        </p:txBody>
      </p:sp>
      <p:cxnSp>
        <p:nvCxnSpPr>
          <p:cNvPr id="64" name="Прямая соединительная линия 63">
            <a:extLst>
              <a:ext uri="{FF2B5EF4-FFF2-40B4-BE49-F238E27FC236}">
                <a16:creationId xmlns:a16="http://schemas.microsoft.com/office/drawing/2014/main" id="{EF5700AF-DF25-417A-A1BB-AF88D0D74E1C}"/>
              </a:ext>
            </a:extLst>
          </p:cNvPr>
          <p:cNvCxnSpPr/>
          <p:nvPr/>
        </p:nvCxnSpPr>
        <p:spPr>
          <a:xfrm>
            <a:off x="6045200" y="35052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3ABB06E-CE84-4FDC-8191-AA552D27EA7E}"/>
              </a:ext>
            </a:extLst>
          </p:cNvPr>
          <p:cNvSpPr txBox="1"/>
          <p:nvPr/>
        </p:nvSpPr>
        <p:spPr>
          <a:xfrm>
            <a:off x="6045200" y="36322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Подвохов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34DF5C9-040D-4B22-91BE-48242B38A759}"/>
              </a:ext>
            </a:extLst>
          </p:cNvPr>
          <p:cNvSpPr txBox="1"/>
          <p:nvPr/>
        </p:nvSpPr>
        <p:spPr>
          <a:xfrm>
            <a:off x="7162800" y="36449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4</a:t>
            </a:r>
          </a:p>
        </p:txBody>
      </p:sp>
      <p:cxnSp>
        <p:nvCxnSpPr>
          <p:cNvPr id="67" name="Прямая соединительная линия 66">
            <a:extLst>
              <a:ext uri="{FF2B5EF4-FFF2-40B4-BE49-F238E27FC236}">
                <a16:creationId xmlns:a16="http://schemas.microsoft.com/office/drawing/2014/main" id="{EE4C403A-B016-427E-945C-852DEF57EE18}"/>
              </a:ext>
            </a:extLst>
          </p:cNvPr>
          <p:cNvCxnSpPr/>
          <p:nvPr/>
        </p:nvCxnSpPr>
        <p:spPr>
          <a:xfrm>
            <a:off x="6045200" y="39370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8DEFF72E-86C4-4D62-984A-843187626E57}"/>
              </a:ext>
            </a:extLst>
          </p:cNvPr>
          <p:cNvSpPr txBox="1"/>
          <p:nvPr/>
        </p:nvSpPr>
        <p:spPr>
          <a:xfrm>
            <a:off x="6045200" y="40640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Вопрос в интервью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6FA5C63-A813-402A-B83B-F47DCA3D4464}"/>
              </a:ext>
            </a:extLst>
          </p:cNvPr>
          <p:cNvSpPr txBox="1"/>
          <p:nvPr/>
        </p:nvSpPr>
        <p:spPr>
          <a:xfrm>
            <a:off x="7162800" y="40767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6 с</a:t>
            </a:r>
          </a:p>
        </p:txBody>
      </p:sp>
      <p:cxnSp>
        <p:nvCxnSpPr>
          <p:cNvPr id="70" name="Прямая соединительная линия 69">
            <a:extLst>
              <a:ext uri="{FF2B5EF4-FFF2-40B4-BE49-F238E27FC236}">
                <a16:creationId xmlns:a16="http://schemas.microsoft.com/office/drawing/2014/main" id="{B6978E5E-5373-4459-A1F9-1F6E8B935D45}"/>
              </a:ext>
            </a:extLst>
          </p:cNvPr>
          <p:cNvCxnSpPr/>
          <p:nvPr/>
        </p:nvCxnSpPr>
        <p:spPr>
          <a:xfrm>
            <a:off x="6045200" y="4368800"/>
            <a:ext cx="2184400" cy="0"/>
          </a:xfrm>
          <a:prstGeom prst="line">
            <a:avLst/>
          </a:prstGeom>
          <a:ln w="9525">
            <a:solidFill>
              <a:srgbClr val="B3A67F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A505941-9E1F-4CDB-A53A-D70D6F785F67}"/>
              </a:ext>
            </a:extLst>
          </p:cNvPr>
          <p:cNvSpPr txBox="1"/>
          <p:nvPr/>
        </p:nvSpPr>
        <p:spPr>
          <a:xfrm>
            <a:off x="6045200" y="4495800"/>
            <a:ext cx="1397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41C16"/>
                </a:solidFill>
                <a:latin typeface="Georgia" panose="02040502050405020303" pitchFamily="18" charset="0"/>
              </a:rPr>
              <a:t>Тема от босса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9E7EC0E-7818-450A-A84E-EE435ABC0CF5}"/>
              </a:ext>
            </a:extLst>
          </p:cNvPr>
          <p:cNvSpPr txBox="1"/>
          <p:nvPr/>
        </p:nvSpPr>
        <p:spPr>
          <a:xfrm>
            <a:off x="7162800" y="4508500"/>
            <a:ext cx="10668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молчит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D74F2238-09AB-4E56-9545-57953BD3407B}"/>
              </a:ext>
            </a:extLst>
          </p:cNvPr>
          <p:cNvSpPr/>
          <p:nvPr/>
        </p:nvSpPr>
        <p:spPr>
          <a:xfrm>
            <a:off x="8686800" y="1270000"/>
            <a:ext cx="2895600" cy="3810000"/>
          </a:xfrm>
          <a:prstGeom prst="rect">
            <a:avLst/>
          </a:prstGeom>
          <a:solidFill>
            <a:srgbClr val="1A1511"/>
          </a:solidFill>
          <a:ln w="28575">
            <a:solidFill>
              <a:srgbClr val="F6EFD9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C2424C2-0605-4F99-9209-6BEBB8283145}"/>
              </a:ext>
            </a:extLst>
          </p:cNvPr>
          <p:cNvSpPr txBox="1"/>
          <p:nvPr/>
        </p:nvSpPr>
        <p:spPr>
          <a:xfrm>
            <a:off x="8915400" y="1498600"/>
            <a:ext cx="24130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E2B64C"/>
                </a:solidFill>
                <a:latin typeface="Courier New" panose="02070309020205020404" pitchFamily="49" charset="0"/>
              </a:rPr>
              <a:t>СОХРАНЕНИЕ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7F23888-9C7F-47F3-A4A0-1EBB1CF0998B}"/>
              </a:ext>
            </a:extLst>
          </p:cNvPr>
          <p:cNvSpPr txBox="1"/>
          <p:nvPr/>
        </p:nvSpPr>
        <p:spPr>
          <a:xfrm>
            <a:off x="8915400" y="1828800"/>
            <a:ext cx="24638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F2ECE0"/>
                </a:solidFill>
                <a:latin typeface="Georgia" panose="02040502050405020303" pitchFamily="18" charset="0"/>
              </a:rPr>
              <a:t>Прогресс сохраняется файлом между днями, а загружается в главном меню.</a:t>
            </a:r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EB883226-0A57-4202-A6D6-5A0362524D45}"/>
              </a:ext>
            </a:extLst>
          </p:cNvPr>
          <p:cNvSpPr/>
          <p:nvPr/>
        </p:nvSpPr>
        <p:spPr>
          <a:xfrm>
            <a:off x="8915400" y="2844800"/>
            <a:ext cx="2413000" cy="635000"/>
          </a:xfrm>
          <a:prstGeom prst="rect">
            <a:avLst/>
          </a:prstGeom>
          <a:solidFill>
            <a:srgbClr val="EADFC2"/>
          </a:solidFill>
          <a:ln w="19050">
            <a:solidFill>
              <a:srgbClr val="CFC2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65D15C6-D86F-492B-852C-6F3186D38F15}"/>
              </a:ext>
            </a:extLst>
          </p:cNvPr>
          <p:cNvSpPr txBox="1"/>
          <p:nvPr/>
        </p:nvSpPr>
        <p:spPr>
          <a:xfrm>
            <a:off x="8991600" y="2921000"/>
            <a:ext cx="22606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850" b="1">
                <a:solidFill>
                  <a:srgbClr val="241C16"/>
                </a:solidFill>
                <a:latin typeface="Courier New" panose="02070309020205020404" pitchFamily="49" charset="0"/>
              </a:rPr>
              <a:t>Инфоповодоинатор_Джон-Блохастый_день-3_нормальная.json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F9AB7F6-CC54-4B4A-AEF2-8CB890159780}"/>
              </a:ext>
            </a:extLst>
          </p:cNvPr>
          <p:cNvSpPr txBox="1"/>
          <p:nvPr/>
        </p:nvSpPr>
        <p:spPr>
          <a:xfrm>
            <a:off x="8915400" y="3683000"/>
            <a:ext cx="24638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F2ECE0"/>
                </a:solidFill>
                <a:latin typeface="Georgia" panose="02040502050405020303" pitchFamily="18" charset="0"/>
              </a:rPr>
              <a:t>Контрольная сумма: вручную изменённый файл не загрузится.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5DCE07C-9FB3-4B72-8998-7563368DFAEA}"/>
              </a:ext>
            </a:extLst>
          </p:cNvPr>
          <p:cNvSpPr txBox="1"/>
          <p:nvPr/>
        </p:nvSpPr>
        <p:spPr>
          <a:xfrm>
            <a:off x="609600" y="5384800"/>
            <a:ext cx="10972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CFC29C"/>
                </a:solidFill>
                <a:latin typeface="Georgia" panose="02040502050405020303" pitchFamily="18" charset="0"/>
              </a:rPr>
              <a:t>Глава длится пять дней, как рабочая неделя. Тема дня каждый раз новая, а число слотов на странице всегда четыре.</a:t>
            </a:r>
          </a:p>
        </p:txBody>
      </p:sp>
      <p:sp>
        <p:nvSpPr>
          <p:cNvPr id="80" name="slide-no">
            <a:extLst>
              <a:ext uri="{FF2B5EF4-FFF2-40B4-BE49-F238E27FC236}">
                <a16:creationId xmlns:a16="http://schemas.microsoft.com/office/drawing/2014/main" id="{5761F700-4BD5-40FA-B8F2-FB974B6733C5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11 / 17</a:t>
            </a:r>
          </a:p>
        </p:txBody>
      </p:sp>
    </p:spTree>
    <p:extLst>
      <p:ext uri="{BB962C8B-B14F-4D97-AF65-F5344CB8AC3E}">
        <p14:creationId xmlns:p14="http://schemas.microsoft.com/office/powerpoint/2010/main" val="914186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5C996E-B99D-4618-96E1-0E0C5EF4F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Чистый браузер, без зависимостей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2DDCE8-3A37-425E-8AFA-080943160A76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СТЕК И КАЧЕСТВО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F5B566D-0945-4D26-8DC5-A4F551833038}"/>
              </a:ext>
            </a:extLst>
          </p:cNvPr>
          <p:cNvSpPr/>
          <p:nvPr/>
        </p:nvSpPr>
        <p:spPr>
          <a:xfrm>
            <a:off x="609600" y="1270000"/>
            <a:ext cx="2082800" cy="7112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C333FA-60A7-427F-AD93-5AD27E1D75DF}"/>
              </a:ext>
            </a:extLst>
          </p:cNvPr>
          <p:cNvSpPr txBox="1"/>
          <p:nvPr/>
        </p:nvSpPr>
        <p:spPr>
          <a:xfrm>
            <a:off x="736600" y="1371600"/>
            <a:ext cx="18796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241C16"/>
                </a:solidFill>
                <a:latin typeface="Courier New" panose="02070309020205020404" pitchFamily="49" charset="0"/>
              </a:rPr>
              <a:t>HTML5 + CSS3</a:t>
            </a:r>
            <a:endParaRPr lang="ru-RU" sz="1200" b="1">
              <a:solidFill>
                <a:srgbClr val="241C16"/>
              </a:solidFill>
              <a:latin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BCF03B-6D57-4745-AA1D-FC4A5CB7C7CC}"/>
              </a:ext>
            </a:extLst>
          </p:cNvPr>
          <p:cNvSpPr txBox="1"/>
          <p:nvPr/>
        </p:nvSpPr>
        <p:spPr>
          <a:xfrm>
            <a:off x="736600" y="1651000"/>
            <a:ext cx="18796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00">
                <a:solidFill>
                  <a:srgbClr val="5B4C38"/>
                </a:solidFill>
                <a:latin typeface="Georgia" panose="02040502050405020303" pitchFamily="18" charset="0"/>
              </a:rPr>
              <a:t>без фреймворков и сборки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D329CAD-F409-4F28-8D1E-BAEAC9D8AC81}"/>
              </a:ext>
            </a:extLst>
          </p:cNvPr>
          <p:cNvSpPr/>
          <p:nvPr/>
        </p:nvSpPr>
        <p:spPr>
          <a:xfrm>
            <a:off x="2832100" y="1270000"/>
            <a:ext cx="2082800" cy="7112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2B084F-AC47-449D-9278-A2462B206720}"/>
              </a:ext>
            </a:extLst>
          </p:cNvPr>
          <p:cNvSpPr txBox="1"/>
          <p:nvPr/>
        </p:nvSpPr>
        <p:spPr>
          <a:xfrm>
            <a:off x="2959100" y="1371600"/>
            <a:ext cx="18796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241C16"/>
                </a:solidFill>
                <a:latin typeface="Courier New" panose="02070309020205020404" pitchFamily="49" charset="0"/>
              </a:rPr>
              <a:t>JavaScript</a:t>
            </a:r>
            <a:endParaRPr lang="ru-RU" sz="1200" b="1">
              <a:solidFill>
                <a:srgbClr val="241C16"/>
              </a:solidFill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B3D07E-7E41-49D3-9779-B33F39089350}"/>
              </a:ext>
            </a:extLst>
          </p:cNvPr>
          <p:cNvSpPr txBox="1"/>
          <p:nvPr/>
        </p:nvSpPr>
        <p:spPr>
          <a:xfrm>
            <a:off x="2959100" y="1651000"/>
            <a:ext cx="18796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00">
                <a:solidFill>
                  <a:srgbClr val="5B4C38"/>
                </a:solidFill>
                <a:latin typeface="Georgia" panose="02040502050405020303" pitchFamily="18" charset="0"/>
              </a:rPr>
              <a:t>обычные скрипты, </a:t>
            </a:r>
            <a:r>
              <a:rPr lang="en-US" sz="1100">
                <a:solidFill>
                  <a:srgbClr val="5B4C38"/>
                </a:solidFill>
                <a:latin typeface="Georgia" panose="02040502050405020303" pitchFamily="18" charset="0"/>
              </a:rPr>
              <a:t>ES2017</a:t>
            </a:r>
            <a:endParaRPr lang="ru-RU" sz="1100">
              <a:solidFill>
                <a:srgbClr val="5B4C38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C210DB4-381B-4FB0-93C9-30DAEAE6E575}"/>
              </a:ext>
            </a:extLst>
          </p:cNvPr>
          <p:cNvSpPr/>
          <p:nvPr/>
        </p:nvSpPr>
        <p:spPr>
          <a:xfrm>
            <a:off x="5054600" y="1270000"/>
            <a:ext cx="2082800" cy="7112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938B92-2F65-435C-92D6-02C8A00F5503}"/>
              </a:ext>
            </a:extLst>
          </p:cNvPr>
          <p:cNvSpPr txBox="1"/>
          <p:nvPr/>
        </p:nvSpPr>
        <p:spPr>
          <a:xfrm>
            <a:off x="5181600" y="1371600"/>
            <a:ext cx="18796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241C16"/>
                </a:solidFill>
                <a:latin typeface="Courier New" panose="02070309020205020404" pitchFamily="49" charset="0"/>
              </a:rPr>
              <a:t>Canvas 2D</a:t>
            </a:r>
            <a:endParaRPr lang="ru-RU" sz="1200" b="1">
              <a:solidFill>
                <a:srgbClr val="241C16"/>
              </a:solidFill>
              <a:latin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DF8CA2-CF20-43E6-80DD-6627C5D724E8}"/>
              </a:ext>
            </a:extLst>
          </p:cNvPr>
          <p:cNvSpPr txBox="1"/>
          <p:nvPr/>
        </p:nvSpPr>
        <p:spPr>
          <a:xfrm>
            <a:off x="5181600" y="1651000"/>
            <a:ext cx="18796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00">
                <a:solidFill>
                  <a:srgbClr val="5B4C38"/>
                </a:solidFill>
                <a:latin typeface="Georgia" panose="02040502050405020303" pitchFamily="18" charset="0"/>
              </a:rPr>
              <a:t>пиксель-арт из кода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029054C-D0CE-48C8-89AA-E10A2F13C25C}"/>
              </a:ext>
            </a:extLst>
          </p:cNvPr>
          <p:cNvSpPr/>
          <p:nvPr/>
        </p:nvSpPr>
        <p:spPr>
          <a:xfrm>
            <a:off x="7277100" y="1270000"/>
            <a:ext cx="2082800" cy="7112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F30432-104B-4C0C-9B59-CED481C6B945}"/>
              </a:ext>
            </a:extLst>
          </p:cNvPr>
          <p:cNvSpPr txBox="1"/>
          <p:nvPr/>
        </p:nvSpPr>
        <p:spPr>
          <a:xfrm>
            <a:off x="7404100" y="1371600"/>
            <a:ext cx="18796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241C16"/>
                </a:solidFill>
                <a:latin typeface="Courier New" panose="02070309020205020404" pitchFamily="49" charset="0"/>
              </a:rPr>
              <a:t>Web Audio</a:t>
            </a:r>
            <a:endParaRPr lang="ru-RU" sz="1200" b="1">
              <a:solidFill>
                <a:srgbClr val="241C16"/>
              </a:solidFill>
              <a:latin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847553-9681-4390-9582-7FA90D54542F}"/>
              </a:ext>
            </a:extLst>
          </p:cNvPr>
          <p:cNvSpPr txBox="1"/>
          <p:nvPr/>
        </p:nvSpPr>
        <p:spPr>
          <a:xfrm>
            <a:off x="7404100" y="1651000"/>
            <a:ext cx="18796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00">
                <a:solidFill>
                  <a:srgbClr val="5B4C38"/>
                </a:solidFill>
                <a:latin typeface="Georgia" panose="02040502050405020303" pitchFamily="18" charset="0"/>
              </a:rPr>
              <a:t>музыка и звуки без файлов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AB64384-7D4D-4D70-80D6-1DB155A52F58}"/>
              </a:ext>
            </a:extLst>
          </p:cNvPr>
          <p:cNvSpPr/>
          <p:nvPr/>
        </p:nvSpPr>
        <p:spPr>
          <a:xfrm>
            <a:off x="9499600" y="1270000"/>
            <a:ext cx="2082800" cy="711200"/>
          </a:xfrm>
          <a:prstGeom prst="rect">
            <a:avLst/>
          </a:prstGeom>
          <a:solidFill>
            <a:srgbClr val="EADFC2"/>
          </a:solidFill>
          <a:ln w="25400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F436EA-5237-48DA-9FFE-C575C90CEAB6}"/>
              </a:ext>
            </a:extLst>
          </p:cNvPr>
          <p:cNvSpPr txBox="1"/>
          <p:nvPr/>
        </p:nvSpPr>
        <p:spPr>
          <a:xfrm>
            <a:off x="9626600" y="1371600"/>
            <a:ext cx="1879600" cy="203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b="1">
                <a:solidFill>
                  <a:srgbClr val="241C16"/>
                </a:solidFill>
                <a:latin typeface="Courier New" panose="02070309020205020404" pitchFamily="49" charset="0"/>
              </a:rPr>
              <a:t>Своя физика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E0C935-E384-4DB5-A4A9-990B3178E41E}"/>
              </a:ext>
            </a:extLst>
          </p:cNvPr>
          <p:cNvSpPr txBox="1"/>
          <p:nvPr/>
        </p:nvSpPr>
        <p:spPr>
          <a:xfrm>
            <a:off x="9626600" y="1651000"/>
            <a:ext cx="18796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100">
                <a:solidFill>
                  <a:srgbClr val="5B4C38"/>
                </a:solidFill>
                <a:latin typeface="Georgia" panose="02040502050405020303" pitchFamily="18" charset="0"/>
              </a:rPr>
              <a:t>пружинная анимация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AAD8F4D-8878-489D-A1E5-A5951FC05663}"/>
              </a:ext>
            </a:extLst>
          </p:cNvPr>
          <p:cNvSpPr/>
          <p:nvPr/>
        </p:nvSpPr>
        <p:spPr>
          <a:xfrm>
            <a:off x="609600" y="2387600"/>
            <a:ext cx="2590800" cy="1905000"/>
          </a:xfrm>
          <a:prstGeom prst="rect">
            <a:avLst/>
          </a:prstGeom>
          <a:solidFill>
            <a:srgbClr val="1A1511"/>
          </a:solidFill>
          <a:ln w="28575">
            <a:solidFill>
              <a:srgbClr val="F6EFD9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2F79B6-C0A5-48BC-9E64-7363EB5E2B30}"/>
              </a:ext>
            </a:extLst>
          </p:cNvPr>
          <p:cNvSpPr txBox="1"/>
          <p:nvPr/>
        </p:nvSpPr>
        <p:spPr>
          <a:xfrm>
            <a:off x="787400" y="2590800"/>
            <a:ext cx="2286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>
                <a:solidFill>
                  <a:srgbClr val="E2B64C"/>
                </a:solidFill>
                <a:latin typeface="Courier New" panose="02070309020205020404" pitchFamily="49" charset="0"/>
              </a:rPr>
              <a:t>6000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9662BB-4AF7-4162-B265-3D4EF1389A7A}"/>
              </a:ext>
            </a:extLst>
          </p:cNvPr>
          <p:cNvSpPr txBox="1"/>
          <p:nvPr/>
        </p:nvSpPr>
        <p:spPr>
          <a:xfrm>
            <a:off x="787400" y="3251200"/>
            <a:ext cx="22606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игровых дней прошёл автотест решаемости без единой ошибки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986F5B1-3BF9-4C48-8626-D84FD46BB0B1}"/>
              </a:ext>
            </a:extLst>
          </p:cNvPr>
          <p:cNvSpPr/>
          <p:nvPr/>
        </p:nvSpPr>
        <p:spPr>
          <a:xfrm>
            <a:off x="3403600" y="2387600"/>
            <a:ext cx="2590800" cy="1905000"/>
          </a:xfrm>
          <a:prstGeom prst="rect">
            <a:avLst/>
          </a:prstGeom>
          <a:solidFill>
            <a:srgbClr val="1A1511"/>
          </a:solidFill>
          <a:ln w="28575">
            <a:solidFill>
              <a:srgbClr val="F6EFD9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8841F9-41F2-44F2-9B2A-16EF90B9A03D}"/>
              </a:ext>
            </a:extLst>
          </p:cNvPr>
          <p:cNvSpPr txBox="1"/>
          <p:nvPr/>
        </p:nvSpPr>
        <p:spPr>
          <a:xfrm>
            <a:off x="3581400" y="2590800"/>
            <a:ext cx="2286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>
                <a:solidFill>
                  <a:srgbClr val="E2B64C"/>
                </a:solidFill>
                <a:latin typeface="Courier New" panose="02070309020205020404" pitchFamily="49" charset="0"/>
              </a:rPr>
              <a:t>60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CB44BD-2C9A-4F92-BDA6-D0489BD4F6BF}"/>
              </a:ext>
            </a:extLst>
          </p:cNvPr>
          <p:cNvSpPr txBox="1"/>
          <p:nvPr/>
        </p:nvSpPr>
        <p:spPr>
          <a:xfrm>
            <a:off x="3581400" y="3251200"/>
            <a:ext cx="22606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кадров в секунду в замерах на тестовом ПК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3F33B0B-D9F2-4487-A39C-F31F14387971}"/>
              </a:ext>
            </a:extLst>
          </p:cNvPr>
          <p:cNvSpPr/>
          <p:nvPr/>
        </p:nvSpPr>
        <p:spPr>
          <a:xfrm>
            <a:off x="6197600" y="2387600"/>
            <a:ext cx="2590800" cy="1905000"/>
          </a:xfrm>
          <a:prstGeom prst="rect">
            <a:avLst/>
          </a:prstGeom>
          <a:solidFill>
            <a:srgbClr val="1A1511"/>
          </a:solidFill>
          <a:ln w="28575">
            <a:solidFill>
              <a:srgbClr val="F6EFD9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889808-BA08-4990-9799-22ED06D11175}"/>
              </a:ext>
            </a:extLst>
          </p:cNvPr>
          <p:cNvSpPr txBox="1"/>
          <p:nvPr/>
        </p:nvSpPr>
        <p:spPr>
          <a:xfrm>
            <a:off x="6375400" y="2590800"/>
            <a:ext cx="2286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>
                <a:solidFill>
                  <a:srgbClr val="E2B64C"/>
                </a:solidFill>
                <a:latin typeface="Courier New" panose="02070309020205020404" pitchFamily="49" charset="0"/>
              </a:rPr>
              <a:t>550 КБ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A999CE-D3B8-4EF4-9DE5-E9D0530DB058}"/>
              </a:ext>
            </a:extLst>
          </p:cNvPr>
          <p:cNvSpPr txBox="1"/>
          <p:nvPr/>
        </p:nvSpPr>
        <p:spPr>
          <a:xfrm>
            <a:off x="6375400" y="3251200"/>
            <a:ext cx="22606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вся игра одним файлом для телефонов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2A1737B-82A7-43AC-A8FB-C4D466CB63FB}"/>
              </a:ext>
            </a:extLst>
          </p:cNvPr>
          <p:cNvSpPr/>
          <p:nvPr/>
        </p:nvSpPr>
        <p:spPr>
          <a:xfrm>
            <a:off x="8991600" y="2387600"/>
            <a:ext cx="2590800" cy="1905000"/>
          </a:xfrm>
          <a:prstGeom prst="rect">
            <a:avLst/>
          </a:prstGeom>
          <a:solidFill>
            <a:srgbClr val="1A1511"/>
          </a:solidFill>
          <a:ln w="28575">
            <a:solidFill>
              <a:srgbClr val="F6EFD9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2F2026-FD95-446C-96A2-2DC7D5DE2F01}"/>
              </a:ext>
            </a:extLst>
          </p:cNvPr>
          <p:cNvSpPr txBox="1"/>
          <p:nvPr/>
        </p:nvSpPr>
        <p:spPr>
          <a:xfrm>
            <a:off x="9169400" y="2590800"/>
            <a:ext cx="2286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>
                <a:solidFill>
                  <a:srgbClr val="E2B64C"/>
                </a:solidFill>
                <a:latin typeface="Courier New" panose="02070309020205020404" pitchFamily="49" charset="0"/>
              </a:rPr>
              <a:t>203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3E8CE2-F45F-44AA-9074-C4C3CAC13473}"/>
              </a:ext>
            </a:extLst>
          </p:cNvPr>
          <p:cNvSpPr txBox="1"/>
          <p:nvPr/>
        </p:nvSpPr>
        <p:spPr>
          <a:xfrm>
            <a:off x="9169400" y="3251200"/>
            <a:ext cx="22606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новости в 14 темах, у каждой разбор и источник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102E3B-1324-4FFC-924B-C5D0019007EF}"/>
              </a:ext>
            </a:extLst>
          </p:cNvPr>
          <p:cNvSpPr txBox="1"/>
          <p:nvPr/>
        </p:nvSpPr>
        <p:spPr>
          <a:xfrm>
            <a:off x="609600" y="46482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CFC29C"/>
                </a:solidFill>
                <a:latin typeface="Georgia" panose="02040502050405020303" pitchFamily="18" charset="0"/>
              </a:rPr>
              <a:t>Разработка шла вместе с ИИ-помощником (Claude Code): требования, концепцию и приёмку задавала команда, код и тексты писались и проверялись вместе с ним.</a:t>
            </a:r>
          </a:p>
        </p:txBody>
      </p:sp>
      <p:sp>
        <p:nvSpPr>
          <p:cNvPr id="32" name="slide-no">
            <a:extLst>
              <a:ext uri="{FF2B5EF4-FFF2-40B4-BE49-F238E27FC236}">
                <a16:creationId xmlns:a16="http://schemas.microsoft.com/office/drawing/2014/main" id="{C563A604-F2C1-4531-86CF-365ECB0ACE34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12 / 17</a:t>
            </a:r>
          </a:p>
        </p:txBody>
      </p:sp>
    </p:spTree>
    <p:extLst>
      <p:ext uri="{BB962C8B-B14F-4D97-AF65-F5344CB8AC3E}">
        <p14:creationId xmlns:p14="http://schemas.microsoft.com/office/powerpoint/2010/main" val="1462706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1991D3-DB99-46BB-AC9A-697331D2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Новая тема — один объект данных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BEF4DB-1EBA-4210-BD95-D9405264448A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МАСШТАБИРУЕМОСТЬ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47C3ADF-0CAD-448B-8BBE-0467029DE604}"/>
              </a:ext>
            </a:extLst>
          </p:cNvPr>
          <p:cNvSpPr/>
          <p:nvPr/>
        </p:nvSpPr>
        <p:spPr>
          <a:xfrm>
            <a:off x="609600" y="1270000"/>
            <a:ext cx="6477000" cy="2489200"/>
          </a:xfrm>
          <a:prstGeom prst="rect">
            <a:avLst/>
          </a:prstGeom>
          <a:solidFill>
            <a:srgbClr val="1A1511"/>
          </a:solidFill>
          <a:ln w="28575">
            <a:solidFill>
              <a:srgbClr val="F6EFD9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0B7709-6C1F-49AE-983D-53AF52F95CF5}"/>
              </a:ext>
            </a:extLst>
          </p:cNvPr>
          <p:cNvSpPr txBox="1"/>
          <p:nvPr/>
        </p:nvSpPr>
        <p:spPr>
          <a:xfrm>
            <a:off x="838200" y="1473200"/>
            <a:ext cx="6096000" cy="215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400"/>
              </a:spcAft>
            </a:pPr>
            <a:r>
              <a:rPr lang="ru-RU" sz="1300" b="1">
                <a:solidFill>
                  <a:srgbClr val="8E8A7A"/>
                </a:solidFill>
                <a:latin typeface="Courier New" panose="02070309020205020404" pitchFamily="49" charset="0"/>
              </a:rPr>
              <a:t>// упрощённый пример новости в </a:t>
            </a:r>
            <a:r>
              <a:rPr lang="en-US" sz="1300" b="1">
                <a:solidFill>
                  <a:srgbClr val="8E8A7A"/>
                </a:solidFill>
                <a:latin typeface="Courier New" panose="02070309020205020404" pitchFamily="49" charset="0"/>
              </a:rPr>
              <a:t>js/content/groups.js</a:t>
            </a:r>
          </a:p>
          <a:p>
            <a:pPr>
              <a:spcAft>
                <a:spcPts val="400"/>
              </a:spcAft>
            </a:pPr>
            <a:r>
              <a:rPr lang="en-US" sz="1300" b="1">
                <a:solidFill>
                  <a:srgbClr val="E8DCC0"/>
                </a:solidFill>
                <a:latin typeface="Courier New" panose="02070309020205020404" pitchFamily="49" charset="0"/>
              </a:rPr>
              <a:t>{ v: 1,                // 1 — </a:t>
            </a: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правда, 0 — ложь</a:t>
            </a:r>
          </a:p>
          <a:p>
            <a:pPr>
              <a:spcAft>
                <a:spcPts val="400"/>
              </a:spcAft>
            </a:pP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  </a:t>
            </a:r>
            <a:r>
              <a:rPr lang="en-US" sz="1300" b="1">
                <a:solidFill>
                  <a:srgbClr val="E8DCC0"/>
                </a:solidFill>
                <a:latin typeface="Courier New" panose="02070309020205020404" pitchFamily="49" charset="0"/>
              </a:rPr>
              <a:t>t: '</a:t>
            </a: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Валентина Терешкова стала первой…',</a:t>
            </a:r>
          </a:p>
          <a:p>
            <a:pPr>
              <a:spcAft>
                <a:spcPts val="400"/>
              </a:spcAft>
            </a:pP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  </a:t>
            </a:r>
            <a:r>
              <a:rPr lang="en-US" sz="1300" b="1">
                <a:solidFill>
                  <a:srgbClr val="E8DCC0"/>
                </a:solidFill>
                <a:latin typeface="Courier New" panose="02070309020205020404" pitchFamily="49" charset="0"/>
              </a:rPr>
              <a:t>why: '</a:t>
            </a: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Разбор для планёрки',</a:t>
            </a:r>
          </a:p>
          <a:p>
            <a:pPr>
              <a:spcAft>
                <a:spcPts val="400"/>
              </a:spcAft>
            </a:pP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  </a:t>
            </a:r>
            <a:r>
              <a:rPr lang="en-US" sz="1300" b="1">
                <a:solidFill>
                  <a:srgbClr val="E8DCC0"/>
                </a:solidFill>
                <a:latin typeface="Courier New" panose="02070309020205020404" pitchFamily="49" charset="0"/>
              </a:rPr>
              <a:t>src: '</a:t>
            </a: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Источник со ссылкой',</a:t>
            </a:r>
          </a:p>
          <a:p>
            <a:pPr>
              <a:spcAft>
                <a:spcPts val="400"/>
              </a:spcAft>
            </a:pP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  </a:t>
            </a:r>
            <a:r>
              <a:rPr lang="en-US" sz="1300" b="1">
                <a:solidFill>
                  <a:srgbClr val="E8DCC0"/>
                </a:solidFill>
                <a:latin typeface="Courier New" panose="02070309020205020404" pitchFamily="49" charset="0"/>
              </a:rPr>
              <a:t>ok: '</a:t>
            </a: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Верная подсказка',</a:t>
            </a:r>
          </a:p>
          <a:p>
            <a:pPr>
              <a:spcAft>
                <a:spcPts val="400"/>
              </a:spcAft>
            </a:pP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  </a:t>
            </a:r>
            <a:r>
              <a:rPr lang="en-US" sz="1300" b="1">
                <a:solidFill>
                  <a:srgbClr val="E8DCC0"/>
                </a:solidFill>
                <a:latin typeface="Courier New" panose="02070309020205020404" pitchFamily="49" charset="0"/>
              </a:rPr>
              <a:t>bad: '</a:t>
            </a:r>
            <a:r>
              <a:rPr lang="ru-RU" sz="1300" b="1">
                <a:solidFill>
                  <a:srgbClr val="E8DCC0"/>
                </a:solidFill>
                <a:latin typeface="Courier New" panose="02070309020205020404" pitchFamily="49" charset="0"/>
              </a:rPr>
              <a:t>Вводящая в заблуждение'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2A93E6-5D82-48C8-9B6F-CBF476848412}"/>
              </a:ext>
            </a:extLst>
          </p:cNvPr>
          <p:cNvSpPr txBox="1"/>
          <p:nvPr/>
        </p:nvSpPr>
        <p:spPr>
          <a:xfrm>
            <a:off x="7569200" y="1320800"/>
            <a:ext cx="381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КУДА ДАЛЬШЕ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7F5F70-1481-4FDB-A34B-5FA3EC1DFDA6}"/>
              </a:ext>
            </a:extLst>
          </p:cNvPr>
          <p:cNvSpPr txBox="1"/>
          <p:nvPr/>
        </p:nvSpPr>
        <p:spPr>
          <a:xfrm>
            <a:off x="7569200" y="17526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9C23E3-AB17-4023-AC06-030309B0A6EA}"/>
              </a:ext>
            </a:extLst>
          </p:cNvPr>
          <p:cNvSpPr txBox="1"/>
          <p:nvPr/>
        </p:nvSpPr>
        <p:spPr>
          <a:xfrm>
            <a:off x="7848600" y="1701800"/>
            <a:ext cx="3733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>
                <a:solidFill>
                  <a:srgbClr val="F2ECE0"/>
                </a:solidFill>
                <a:latin typeface="Georgia" panose="02040502050405020303" pitchFamily="18" charset="0"/>
              </a:rPr>
              <a:t>Больше тем: регион, кино, музыка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8C0FB-242D-4916-ACB0-5CC4155D260F}"/>
              </a:ext>
            </a:extLst>
          </p:cNvPr>
          <p:cNvSpPr txBox="1"/>
          <p:nvPr/>
        </p:nvSpPr>
        <p:spPr>
          <a:xfrm>
            <a:off x="7569200" y="23622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9813E-F568-4910-A5E7-F40A49E60008}"/>
              </a:ext>
            </a:extLst>
          </p:cNvPr>
          <p:cNvSpPr txBox="1"/>
          <p:nvPr/>
        </p:nvSpPr>
        <p:spPr>
          <a:xfrm>
            <a:off x="7848600" y="2311400"/>
            <a:ext cx="3733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>
                <a:solidFill>
                  <a:srgbClr val="F2ECE0"/>
                </a:solidFill>
                <a:latin typeface="Georgia" panose="02040502050405020303" pitchFamily="18" charset="0"/>
              </a:rPr>
              <a:t>Сюжет с выбором и новые звонящие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EF94B2-0C04-4EF0-8F90-0C1C18CAA9E2}"/>
              </a:ext>
            </a:extLst>
          </p:cNvPr>
          <p:cNvSpPr txBox="1"/>
          <p:nvPr/>
        </p:nvSpPr>
        <p:spPr>
          <a:xfrm>
            <a:off x="7569200" y="29718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6F9DB1-BC11-4CC1-A0CF-2B83F2AAEF7D}"/>
              </a:ext>
            </a:extLst>
          </p:cNvPr>
          <p:cNvSpPr txBox="1"/>
          <p:nvPr/>
        </p:nvSpPr>
        <p:spPr>
          <a:xfrm>
            <a:off x="7848600" y="2921000"/>
            <a:ext cx="3733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>
                <a:solidFill>
                  <a:srgbClr val="F2ECE0"/>
                </a:solidFill>
                <a:latin typeface="Georgia" panose="02040502050405020303" pitchFamily="18" charset="0"/>
              </a:rPr>
              <a:t>Ежедневные задания босса, таблица рекордов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89C89-4F3B-404B-A977-9CFFCF77C393}"/>
              </a:ext>
            </a:extLst>
          </p:cNvPr>
          <p:cNvSpPr txBox="1"/>
          <p:nvPr/>
        </p:nvSpPr>
        <p:spPr>
          <a:xfrm>
            <a:off x="7569200" y="35814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114182-F210-4EB0-915C-4D9E46FE114D}"/>
              </a:ext>
            </a:extLst>
          </p:cNvPr>
          <p:cNvSpPr txBox="1"/>
          <p:nvPr/>
        </p:nvSpPr>
        <p:spPr>
          <a:xfrm>
            <a:off x="7848600" y="3530600"/>
            <a:ext cx="3733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>
                <a:solidFill>
                  <a:srgbClr val="F2ECE0"/>
                </a:solidFill>
                <a:latin typeface="Georgia" panose="02040502050405020303" pitchFamily="18" charset="0"/>
              </a:rPr>
              <a:t>Озвучка героев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6903B8-7F35-4311-9213-92ADA1221425}"/>
              </a:ext>
            </a:extLst>
          </p:cNvPr>
          <p:cNvSpPr txBox="1"/>
          <p:nvPr/>
        </p:nvSpPr>
        <p:spPr>
          <a:xfrm>
            <a:off x="7569200" y="4191000"/>
            <a:ext cx="177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E2B64C"/>
                </a:solidFill>
                <a:latin typeface="Courier New" panose="02070309020205020404" pitchFamily="49" charset="0"/>
              </a:rPr>
              <a:t>▶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0B6C5E-5F84-4C8B-9069-34A8C9767B34}"/>
              </a:ext>
            </a:extLst>
          </p:cNvPr>
          <p:cNvSpPr txBox="1"/>
          <p:nvPr/>
        </p:nvSpPr>
        <p:spPr>
          <a:xfrm>
            <a:off x="7848600" y="4140200"/>
            <a:ext cx="3733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>
                <a:solidFill>
                  <a:srgbClr val="F2ECE0"/>
                </a:solidFill>
                <a:latin typeface="Georgia" panose="02040502050405020303" pitchFamily="18" charset="0"/>
              </a:rPr>
              <a:t>Проверка на живых подростках</a:t>
            </a:r>
          </a:p>
        </p:txBody>
      </p:sp>
      <p:sp>
        <p:nvSpPr>
          <p:cNvPr id="17" name="slide-no">
            <a:extLst>
              <a:ext uri="{FF2B5EF4-FFF2-40B4-BE49-F238E27FC236}">
                <a16:creationId xmlns:a16="http://schemas.microsoft.com/office/drawing/2014/main" id="{26426AB4-E14D-475B-9A8D-37E7D90EB3E5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13 / 17</a:t>
            </a:r>
          </a:p>
        </p:txBody>
      </p:sp>
    </p:spTree>
    <p:extLst>
      <p:ext uri="{BB962C8B-B14F-4D97-AF65-F5344CB8AC3E}">
        <p14:creationId xmlns:p14="http://schemas.microsoft.com/office/powerpoint/2010/main" val="3407775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4857F9-05E2-4564-BB29-B05C8A647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Кто делал игру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7DA213-BB20-4D41-BC5D-B7A683BBED0D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КОМАНДА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EB1CD67-99A9-4E16-8CA3-353552C03945}"/>
              </a:ext>
            </a:extLst>
          </p:cNvPr>
          <p:cNvSpPr/>
          <p:nvPr/>
        </p:nvSpPr>
        <p:spPr>
          <a:xfrm>
            <a:off x="609600" y="1320800"/>
            <a:ext cx="3556000" cy="21844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4955FD2-BB5F-4066-A137-20C6FF813671}"/>
              </a:ext>
            </a:extLst>
          </p:cNvPr>
          <p:cNvSpPr/>
          <p:nvPr/>
        </p:nvSpPr>
        <p:spPr>
          <a:xfrm>
            <a:off x="647700" y="1358900"/>
            <a:ext cx="1168400" cy="2108200"/>
          </a:xfrm>
          <a:prstGeom prst="rect">
            <a:avLst/>
          </a:prstGeom>
          <a:solidFill>
            <a:srgbClr val="CFC7A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Рисунок 6" descr="Картинка участника: Lozzix">
            <a:extLst>
              <a:ext uri="{FF2B5EF4-FFF2-40B4-BE49-F238E27FC236}">
                <a16:creationId xmlns:a16="http://schemas.microsoft.com/office/drawing/2014/main" id="{19DF4C46-945E-4A75-BA18-F7E45BB30B5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" y="1473200"/>
            <a:ext cx="1168400" cy="194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3C6865-3920-407B-B558-B91D9D07C031}"/>
              </a:ext>
            </a:extLst>
          </p:cNvPr>
          <p:cNvSpPr txBox="1"/>
          <p:nvPr/>
        </p:nvSpPr>
        <p:spPr>
          <a:xfrm>
            <a:off x="1981200" y="1498600"/>
            <a:ext cx="2082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241C16"/>
                </a:solidFill>
                <a:latin typeface="Courier New" panose="02070309020205020404" pitchFamily="49" charset="0"/>
              </a:rPr>
              <a:t>Lozzix</a:t>
            </a:r>
            <a:endParaRPr lang="ru-RU" sz="1500" b="1">
              <a:solidFill>
                <a:srgbClr val="241C16"/>
              </a:solidFill>
              <a:latin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5153B-9E3B-4774-AD33-CD13FE30D91F}"/>
              </a:ext>
            </a:extLst>
          </p:cNvPr>
          <p:cNvSpPr txBox="1"/>
          <p:nvPr/>
        </p:nvSpPr>
        <p:spPr>
          <a:xfrm>
            <a:off x="1981200" y="1879600"/>
            <a:ext cx="2082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241C16"/>
                </a:solidFill>
                <a:latin typeface="Georgia" panose="02040502050405020303" pitchFamily="18" charset="0"/>
              </a:rPr>
              <a:t>Жуков Ярослав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4975B60-FFF3-4490-AF28-E5C863484574}"/>
              </a:ext>
            </a:extLst>
          </p:cNvPr>
          <p:cNvSpPr/>
          <p:nvPr/>
        </p:nvSpPr>
        <p:spPr>
          <a:xfrm>
            <a:off x="1981200" y="2743200"/>
            <a:ext cx="2082800" cy="584200"/>
          </a:xfrm>
          <a:prstGeom prst="rect">
            <a:avLst/>
          </a:prstGeom>
          <a:solidFill>
            <a:srgbClr val="C4961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3A768D-647B-4F36-9152-5E53E9CD95DA}"/>
              </a:ext>
            </a:extLst>
          </p:cNvPr>
          <p:cNvSpPr txBox="1"/>
          <p:nvPr/>
        </p:nvSpPr>
        <p:spPr>
          <a:xfrm>
            <a:off x="2082800" y="2743200"/>
            <a:ext cx="18796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150" b="1">
                <a:solidFill>
                  <a:srgbClr val="241C16"/>
                </a:solidFill>
                <a:latin typeface="Courier New" panose="02070309020205020404" pitchFamily="49" charset="0"/>
              </a:rPr>
              <a:t>Автор идеи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95027B1-F83D-4054-B7B2-B11777A94AFA}"/>
              </a:ext>
            </a:extLst>
          </p:cNvPr>
          <p:cNvSpPr/>
          <p:nvPr/>
        </p:nvSpPr>
        <p:spPr>
          <a:xfrm>
            <a:off x="4318000" y="1320800"/>
            <a:ext cx="3556000" cy="21844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43505C4-0290-4C5B-8905-69391C73AB81}"/>
              </a:ext>
            </a:extLst>
          </p:cNvPr>
          <p:cNvSpPr/>
          <p:nvPr/>
        </p:nvSpPr>
        <p:spPr>
          <a:xfrm>
            <a:off x="4356100" y="1358900"/>
            <a:ext cx="1168400" cy="2108200"/>
          </a:xfrm>
          <a:prstGeom prst="rect">
            <a:avLst/>
          </a:prstGeom>
          <a:solidFill>
            <a:srgbClr val="CFC7A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B358E0-9D71-4296-B306-80952CA17B05}"/>
              </a:ext>
            </a:extLst>
          </p:cNvPr>
          <p:cNvSpPr/>
          <p:nvPr/>
        </p:nvSpPr>
        <p:spPr>
          <a:xfrm>
            <a:off x="4711700" y="1701800"/>
            <a:ext cx="431800" cy="4318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AFB6BC8-B981-49F9-9BB0-03DCD35072A0}"/>
              </a:ext>
            </a:extLst>
          </p:cNvPr>
          <p:cNvSpPr/>
          <p:nvPr/>
        </p:nvSpPr>
        <p:spPr>
          <a:xfrm>
            <a:off x="4533900" y="2235200"/>
            <a:ext cx="787400" cy="12319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A67E0E-2C48-4ACE-A43E-78D32A350EA3}"/>
              </a:ext>
            </a:extLst>
          </p:cNvPr>
          <p:cNvSpPr txBox="1"/>
          <p:nvPr/>
        </p:nvSpPr>
        <p:spPr>
          <a:xfrm>
            <a:off x="5689600" y="1498600"/>
            <a:ext cx="2082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241C16"/>
                </a:solidFill>
                <a:latin typeface="Courier New" panose="02070309020205020404" pitchFamily="49" charset="0"/>
              </a:rPr>
              <a:t>Quadrus</a:t>
            </a:r>
            <a:endParaRPr lang="ru-RU" sz="1500" b="1">
              <a:solidFill>
                <a:srgbClr val="241C16"/>
              </a:solidFill>
              <a:latin typeface="Courier New" panose="020703090202050204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7CC1A9-D324-4461-B8F6-DA5866DAA498}"/>
              </a:ext>
            </a:extLst>
          </p:cNvPr>
          <p:cNvSpPr txBox="1"/>
          <p:nvPr/>
        </p:nvSpPr>
        <p:spPr>
          <a:xfrm>
            <a:off x="5689600" y="1879600"/>
            <a:ext cx="2082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241C16"/>
                </a:solidFill>
                <a:latin typeface="Georgia" panose="02040502050405020303" pitchFamily="18" charset="0"/>
              </a:rPr>
              <a:t>Ковалев Кирилл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2C23258-45EA-44A7-ABE0-7558553F2753}"/>
              </a:ext>
            </a:extLst>
          </p:cNvPr>
          <p:cNvSpPr/>
          <p:nvPr/>
        </p:nvSpPr>
        <p:spPr>
          <a:xfrm>
            <a:off x="5689600" y="2743200"/>
            <a:ext cx="2082800" cy="584200"/>
          </a:xfrm>
          <a:prstGeom prst="rect">
            <a:avLst/>
          </a:prstGeom>
          <a:solidFill>
            <a:srgbClr val="3B5E8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E2595B-9918-4A20-AF63-385AAD247AE8}"/>
              </a:ext>
            </a:extLst>
          </p:cNvPr>
          <p:cNvSpPr txBox="1"/>
          <p:nvPr/>
        </p:nvSpPr>
        <p:spPr>
          <a:xfrm>
            <a:off x="5791200" y="2743200"/>
            <a:ext cx="18796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150" b="1">
                <a:solidFill>
                  <a:srgbClr val="FFFFFF"/>
                </a:solidFill>
                <a:latin typeface="Courier New" panose="02070309020205020404" pitchFamily="49" charset="0"/>
              </a:rPr>
              <a:t>Капитан команды, бэкенд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FF2D73F-D8B1-4BFF-B89D-567DA49B8287}"/>
              </a:ext>
            </a:extLst>
          </p:cNvPr>
          <p:cNvSpPr/>
          <p:nvPr/>
        </p:nvSpPr>
        <p:spPr>
          <a:xfrm>
            <a:off x="8026400" y="1320800"/>
            <a:ext cx="3556000" cy="21844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B47CFC6-6A23-4D64-87D2-B796EAF173C1}"/>
              </a:ext>
            </a:extLst>
          </p:cNvPr>
          <p:cNvSpPr/>
          <p:nvPr/>
        </p:nvSpPr>
        <p:spPr>
          <a:xfrm>
            <a:off x="8064500" y="1358900"/>
            <a:ext cx="1168400" cy="2108200"/>
          </a:xfrm>
          <a:prstGeom prst="rect">
            <a:avLst/>
          </a:prstGeom>
          <a:solidFill>
            <a:srgbClr val="CFC7A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D0544F3-58EF-4F54-A659-89D569B79ACD}"/>
              </a:ext>
            </a:extLst>
          </p:cNvPr>
          <p:cNvSpPr/>
          <p:nvPr/>
        </p:nvSpPr>
        <p:spPr>
          <a:xfrm>
            <a:off x="8420100" y="1701800"/>
            <a:ext cx="431800" cy="4318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87B73CC0-DADE-4C63-BB52-F58346AB5FD7}"/>
              </a:ext>
            </a:extLst>
          </p:cNvPr>
          <p:cNvSpPr/>
          <p:nvPr/>
        </p:nvSpPr>
        <p:spPr>
          <a:xfrm>
            <a:off x="8242300" y="2235200"/>
            <a:ext cx="787400" cy="12319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E61A0-E600-4CC2-B0CC-83C2DEF8073B}"/>
              </a:ext>
            </a:extLst>
          </p:cNvPr>
          <p:cNvSpPr txBox="1"/>
          <p:nvPr/>
        </p:nvSpPr>
        <p:spPr>
          <a:xfrm>
            <a:off x="9398000" y="1498600"/>
            <a:ext cx="2082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241C16"/>
                </a:solidFill>
                <a:latin typeface="Courier New" panose="02070309020205020404" pitchFamily="49" charset="0"/>
              </a:rPr>
              <a:t>KOTLETA</a:t>
            </a:r>
            <a:endParaRPr lang="ru-RU" sz="1500" b="1">
              <a:solidFill>
                <a:srgbClr val="241C16"/>
              </a:solidFill>
              <a:latin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632027-8953-4543-9545-777191141ADF}"/>
              </a:ext>
            </a:extLst>
          </p:cNvPr>
          <p:cNvSpPr txBox="1"/>
          <p:nvPr/>
        </p:nvSpPr>
        <p:spPr>
          <a:xfrm>
            <a:off x="9398000" y="1879600"/>
            <a:ext cx="2082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241C16"/>
                </a:solidFill>
                <a:latin typeface="Georgia" panose="02040502050405020303" pitchFamily="18" charset="0"/>
              </a:rPr>
              <a:t>Шубин Фёдор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1F45E78-5362-4B27-8F92-721EF466F5C0}"/>
              </a:ext>
            </a:extLst>
          </p:cNvPr>
          <p:cNvSpPr/>
          <p:nvPr/>
        </p:nvSpPr>
        <p:spPr>
          <a:xfrm>
            <a:off x="9398000" y="2743200"/>
            <a:ext cx="2082800" cy="584200"/>
          </a:xfrm>
          <a:prstGeom prst="rect">
            <a:avLst/>
          </a:prstGeom>
          <a:solidFill>
            <a:srgbClr val="3B5E8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9CA4F4-B703-453B-8313-35C25559FCE2}"/>
              </a:ext>
            </a:extLst>
          </p:cNvPr>
          <p:cNvSpPr txBox="1"/>
          <p:nvPr/>
        </p:nvSpPr>
        <p:spPr>
          <a:xfrm>
            <a:off x="9499600" y="2743200"/>
            <a:ext cx="18796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150" b="1">
                <a:solidFill>
                  <a:srgbClr val="FFFFFF"/>
                </a:solidFill>
                <a:latin typeface="Courier New" panose="02070309020205020404" pitchFamily="49" charset="0"/>
              </a:rPr>
              <a:t>Бэкенд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4989127-6A0F-40D9-A3AE-5CB6D0272C08}"/>
              </a:ext>
            </a:extLst>
          </p:cNvPr>
          <p:cNvSpPr/>
          <p:nvPr/>
        </p:nvSpPr>
        <p:spPr>
          <a:xfrm>
            <a:off x="609600" y="3733800"/>
            <a:ext cx="3556000" cy="21844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7BC21126-7C5F-4F91-914A-B5BB17A40CE8}"/>
              </a:ext>
            </a:extLst>
          </p:cNvPr>
          <p:cNvSpPr/>
          <p:nvPr/>
        </p:nvSpPr>
        <p:spPr>
          <a:xfrm>
            <a:off x="647700" y="3771900"/>
            <a:ext cx="1168400" cy="2108200"/>
          </a:xfrm>
          <a:prstGeom prst="rect">
            <a:avLst/>
          </a:prstGeom>
          <a:solidFill>
            <a:srgbClr val="CFC7A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54FE92D-5217-4919-9A5A-4BA803F58891}"/>
              </a:ext>
            </a:extLst>
          </p:cNvPr>
          <p:cNvSpPr/>
          <p:nvPr/>
        </p:nvSpPr>
        <p:spPr>
          <a:xfrm>
            <a:off x="1003300" y="4114800"/>
            <a:ext cx="431800" cy="4318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99B5353B-D6B4-4BCB-AC88-D1784704AFCA}"/>
              </a:ext>
            </a:extLst>
          </p:cNvPr>
          <p:cNvSpPr/>
          <p:nvPr/>
        </p:nvSpPr>
        <p:spPr>
          <a:xfrm>
            <a:off x="825500" y="4648200"/>
            <a:ext cx="787400" cy="12319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1BE2C2-7337-463C-92EA-88E9E0DA5DD5}"/>
              </a:ext>
            </a:extLst>
          </p:cNvPr>
          <p:cNvSpPr txBox="1"/>
          <p:nvPr/>
        </p:nvSpPr>
        <p:spPr>
          <a:xfrm>
            <a:off x="1981200" y="3911600"/>
            <a:ext cx="2082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Courier New" panose="02070309020205020404" pitchFamily="49" charset="0"/>
              </a:rPr>
              <a:t>Сусанна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36F2B19-92D6-4479-A23A-77497D4BB7E7}"/>
              </a:ext>
            </a:extLst>
          </p:cNvPr>
          <p:cNvSpPr txBox="1"/>
          <p:nvPr/>
        </p:nvSpPr>
        <p:spPr>
          <a:xfrm>
            <a:off x="1981200" y="4292600"/>
            <a:ext cx="2082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ru-RU" sz="1400">
              <a:solidFill>
                <a:srgbClr val="241C16"/>
              </a:solidFill>
              <a:latin typeface="Georgia" panose="02040502050405020303" pitchFamily="18" charset="0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CE9C2113-00BB-4771-B4C7-DDA1BD272090}"/>
              </a:ext>
            </a:extLst>
          </p:cNvPr>
          <p:cNvSpPr/>
          <p:nvPr/>
        </p:nvSpPr>
        <p:spPr>
          <a:xfrm>
            <a:off x="1981200" y="5156200"/>
            <a:ext cx="2082800" cy="584200"/>
          </a:xfrm>
          <a:prstGeom prst="rect">
            <a:avLst/>
          </a:prstGeom>
          <a:solidFill>
            <a:srgbClr val="4D7A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D9A5A1-DE69-41FB-93E1-5E9A168047FF}"/>
              </a:ext>
            </a:extLst>
          </p:cNvPr>
          <p:cNvSpPr txBox="1"/>
          <p:nvPr/>
        </p:nvSpPr>
        <p:spPr>
          <a:xfrm>
            <a:off x="2082800" y="5156200"/>
            <a:ext cx="18796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150" b="1">
                <a:solidFill>
                  <a:srgbClr val="FFFFFF"/>
                </a:solidFill>
                <a:latin typeface="Courier New" panose="02070309020205020404" pitchFamily="49" charset="0"/>
              </a:rPr>
              <a:t>Презентация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F673E5AA-FE49-4FD0-9B76-5346000ACB2D}"/>
              </a:ext>
            </a:extLst>
          </p:cNvPr>
          <p:cNvSpPr/>
          <p:nvPr/>
        </p:nvSpPr>
        <p:spPr>
          <a:xfrm>
            <a:off x="4318000" y="3733800"/>
            <a:ext cx="3556000" cy="21844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16D84DC-0BCF-4B1C-A3C6-9915C17EC1AB}"/>
              </a:ext>
            </a:extLst>
          </p:cNvPr>
          <p:cNvSpPr/>
          <p:nvPr/>
        </p:nvSpPr>
        <p:spPr>
          <a:xfrm>
            <a:off x="4356100" y="3771900"/>
            <a:ext cx="1168400" cy="2108200"/>
          </a:xfrm>
          <a:prstGeom prst="rect">
            <a:avLst/>
          </a:prstGeom>
          <a:solidFill>
            <a:srgbClr val="CFC7A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B8985950-5FF2-4EE5-8295-D202831EB263}"/>
              </a:ext>
            </a:extLst>
          </p:cNvPr>
          <p:cNvSpPr/>
          <p:nvPr/>
        </p:nvSpPr>
        <p:spPr>
          <a:xfrm>
            <a:off x="4711700" y="4114800"/>
            <a:ext cx="431800" cy="4318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1F3A931-ACC8-4BC1-ABEB-E762620D8E61}"/>
              </a:ext>
            </a:extLst>
          </p:cNvPr>
          <p:cNvSpPr/>
          <p:nvPr/>
        </p:nvSpPr>
        <p:spPr>
          <a:xfrm>
            <a:off x="4533900" y="4648200"/>
            <a:ext cx="787400" cy="12319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0410B3-C09C-4CF7-90F0-2C0DB62CE4A6}"/>
              </a:ext>
            </a:extLst>
          </p:cNvPr>
          <p:cNvSpPr txBox="1"/>
          <p:nvPr/>
        </p:nvSpPr>
        <p:spPr>
          <a:xfrm>
            <a:off x="5689600" y="3911600"/>
            <a:ext cx="2082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Courier New" panose="02070309020205020404" pitchFamily="49" charset="0"/>
              </a:rPr>
              <a:t>Аня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94D4406-B698-423E-9ADA-0D2596B886D9}"/>
              </a:ext>
            </a:extLst>
          </p:cNvPr>
          <p:cNvSpPr txBox="1"/>
          <p:nvPr/>
        </p:nvSpPr>
        <p:spPr>
          <a:xfrm>
            <a:off x="5689600" y="4292600"/>
            <a:ext cx="2082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ru-RU" sz="1400">
              <a:solidFill>
                <a:srgbClr val="241C16"/>
              </a:solidFill>
              <a:latin typeface="Georgia" panose="02040502050405020303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F80E0EBD-AD5B-4BB6-BDC8-AC2DA4539968}"/>
              </a:ext>
            </a:extLst>
          </p:cNvPr>
          <p:cNvSpPr/>
          <p:nvPr/>
        </p:nvSpPr>
        <p:spPr>
          <a:xfrm>
            <a:off x="5689600" y="5156200"/>
            <a:ext cx="2082800" cy="584200"/>
          </a:xfrm>
          <a:prstGeom prst="rect">
            <a:avLst/>
          </a:prstGeom>
          <a:solidFill>
            <a:srgbClr val="7A4A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D6FD98-295B-426C-903D-60F8A085E853}"/>
              </a:ext>
            </a:extLst>
          </p:cNvPr>
          <p:cNvSpPr txBox="1"/>
          <p:nvPr/>
        </p:nvSpPr>
        <p:spPr>
          <a:xfrm>
            <a:off x="5791200" y="5156200"/>
            <a:ext cx="18796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150" b="1">
                <a:solidFill>
                  <a:srgbClr val="FFFFFF"/>
                </a:solidFill>
                <a:latin typeface="Courier New" panose="02070309020205020404" pitchFamily="49" charset="0"/>
              </a:rPr>
              <a:t>Дизайн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4A4795D2-FB6C-49B4-B565-71ECFDC98394}"/>
              </a:ext>
            </a:extLst>
          </p:cNvPr>
          <p:cNvSpPr/>
          <p:nvPr/>
        </p:nvSpPr>
        <p:spPr>
          <a:xfrm>
            <a:off x="8026400" y="3733800"/>
            <a:ext cx="3556000" cy="21844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10254E2A-3CE7-4369-8D78-06595C9A7D44}"/>
              </a:ext>
            </a:extLst>
          </p:cNvPr>
          <p:cNvSpPr/>
          <p:nvPr/>
        </p:nvSpPr>
        <p:spPr>
          <a:xfrm>
            <a:off x="8064500" y="3771900"/>
            <a:ext cx="1168400" cy="2108200"/>
          </a:xfrm>
          <a:prstGeom prst="rect">
            <a:avLst/>
          </a:prstGeom>
          <a:solidFill>
            <a:srgbClr val="CFC7A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F3436FCC-3C34-4901-AEBC-52964FFD421A}"/>
              </a:ext>
            </a:extLst>
          </p:cNvPr>
          <p:cNvSpPr/>
          <p:nvPr/>
        </p:nvSpPr>
        <p:spPr>
          <a:xfrm>
            <a:off x="8420100" y="4114800"/>
            <a:ext cx="431800" cy="4318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D43A2EB4-E61A-4D08-8ADA-9782ADC0F651}"/>
              </a:ext>
            </a:extLst>
          </p:cNvPr>
          <p:cNvSpPr/>
          <p:nvPr/>
        </p:nvSpPr>
        <p:spPr>
          <a:xfrm>
            <a:off x="8242300" y="4648200"/>
            <a:ext cx="787400" cy="1231900"/>
          </a:xfrm>
          <a:prstGeom prst="rect">
            <a:avLst/>
          </a:prstGeom>
          <a:solidFill>
            <a:srgbClr val="1D171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8F17958-60E3-410B-A9FD-E2D137DCAB27}"/>
              </a:ext>
            </a:extLst>
          </p:cNvPr>
          <p:cNvSpPr txBox="1"/>
          <p:nvPr/>
        </p:nvSpPr>
        <p:spPr>
          <a:xfrm>
            <a:off x="9398000" y="3911600"/>
            <a:ext cx="2082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241C16"/>
                </a:solidFill>
                <a:latin typeface="Courier New" panose="02070309020205020404" pitchFamily="49" charset="0"/>
              </a:rPr>
              <a:t>Ви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8AC182-5A20-4C01-86E7-BDEF31DB99EA}"/>
              </a:ext>
            </a:extLst>
          </p:cNvPr>
          <p:cNvSpPr txBox="1"/>
          <p:nvPr/>
        </p:nvSpPr>
        <p:spPr>
          <a:xfrm>
            <a:off x="9398000" y="4292600"/>
            <a:ext cx="2082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ru-RU" sz="1400">
              <a:solidFill>
                <a:srgbClr val="241C16"/>
              </a:solidFill>
              <a:latin typeface="Georgia" panose="02040502050405020303" pitchFamily="18" charset="0"/>
            </a:endParaRPr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A1CBE637-4715-4D47-9AF2-4762D9BA998E}"/>
              </a:ext>
            </a:extLst>
          </p:cNvPr>
          <p:cNvSpPr/>
          <p:nvPr/>
        </p:nvSpPr>
        <p:spPr>
          <a:xfrm>
            <a:off x="9398000" y="5156200"/>
            <a:ext cx="2082800" cy="584200"/>
          </a:xfrm>
          <a:prstGeom prst="rect">
            <a:avLst/>
          </a:prstGeom>
          <a:solidFill>
            <a:srgbClr val="B8392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898EDBD-3405-4A48-9DEB-3CD5684B601F}"/>
              </a:ext>
            </a:extLst>
          </p:cNvPr>
          <p:cNvSpPr txBox="1"/>
          <p:nvPr/>
        </p:nvSpPr>
        <p:spPr>
          <a:xfrm>
            <a:off x="9499600" y="5156200"/>
            <a:ext cx="18796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150" b="1">
                <a:solidFill>
                  <a:srgbClr val="FFFFFF"/>
                </a:solidFill>
                <a:latin typeface="Courier New" panose="02070309020205020404" pitchFamily="49" charset="0"/>
              </a:rPr>
              <a:t>Фронтенд</a:t>
            </a:r>
          </a:p>
        </p:txBody>
      </p:sp>
      <p:sp>
        <p:nvSpPr>
          <p:cNvPr id="52" name="slide-no">
            <a:extLst>
              <a:ext uri="{FF2B5EF4-FFF2-40B4-BE49-F238E27FC236}">
                <a16:creationId xmlns:a16="http://schemas.microsoft.com/office/drawing/2014/main" id="{EE7F273B-1CB7-406D-B447-E9FF025B82F9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14 / 17</a:t>
            </a:r>
          </a:p>
        </p:txBody>
      </p:sp>
    </p:spTree>
    <p:extLst>
      <p:ext uri="{BB962C8B-B14F-4D97-AF65-F5344CB8AC3E}">
        <p14:creationId xmlns:p14="http://schemas.microsoft.com/office/powerpoint/2010/main" val="3398235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BE7103-6BFE-46E4-A211-9F8F8C8F1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Чем мы вдохновлялись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4AC7F9-4F7F-45F4-8B0D-6CF5CDDD5BB0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РЕФЕРЕНСЫ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57B6568-809D-4DCE-98C9-AA90753874C5}"/>
              </a:ext>
            </a:extLst>
          </p:cNvPr>
          <p:cNvSpPr/>
          <p:nvPr/>
        </p:nvSpPr>
        <p:spPr>
          <a:xfrm>
            <a:off x="609600" y="1371600"/>
            <a:ext cx="3505200" cy="3937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D208EF6-0374-4E52-9AC8-303B94E01FA7}"/>
              </a:ext>
            </a:extLst>
          </p:cNvPr>
          <p:cNvSpPr/>
          <p:nvPr/>
        </p:nvSpPr>
        <p:spPr>
          <a:xfrm>
            <a:off x="609600" y="1371600"/>
            <a:ext cx="3505200" cy="304800"/>
          </a:xfrm>
          <a:prstGeom prst="rect">
            <a:avLst/>
          </a:prstGeom>
          <a:solidFill>
            <a:srgbClr val="3B5E8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8924F3-7887-4DA5-87A3-E562D5D53C45}"/>
              </a:ext>
            </a:extLst>
          </p:cNvPr>
          <p:cNvSpPr txBox="1"/>
          <p:nvPr/>
        </p:nvSpPr>
        <p:spPr>
          <a:xfrm>
            <a:off x="723900" y="1444625"/>
            <a:ext cx="3327400" cy="18415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FFFFF"/>
                </a:solidFill>
                <a:latin typeface="Courier New" panose="02070309020205020404" pitchFamily="49" charset="0"/>
              </a:rPr>
              <a:t>UNDERTALE</a:t>
            </a:r>
            <a:endParaRPr lang="ru-RU" sz="1050" b="1">
              <a:solidFill>
                <a:srgbClr val="FFFFFF"/>
              </a:solidFill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D26562-7F41-4CCF-8F21-D8BF5D4BF45A}"/>
              </a:ext>
            </a:extLst>
          </p:cNvPr>
          <p:cNvSpPr txBox="1"/>
          <p:nvPr/>
        </p:nvSpPr>
        <p:spPr>
          <a:xfrm>
            <a:off x="812800" y="18796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6D5D44"/>
                </a:solidFill>
                <a:latin typeface="Courier New" panose="02070309020205020404" pitchFamily="49" charset="0"/>
              </a:rPr>
              <a:t>ВЗЯЛИ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61CBC7-997E-4F13-B0FD-AC783444D450}"/>
              </a:ext>
            </a:extLst>
          </p:cNvPr>
          <p:cNvSpPr txBox="1"/>
          <p:nvPr/>
        </p:nvSpPr>
        <p:spPr>
          <a:xfrm>
            <a:off x="812800" y="2108200"/>
            <a:ext cx="30988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241C16"/>
                </a:solidFill>
                <a:latin typeface="Georgia" panose="02040502050405020303" pitchFamily="18" charset="0"/>
              </a:rPr>
              <a:t>диалоговое окно с побуквенным текстом и «голосом» героя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D06B8B-441F-4BFF-AFEA-3205048D04B0}"/>
              </a:ext>
            </a:extLst>
          </p:cNvPr>
          <p:cNvSpPr txBox="1"/>
          <p:nvPr/>
        </p:nvSpPr>
        <p:spPr>
          <a:xfrm>
            <a:off x="812800" y="31750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6D5D44"/>
                </a:solidFill>
                <a:latin typeface="Courier New" panose="02070309020205020404" pitchFamily="49" charset="0"/>
              </a:rPr>
              <a:t>СДЕЛАЛИ СВОЁ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96200D-A097-4263-9FE3-BE13F02E3B19}"/>
              </a:ext>
            </a:extLst>
          </p:cNvPr>
          <p:cNvSpPr txBox="1"/>
          <p:nvPr/>
        </p:nvSpPr>
        <p:spPr>
          <a:xfrm>
            <a:off x="812800" y="3403600"/>
            <a:ext cx="3098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241C16"/>
                </a:solidFill>
                <a:latin typeface="Georgia" panose="02040502050405020303" pitchFamily="18" charset="0"/>
              </a:rPr>
              <a:t>у каждого звонящего свой звук голоса, а характер слышно ещё до слов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622FDC0-C945-48A3-B403-60D6C4275DAD}"/>
              </a:ext>
            </a:extLst>
          </p:cNvPr>
          <p:cNvSpPr/>
          <p:nvPr/>
        </p:nvSpPr>
        <p:spPr>
          <a:xfrm>
            <a:off x="4343400" y="1371600"/>
            <a:ext cx="3505200" cy="3937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D9166BE-47C0-49FF-B927-637DFFFE9E09}"/>
              </a:ext>
            </a:extLst>
          </p:cNvPr>
          <p:cNvSpPr/>
          <p:nvPr/>
        </p:nvSpPr>
        <p:spPr>
          <a:xfrm>
            <a:off x="4343400" y="1371600"/>
            <a:ext cx="3505200" cy="304800"/>
          </a:xfrm>
          <a:prstGeom prst="rect">
            <a:avLst/>
          </a:prstGeom>
          <a:solidFill>
            <a:srgbClr val="B8392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36B0DC-3E91-4C67-A38E-AF96924329B9}"/>
              </a:ext>
            </a:extLst>
          </p:cNvPr>
          <p:cNvSpPr txBox="1"/>
          <p:nvPr/>
        </p:nvSpPr>
        <p:spPr>
          <a:xfrm>
            <a:off x="4457700" y="1444625"/>
            <a:ext cx="3327400" cy="18415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FFFFF"/>
                </a:solidFill>
                <a:latin typeface="Courier New" panose="02070309020205020404" pitchFamily="49" charset="0"/>
              </a:rPr>
              <a:t>INVENTORY INTERACTIONS</a:t>
            </a:r>
            <a:endParaRPr lang="ru-RU" sz="1050" b="1">
              <a:solidFill>
                <a:srgbClr val="FFFFFF"/>
              </a:solidFill>
              <a:latin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02CE03-DB60-4DF7-9D0B-6BA1F8739E94}"/>
              </a:ext>
            </a:extLst>
          </p:cNvPr>
          <p:cNvSpPr txBox="1"/>
          <p:nvPr/>
        </p:nvSpPr>
        <p:spPr>
          <a:xfrm>
            <a:off x="4546600" y="18796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6D5D44"/>
                </a:solidFill>
                <a:latin typeface="Courier New" panose="02070309020205020404" pitchFamily="49" charset="0"/>
              </a:rPr>
              <a:t>ВЗЯЛИ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7341C8-E158-4F3C-B522-502C701DA441}"/>
              </a:ext>
            </a:extLst>
          </p:cNvPr>
          <p:cNvSpPr txBox="1"/>
          <p:nvPr/>
        </p:nvSpPr>
        <p:spPr>
          <a:xfrm>
            <a:off x="4546600" y="2108200"/>
            <a:ext cx="30988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241C16"/>
                </a:solidFill>
                <a:latin typeface="Georgia" panose="02040502050405020303" pitchFamily="18" charset="0"/>
              </a:rPr>
              <a:t>плавное перетаскивание предметов, как в моде для Minecraft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96F127-21DA-4461-9AFE-D5583E66F638}"/>
              </a:ext>
            </a:extLst>
          </p:cNvPr>
          <p:cNvSpPr txBox="1"/>
          <p:nvPr/>
        </p:nvSpPr>
        <p:spPr>
          <a:xfrm>
            <a:off x="4546600" y="31750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6D5D44"/>
                </a:solidFill>
                <a:latin typeface="Courier New" panose="02070309020205020404" pitchFamily="49" charset="0"/>
              </a:rPr>
              <a:t>СДЕЛАЛИ СВОЁ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4B60F8-C6B3-44EF-97F2-2A91A677DA87}"/>
              </a:ext>
            </a:extLst>
          </p:cNvPr>
          <p:cNvSpPr txBox="1"/>
          <p:nvPr/>
        </p:nvSpPr>
        <p:spPr>
          <a:xfrm>
            <a:off x="4546600" y="3403600"/>
            <a:ext cx="3098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241C16"/>
                </a:solidFill>
                <a:latin typeface="Georgia" panose="02040502050405020303" pitchFamily="18" charset="0"/>
              </a:rPr>
              <a:t>собственная пружинная физика: газета наклоняется в руке, прочитанные выдвигаются веером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39AB356-591D-4B81-ADB4-500FAA0D6E8B}"/>
              </a:ext>
            </a:extLst>
          </p:cNvPr>
          <p:cNvSpPr/>
          <p:nvPr/>
        </p:nvSpPr>
        <p:spPr>
          <a:xfrm>
            <a:off x="8077200" y="1371600"/>
            <a:ext cx="3505200" cy="3937000"/>
          </a:xfrm>
          <a:prstGeom prst="rect">
            <a:avLst/>
          </a:prstGeom>
          <a:solidFill>
            <a:srgbClr val="EADFC2"/>
          </a:solidFill>
          <a:ln w="28575">
            <a:solidFill>
              <a:srgbClr val="241C16"/>
            </a:solidFill>
          </a:ln>
          <a:effectLst>
            <a:outerShdw dist="62862" dir="2699988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90F246E-F421-4640-8BF8-86D1D13A7517}"/>
              </a:ext>
            </a:extLst>
          </p:cNvPr>
          <p:cNvSpPr/>
          <p:nvPr/>
        </p:nvSpPr>
        <p:spPr>
          <a:xfrm>
            <a:off x="8077200" y="1371600"/>
            <a:ext cx="3505200" cy="304800"/>
          </a:xfrm>
          <a:prstGeom prst="rect">
            <a:avLst/>
          </a:prstGeom>
          <a:solidFill>
            <a:srgbClr val="7A4AA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A95F27-4A4C-4297-B7B4-F4F85DBC7820}"/>
              </a:ext>
            </a:extLst>
          </p:cNvPr>
          <p:cNvSpPr txBox="1"/>
          <p:nvPr/>
        </p:nvSpPr>
        <p:spPr>
          <a:xfrm>
            <a:off x="8191500" y="1444625"/>
            <a:ext cx="3327400" cy="18415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FFFFFF"/>
                </a:solidFill>
                <a:latin typeface="Courier New" panose="02070309020205020404" pitchFamily="49" charset="0"/>
              </a:rPr>
              <a:t>PAPERS, PLEASE</a:t>
            </a:r>
            <a:endParaRPr lang="ru-RU" sz="1050" b="1">
              <a:solidFill>
                <a:srgbClr val="FFFFFF"/>
              </a:solidFill>
              <a:latin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328C95-C0BB-47C1-9954-1A050B899C52}"/>
              </a:ext>
            </a:extLst>
          </p:cNvPr>
          <p:cNvSpPr txBox="1"/>
          <p:nvPr/>
        </p:nvSpPr>
        <p:spPr>
          <a:xfrm>
            <a:off x="8280400" y="18796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6D5D44"/>
                </a:solidFill>
                <a:latin typeface="Courier New" panose="02070309020205020404" pitchFamily="49" charset="0"/>
              </a:rPr>
              <a:t>ОБЩЕЕ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3735AB-B9E9-432E-9295-3D775C1A8829}"/>
              </a:ext>
            </a:extLst>
          </p:cNvPr>
          <p:cNvSpPr txBox="1"/>
          <p:nvPr/>
        </p:nvSpPr>
        <p:spPr>
          <a:xfrm>
            <a:off x="8280400" y="2108200"/>
            <a:ext cx="30988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241C16"/>
                </a:solidFill>
                <a:latin typeface="Georgia" panose="02040502050405020303" pitchFamily="18" charset="0"/>
              </a:rPr>
              <a:t>работа за столом с документами и давление времени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CD734F-0D16-49BD-B153-C4DCE1770CB4}"/>
              </a:ext>
            </a:extLst>
          </p:cNvPr>
          <p:cNvSpPr txBox="1"/>
          <p:nvPr/>
        </p:nvSpPr>
        <p:spPr>
          <a:xfrm>
            <a:off x="8280400" y="31750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00" b="1">
                <a:solidFill>
                  <a:srgbClr val="6D5D44"/>
                </a:solidFill>
                <a:latin typeface="Courier New" panose="02070309020205020404" pitchFamily="49" charset="0"/>
              </a:rPr>
              <a:t>СДЕЛАЛИ СВОЁ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41E835-EE5E-4CA9-B93E-04CCD7A43666}"/>
              </a:ext>
            </a:extLst>
          </p:cNvPr>
          <p:cNvSpPr txBox="1"/>
          <p:nvPr/>
        </p:nvSpPr>
        <p:spPr>
          <a:xfrm>
            <a:off x="8280400" y="3403600"/>
            <a:ext cx="3098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241C16"/>
                </a:solidFill>
                <a:latin typeface="Georgia" panose="02040502050405020303" pitchFamily="18" charset="0"/>
              </a:rPr>
              <a:t>не «пропустить или отказать», а проверить факт и сложить из проверенного заметку</a:t>
            </a:r>
          </a:p>
        </p:txBody>
      </p:sp>
      <p:sp>
        <p:nvSpPr>
          <p:cNvPr id="25" name="slide-no">
            <a:extLst>
              <a:ext uri="{FF2B5EF4-FFF2-40B4-BE49-F238E27FC236}">
                <a16:creationId xmlns:a16="http://schemas.microsoft.com/office/drawing/2014/main" id="{C3748D49-1081-431E-AD8F-DA921EDE1AA2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15 / 17</a:t>
            </a:r>
          </a:p>
        </p:txBody>
      </p:sp>
    </p:spTree>
    <p:extLst>
      <p:ext uri="{BB962C8B-B14F-4D97-AF65-F5344CB8AC3E}">
        <p14:creationId xmlns:p14="http://schemas.microsoft.com/office/powerpoint/2010/main" val="36468499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F61216-9E14-454C-BCE3-B4D95B933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Попробуйте сами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8E2F76-24C6-4312-BADE-116F9591D96A}"/>
              </a:ext>
            </a:extLst>
          </p:cNvPr>
          <p:cNvSpPr txBox="1"/>
          <p:nvPr/>
        </p:nvSpPr>
        <p:spPr>
          <a:xfrm>
            <a:off x="609600" y="279400"/>
            <a:ext cx="889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ИГРАЙТЕ</a:t>
            </a:r>
          </a:p>
        </p:txBody>
      </p:sp>
      <p:pic>
        <p:nvPicPr>
          <p:cNvPr id="5" name="Рисунок 4" descr="QR-код: http://84.21.191.32/">
            <a:extLst>
              <a:ext uri="{FF2B5EF4-FFF2-40B4-BE49-F238E27FC236}">
                <a16:creationId xmlns:a16="http://schemas.microsoft.com/office/drawing/2014/main" id="{B9912C01-633A-4378-A228-0C06C4E6AF7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20800"/>
            <a:ext cx="2590800" cy="2590800"/>
          </a:xfrm>
          <a:prstGeom prst="rect">
            <a:avLst/>
          </a:prstGeom>
          <a:ln w="5080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9D37FD-9510-4301-B94C-D3F88D3A7317}"/>
              </a:ext>
            </a:extLst>
          </p:cNvPr>
          <p:cNvSpPr txBox="1"/>
          <p:nvPr/>
        </p:nvSpPr>
        <p:spPr>
          <a:xfrm>
            <a:off x="609600" y="4470400"/>
            <a:ext cx="2717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950" b="1">
                <a:solidFill>
                  <a:srgbClr val="F2ECE0"/>
                </a:solidFill>
                <a:latin typeface="Courier New" panose="02070309020205020404" pitchFamily="49" charset="0"/>
              </a:rPr>
              <a:t>84.21.191.32/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13F20D-A4FE-48B2-AFCB-14239C826BEB}"/>
              </a:ext>
            </a:extLst>
          </p:cNvPr>
          <p:cNvSpPr txBox="1"/>
          <p:nvPr/>
        </p:nvSpPr>
        <p:spPr>
          <a:xfrm>
            <a:off x="609600" y="4089400"/>
            <a:ext cx="2590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E2B64C"/>
                </a:solidFill>
                <a:latin typeface="Courier New" panose="02070309020205020404" pitchFamily="49" charset="0"/>
              </a:rPr>
              <a:t>ИГРА</a:t>
            </a:r>
          </a:p>
        </p:txBody>
      </p:sp>
      <p:pic>
        <p:nvPicPr>
          <p:cNvPr id="9" name="Рисунок 8" descr="QR-код: https://github.com/Lozzix0/InfopovodoInator">
            <a:extLst>
              <a:ext uri="{FF2B5EF4-FFF2-40B4-BE49-F238E27FC236}">
                <a16:creationId xmlns:a16="http://schemas.microsoft.com/office/drawing/2014/main" id="{390B17D6-EA18-4C10-BB02-8D9A502466B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0" y="1320800"/>
            <a:ext cx="2590800" cy="2590800"/>
          </a:xfrm>
          <a:prstGeom prst="rect">
            <a:avLst/>
          </a:prstGeom>
          <a:ln w="5080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E4CD128-539A-4B91-A845-2A91F68B3DE6}"/>
              </a:ext>
            </a:extLst>
          </p:cNvPr>
          <p:cNvSpPr txBox="1"/>
          <p:nvPr/>
        </p:nvSpPr>
        <p:spPr>
          <a:xfrm>
            <a:off x="3454400" y="4470400"/>
            <a:ext cx="2717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F2ECE0"/>
                </a:solidFill>
                <a:latin typeface="Courier New" panose="02070309020205020404" pitchFamily="49" charset="0"/>
              </a:rPr>
              <a:t>github.com/Lozzix0/InfopovodoInator</a:t>
            </a:r>
            <a:endParaRPr lang="ru-RU" sz="950" b="1">
              <a:solidFill>
                <a:srgbClr val="F2ECE0"/>
              </a:solidFill>
              <a:latin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AD9C0E-6D38-4867-8B87-5C552A9B2EEA}"/>
              </a:ext>
            </a:extLst>
          </p:cNvPr>
          <p:cNvSpPr txBox="1"/>
          <p:nvPr/>
        </p:nvSpPr>
        <p:spPr>
          <a:xfrm>
            <a:off x="3454400" y="4089400"/>
            <a:ext cx="2590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E2B64C"/>
                </a:solidFill>
                <a:latin typeface="Courier New" panose="02070309020205020404" pitchFamily="49" charset="0"/>
              </a:rPr>
              <a:t>КОД</a:t>
            </a:r>
          </a:p>
        </p:txBody>
      </p:sp>
      <p:pic>
        <p:nvPicPr>
          <p:cNvPr id="13" name="Рисунок 12" descr="QR-код: http://84.21.191.32/presentation/index.html">
            <a:extLst>
              <a:ext uri="{FF2B5EF4-FFF2-40B4-BE49-F238E27FC236}">
                <a16:creationId xmlns:a16="http://schemas.microsoft.com/office/drawing/2014/main" id="{285CC08E-24DF-4876-B46E-1084B09BDB9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00" y="1320800"/>
            <a:ext cx="2590800" cy="2590800"/>
          </a:xfrm>
          <a:prstGeom prst="rect">
            <a:avLst/>
          </a:prstGeom>
          <a:ln w="50800">
            <a:solidFill>
              <a:srgbClr val="F6EFD9"/>
            </a:solidFill>
          </a:ln>
          <a:effectLst>
            <a:outerShdw dist="71842" dir="2700013" rotWithShape="0">
              <a:srgbClr val="000000">
                <a:alpha val="50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0242475-27B9-4539-A652-6E4AACA95B12}"/>
              </a:ext>
            </a:extLst>
          </p:cNvPr>
          <p:cNvSpPr txBox="1"/>
          <p:nvPr/>
        </p:nvSpPr>
        <p:spPr>
          <a:xfrm>
            <a:off x="6299200" y="4470400"/>
            <a:ext cx="27178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F2ECE0"/>
                </a:solidFill>
                <a:latin typeface="Courier New" panose="02070309020205020404" pitchFamily="49" charset="0"/>
              </a:rPr>
              <a:t>84.21.191.32/presentation/index.html</a:t>
            </a:r>
            <a:endParaRPr lang="ru-RU" sz="950" b="1">
              <a:solidFill>
                <a:srgbClr val="F2ECE0"/>
              </a:solidFill>
              <a:latin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3A3F55-6272-4F3E-AE60-BF2FD3796469}"/>
              </a:ext>
            </a:extLst>
          </p:cNvPr>
          <p:cNvSpPr txBox="1"/>
          <p:nvPr/>
        </p:nvSpPr>
        <p:spPr>
          <a:xfrm>
            <a:off x="6299200" y="4089400"/>
            <a:ext cx="2590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E2B64C"/>
                </a:solidFill>
                <a:latin typeface="Courier New" panose="02070309020205020404" pitchFamily="49" charset="0"/>
              </a:rPr>
              <a:t>ПРЕЗЕНТАЦИЯ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D3E61-85A9-44E0-A176-40C9B3876A1A}"/>
              </a:ext>
            </a:extLst>
          </p:cNvPr>
          <p:cNvSpPr txBox="1"/>
          <p:nvPr/>
        </p:nvSpPr>
        <p:spPr>
          <a:xfrm>
            <a:off x="609600" y="5334000"/>
            <a:ext cx="812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FC29C"/>
                </a:solidFill>
                <a:latin typeface="Georgia" panose="02040502050405020303" pitchFamily="18" charset="0"/>
              </a:rPr>
              <a:t>Наведите камеру телефона на нужный код: игра открывается сразу, регистрация не нужна.</a:t>
            </a:r>
          </a:p>
        </p:txBody>
      </p:sp>
      <p:pic>
        <p:nvPicPr>
          <p:cNvPr id="18" name="Рисунок 17" descr="Логотип ИнфоповодоИнатор">
            <a:extLst>
              <a:ext uri="{FF2B5EF4-FFF2-40B4-BE49-F238E27FC236}">
                <a16:creationId xmlns:a16="http://schemas.microsoft.com/office/drawing/2014/main" id="{2C8EE057-3ECB-49CB-A284-672C02527A81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00" y="1270000"/>
            <a:ext cx="2489200" cy="6350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6E1518-5975-475C-865F-B5369ADC9E92}"/>
              </a:ext>
            </a:extLst>
          </p:cNvPr>
          <p:cNvSpPr txBox="1"/>
          <p:nvPr/>
        </p:nvSpPr>
        <p:spPr>
          <a:xfrm>
            <a:off x="9093200" y="2159000"/>
            <a:ext cx="24892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Спасибо! Регистрация не нужна, телефон лучше держать горизонтально.</a:t>
            </a:r>
          </a:p>
        </p:txBody>
      </p:sp>
      <p:sp>
        <p:nvSpPr>
          <p:cNvPr id="20" name="slide-no">
            <a:extLst>
              <a:ext uri="{FF2B5EF4-FFF2-40B4-BE49-F238E27FC236}">
                <a16:creationId xmlns:a16="http://schemas.microsoft.com/office/drawing/2014/main" id="{45760660-F32E-4C69-8DF5-105287C125B0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16 / 17</a:t>
            </a:r>
          </a:p>
        </p:txBody>
      </p:sp>
    </p:spTree>
    <p:extLst>
      <p:ext uri="{BB962C8B-B14F-4D97-AF65-F5344CB8AC3E}">
        <p14:creationId xmlns:p14="http://schemas.microsoft.com/office/powerpoint/2010/main" val="786965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Огромный тёмный силуэт доктора ФуфелСмерча над ошибкой 404">
            <a:extLst>
              <a:ext uri="{FF2B5EF4-FFF2-40B4-BE49-F238E27FC236}">
                <a16:creationId xmlns:a16="http://schemas.microsoft.com/office/drawing/2014/main" id="{8D896B33-24A7-4BD5-B3E9-9A625CA0B7E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BC660E-F9CD-4A03-BE86-C93C6305C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09600"/>
            <a:ext cx="10972800" cy="685800"/>
          </a:xfrm>
        </p:spPr>
        <p:txBody>
          <a:bodyPr/>
          <a:lstStyle/>
          <a:p>
            <a:r>
              <a:rPr lang="ru-RU"/>
              <a:t>Вопросы?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BA04BC-20E7-4238-86D0-A113CEEE96DC}"/>
              </a:ext>
            </a:extLst>
          </p:cNvPr>
          <p:cNvSpPr txBox="1"/>
          <p:nvPr/>
        </p:nvSpPr>
        <p:spPr>
          <a:xfrm>
            <a:off x="609600" y="304800"/>
            <a:ext cx="38100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000" b="1">
                <a:solidFill>
                  <a:srgbClr val="CFC29C"/>
                </a:solidFill>
                <a:latin typeface="Courier New" panose="02070309020205020404" pitchFamily="49" charset="0"/>
              </a:rPr>
              <a:t>КОНЕЦ</a:t>
            </a:r>
          </a:p>
        </p:txBody>
      </p:sp>
      <p:pic>
        <p:nvPicPr>
          <p:cNvPr id="7" name="Рисунок 6" descr="Надпись 404 NOT FOUND">
            <a:extLst>
              <a:ext uri="{FF2B5EF4-FFF2-40B4-BE49-F238E27FC236}">
                <a16:creationId xmlns:a16="http://schemas.microsoft.com/office/drawing/2014/main" id="{15690F27-8FFD-434D-8E12-6D328A9C012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422400"/>
            <a:ext cx="4699000" cy="2286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E6F2DA0-0FF6-4FF7-9873-493DF5A7A11C}"/>
              </a:ext>
            </a:extLst>
          </p:cNvPr>
          <p:cNvSpPr txBox="1"/>
          <p:nvPr/>
        </p:nvSpPr>
        <p:spPr>
          <a:xfrm>
            <a:off x="635000" y="3886200"/>
            <a:ext cx="38100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F2ECE0"/>
                </a:solidFill>
                <a:latin typeface="Georgia" panose="02040502050405020303" pitchFamily="18" charset="0"/>
              </a:rPr>
              <a:t>Страница не найдена. Зато найдутся ответы на ваши вопросы.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7376B-D5A7-4F22-8BB7-074E9E950658}"/>
              </a:ext>
            </a:extLst>
          </p:cNvPr>
          <p:cNvSpPr txBox="1"/>
          <p:nvPr/>
        </p:nvSpPr>
        <p:spPr>
          <a:xfrm>
            <a:off x="635000" y="4724400"/>
            <a:ext cx="3810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i="1">
                <a:solidFill>
                  <a:srgbClr val="FF8A78"/>
                </a:solidFill>
                <a:latin typeface="Georgia" panose="02040502050405020303" pitchFamily="18" charset="0"/>
              </a:rPr>
              <a:t>Доктор ФуфелСмерч уже ищет виноватых.</a:t>
            </a:r>
          </a:p>
        </p:txBody>
      </p:sp>
      <p:sp>
        <p:nvSpPr>
          <p:cNvPr id="10" name="slide-no">
            <a:extLst>
              <a:ext uri="{FF2B5EF4-FFF2-40B4-BE49-F238E27FC236}">
                <a16:creationId xmlns:a16="http://schemas.microsoft.com/office/drawing/2014/main" id="{BE0F0F68-12B1-427D-817C-7E4EDF2CC94B}"/>
              </a:ext>
            </a:extLst>
          </p:cNvPr>
          <p:cNvSpPr txBox="1"/>
          <p:nvPr/>
        </p:nvSpPr>
        <p:spPr>
          <a:xfrm>
            <a:off x="10744200" y="6527800"/>
            <a:ext cx="1066800" cy="177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950" b="1">
                <a:solidFill>
                  <a:srgbClr val="CFC29C"/>
                </a:solidFill>
                <a:latin typeface="Courier New" panose="02070309020205020404" pitchFamily="49" charset="0"/>
              </a:rPr>
              <a:t>17 / 17</a:t>
            </a:r>
          </a:p>
        </p:txBody>
      </p:sp>
    </p:spTree>
    <p:extLst>
      <p:ext uri="{BB962C8B-B14F-4D97-AF65-F5344CB8AC3E}">
        <p14:creationId xmlns:p14="http://schemas.microsoft.com/office/powerpoint/2010/main" val="255658736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3310</Words>
  <Application>Microsoft Office PowerPoint</Application>
  <PresentationFormat>Произвольный</PresentationFormat>
  <Paragraphs>419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3" baseType="lpstr">
      <vt:lpstr>Arial</vt:lpstr>
      <vt:lpstr>Calibri</vt:lpstr>
      <vt:lpstr>Courier New</vt:lpstr>
      <vt:lpstr>Georgia</vt:lpstr>
      <vt:lpstr>Тема Office</vt:lpstr>
      <vt:lpstr>Полная версия: в вашем телефоне</vt:lpstr>
      <vt:lpstr>Пиксельная игра о профессии журналиста</vt:lpstr>
      <vt:lpstr>Журналист — это не «просто пишет текст»</vt:lpstr>
      <vt:lpstr>Игра за 30 секунд</vt:lpstr>
      <vt:lpstr>Один день в редакции</vt:lpstr>
      <vt:lpstr>Читаем газеты, снимаем трубку</vt:lpstr>
      <vt:lpstr>Проверка, а не угадывание</vt:lpstr>
      <vt:lpstr>Собираем страницу — получаем оценку</vt:lpstr>
      <vt:lpstr>Интервью: риск и награда</vt:lpstr>
      <vt:lpstr>Что делает игрок — что делает журналист</vt:lpstr>
      <vt:lpstr>Пиксельный стол, нарисованный кодом</vt:lpstr>
      <vt:lpstr>Три сложности и сохранение в файл</vt:lpstr>
      <vt:lpstr>Чистый браузер, без зависимостей</vt:lpstr>
      <vt:lpstr>Новая тема — один объект данных</vt:lpstr>
      <vt:lpstr>Кто делал игру</vt:lpstr>
      <vt:lpstr>Чем мы вдохновлялись</vt:lpstr>
      <vt:lpstr>Попробуйте сами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Полная версия: в вашем телефоне</dc:title>
  <dc:creator>NB</dc:creator>
  <cp:lastModifiedBy>NB</cp:lastModifiedBy>
  <cp:revision>1</cp:revision>
  <dcterms:created xsi:type="dcterms:W3CDTF">2026-10-24T20:27:35Z</dcterms:created>
  <dcterms:modified xsi:type="dcterms:W3CDTF">2026-10-24T20:27:35Z</dcterms:modified>
</cp:coreProperties>
</file>